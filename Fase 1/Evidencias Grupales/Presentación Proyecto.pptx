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Canva Sans" panose="020B0604020202020204" charset="0"/>
      <p:regular r:id="rId24"/>
    </p:embeddedFont>
    <p:embeddedFont>
      <p:font typeface="DM Sans" pitchFamily="2" charset="0"/>
      <p:regular r:id="rId25"/>
    </p:embeddedFont>
    <p:embeddedFont>
      <p:font typeface="DM Sans Bold" panose="020B0604020202020204" charset="0"/>
      <p:regular r:id="rId26"/>
    </p:embeddedFont>
    <p:embeddedFont>
      <p:font typeface="Open Sans 1" panose="020B0604020202020204" charset="0"/>
      <p:regular r:id="rId27"/>
    </p:embeddedFont>
    <p:embeddedFont>
      <p:font typeface="Open Sans 1 Bold" panose="020B0604020202020204" charset="0"/>
      <p:regular r:id="rId28"/>
    </p:embeddedFont>
    <p:embeddedFont>
      <p:font typeface="Open Sans 1 Ultra-Bold" panose="020B0604020202020204" charset="0"/>
      <p:regular r:id="rId29"/>
    </p:embeddedFont>
    <p:embeddedFont>
      <p:font typeface="Open Sans 2 Bold" panose="020B0604020202020204" charset="0"/>
      <p:regular r:id="rId30"/>
    </p:embeddedFont>
    <p:embeddedFont>
      <p:font typeface="Open Sauce" panose="020B0604020202020204" charset="0"/>
      <p:regular r:id="rId31"/>
    </p:embeddedFont>
    <p:embeddedFont>
      <p:font typeface="Open Sauce Bold" panose="020B0604020202020204" charset="0"/>
      <p:regular r:id="rId32"/>
    </p:embeddedFont>
    <p:embeddedFont>
      <p:font typeface="Poppins Bold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1014" y="3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9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9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7.svg"/><Relationship Id="rId7" Type="http://schemas.openxmlformats.org/officeDocument/2006/relationships/image" Target="../media/image2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11" Type="http://schemas.openxmlformats.org/officeDocument/2006/relationships/image" Target="../media/image9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8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3" Type="http://schemas.openxmlformats.org/officeDocument/2006/relationships/image" Target="../media/image28.sv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image" Target="../media/image27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9.png"/><Relationship Id="rId15" Type="http://schemas.openxmlformats.org/officeDocument/2006/relationships/image" Target="../media/image38.svg"/><Relationship Id="rId10" Type="http://schemas.openxmlformats.org/officeDocument/2006/relationships/image" Target="../media/image33.png"/><Relationship Id="rId19" Type="http://schemas.openxmlformats.org/officeDocument/2006/relationships/image" Target="../media/image42.svg"/><Relationship Id="rId4" Type="http://schemas.openxmlformats.org/officeDocument/2006/relationships/image" Target="../media/image8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jpe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e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50.svg"/><Relationship Id="rId4" Type="http://schemas.openxmlformats.org/officeDocument/2006/relationships/image" Target="../media/image8.png"/><Relationship Id="rId9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7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7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13" Type="http://schemas.openxmlformats.org/officeDocument/2006/relationships/image" Target="../media/image61.png"/><Relationship Id="rId3" Type="http://schemas.openxmlformats.org/officeDocument/2006/relationships/image" Target="../media/image52.png"/><Relationship Id="rId7" Type="http://schemas.openxmlformats.org/officeDocument/2006/relationships/image" Target="../media/image55.png"/><Relationship Id="rId12" Type="http://schemas.openxmlformats.org/officeDocument/2006/relationships/image" Target="../media/image60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9.png"/><Relationship Id="rId10" Type="http://schemas.openxmlformats.org/officeDocument/2006/relationships/image" Target="../media/image58.svg"/><Relationship Id="rId4" Type="http://schemas.openxmlformats.org/officeDocument/2006/relationships/image" Target="../media/image53.svg"/><Relationship Id="rId9" Type="http://schemas.openxmlformats.org/officeDocument/2006/relationships/image" Target="../media/image57.png"/><Relationship Id="rId14" Type="http://schemas.openxmlformats.org/officeDocument/2006/relationships/image" Target="../media/image62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385441" y="2701654"/>
            <a:ext cx="3370342" cy="3969353"/>
          </a:xfrm>
          <a:custGeom>
            <a:avLst/>
            <a:gdLst/>
            <a:ahLst/>
            <a:cxnLst/>
            <a:rect l="l" t="t" r="r" b="b"/>
            <a:pathLst>
              <a:path w="3370342" h="3969353">
                <a:moveTo>
                  <a:pt x="0" y="0"/>
                </a:moveTo>
                <a:lnTo>
                  <a:pt x="3370342" y="0"/>
                </a:lnTo>
                <a:lnTo>
                  <a:pt x="3370342" y="3969353"/>
                </a:lnTo>
                <a:lnTo>
                  <a:pt x="0" y="3969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14974585" y="8169277"/>
            <a:ext cx="3027665" cy="1746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FF6B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Integrantes:</a:t>
            </a:r>
          </a:p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Jaziel Aguilera</a:t>
            </a:r>
          </a:p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Sebastián Morales</a:t>
            </a:r>
          </a:p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Thomas Rojas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87317" y="8169277"/>
            <a:ext cx="2913365" cy="431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 err="1">
                <a:solidFill>
                  <a:srgbClr val="FF6B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Fecha</a:t>
            </a:r>
            <a:r>
              <a:rPr lang="en-US" sz="2500" b="1" dirty="0">
                <a:solidFill>
                  <a:srgbClr val="FF6B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:</a:t>
            </a:r>
            <a:r>
              <a:rPr lang="en-US" sz="2500" b="1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  <a:r>
              <a:rPr lang="en-US" sz="25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03/09/2025</a:t>
            </a:r>
          </a:p>
        </p:txBody>
      </p:sp>
      <p:sp>
        <p:nvSpPr>
          <p:cNvPr id="6" name="Freeform 6"/>
          <p:cNvSpPr/>
          <p:nvPr/>
        </p:nvSpPr>
        <p:spPr>
          <a:xfrm>
            <a:off x="7298921" y="8751891"/>
            <a:ext cx="3690157" cy="1372562"/>
          </a:xfrm>
          <a:custGeom>
            <a:avLst/>
            <a:gdLst/>
            <a:ahLst/>
            <a:cxnLst/>
            <a:rect l="l" t="t" r="r" b="b"/>
            <a:pathLst>
              <a:path w="3690157" h="1372562">
                <a:moveTo>
                  <a:pt x="0" y="0"/>
                </a:moveTo>
                <a:lnTo>
                  <a:pt x="3690158" y="0"/>
                </a:lnTo>
                <a:lnTo>
                  <a:pt x="3690158" y="1372562"/>
                </a:lnTo>
                <a:lnTo>
                  <a:pt x="0" y="1372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</a:blip>
            <a:stretch>
              <a:fillRect t="-79382" r="-1558" b="-93659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TextBox 7"/>
          <p:cNvSpPr txBox="1"/>
          <p:nvPr/>
        </p:nvSpPr>
        <p:spPr>
          <a:xfrm>
            <a:off x="3755783" y="3802369"/>
            <a:ext cx="13503517" cy="22040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058"/>
              </a:lnSpc>
            </a:pPr>
            <a:r>
              <a:rPr lang="en-US" sz="128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Maira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9162" y="90811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4"/>
                </a:lnTo>
                <a:lnTo>
                  <a:pt x="0" y="117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28575" y="-214312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t="-30503" b="-30503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4" name="Group 4"/>
          <p:cNvGrpSpPr/>
          <p:nvPr/>
        </p:nvGrpSpPr>
        <p:grpSpPr>
          <a:xfrm>
            <a:off x="1656945" y="2238896"/>
            <a:ext cx="229331" cy="229331"/>
            <a:chOff x="0" y="0"/>
            <a:chExt cx="74237" cy="7423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479498" y="1807274"/>
            <a:ext cx="326022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Contexto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3254" y="101659"/>
            <a:ext cx="11197289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99"/>
              </a:lnSpc>
              <a:spcBef>
                <a:spcPct val="0"/>
              </a:spcBef>
            </a:pPr>
            <a:r>
              <a:rPr lang="en-US" sz="8499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Tabla de contenidos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93690" y="1981579"/>
            <a:ext cx="755841" cy="755841"/>
            <a:chOff x="0" y="0"/>
            <a:chExt cx="244674" cy="24467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56945" y="3176601"/>
            <a:ext cx="229331" cy="229331"/>
            <a:chOff x="0" y="0"/>
            <a:chExt cx="74237" cy="742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479498" y="2849344"/>
            <a:ext cx="326022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Problema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93690" y="2919285"/>
            <a:ext cx="755841" cy="755841"/>
            <a:chOff x="0" y="0"/>
            <a:chExt cx="244674" cy="24467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56945" y="4114307"/>
            <a:ext cx="229331" cy="229331"/>
            <a:chOff x="0" y="0"/>
            <a:chExt cx="74237" cy="7423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479498" y="3787049"/>
            <a:ext cx="388539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Necesidades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393690" y="3856990"/>
            <a:ext cx="755841" cy="755841"/>
            <a:chOff x="0" y="0"/>
            <a:chExt cx="244674" cy="24467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656945" y="5052012"/>
            <a:ext cx="229331" cy="229331"/>
            <a:chOff x="0" y="0"/>
            <a:chExt cx="74237" cy="7423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9144000" y="1911639"/>
            <a:ext cx="3760074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H. Usuario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393690" y="4794695"/>
            <a:ext cx="755841" cy="755841"/>
            <a:chOff x="0" y="0"/>
            <a:chExt cx="244674" cy="24467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4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56945" y="5989717"/>
            <a:ext cx="229331" cy="229331"/>
            <a:chOff x="0" y="0"/>
            <a:chExt cx="74237" cy="7423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2479498" y="5662460"/>
            <a:ext cx="4120432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R-Funcionales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393690" y="5732400"/>
            <a:ext cx="755841" cy="755841"/>
            <a:chOff x="0" y="0"/>
            <a:chExt cx="244674" cy="24467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656945" y="6927423"/>
            <a:ext cx="229331" cy="229331"/>
            <a:chOff x="0" y="0"/>
            <a:chExt cx="74237" cy="7423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2479498" y="6600165"/>
            <a:ext cx="5075700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R-No funcionales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393690" y="6670106"/>
            <a:ext cx="755841" cy="755841"/>
            <a:chOff x="0" y="0"/>
            <a:chExt cx="244674" cy="24467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6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656945" y="8832585"/>
            <a:ext cx="229331" cy="229331"/>
            <a:chOff x="0" y="0"/>
            <a:chExt cx="74237" cy="74237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2589692" y="8480019"/>
            <a:ext cx="367870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Arquitectura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393690" y="8575269"/>
            <a:ext cx="755841" cy="755841"/>
            <a:chOff x="0" y="0"/>
            <a:chExt cx="244674" cy="24467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8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287340" y="2236833"/>
            <a:ext cx="229331" cy="229331"/>
            <a:chOff x="0" y="0"/>
            <a:chExt cx="74237" cy="74237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9144000" y="2821971"/>
            <a:ext cx="367870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Metodología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8024085" y="1979516"/>
            <a:ext cx="755841" cy="755841"/>
            <a:chOff x="0" y="0"/>
            <a:chExt cx="244674" cy="244674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9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287340" y="3174538"/>
            <a:ext cx="229331" cy="229331"/>
            <a:chOff x="0" y="0"/>
            <a:chExt cx="74237" cy="74237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9144000" y="3787049"/>
            <a:ext cx="326022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Roles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8024085" y="2917221"/>
            <a:ext cx="755841" cy="755841"/>
            <a:chOff x="0" y="0"/>
            <a:chExt cx="244674" cy="24467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10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287340" y="4112243"/>
            <a:ext cx="229331" cy="229331"/>
            <a:chOff x="0" y="0"/>
            <a:chExt cx="74237" cy="74237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9144000" y="5662460"/>
            <a:ext cx="326022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Sprints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8024085" y="3854926"/>
            <a:ext cx="755841" cy="755841"/>
            <a:chOff x="0" y="0"/>
            <a:chExt cx="244674" cy="244674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11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287340" y="5049948"/>
            <a:ext cx="229331" cy="229331"/>
            <a:chOff x="0" y="0"/>
            <a:chExt cx="74237" cy="74237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9144000" y="4724754"/>
            <a:ext cx="326022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Evidencias</a:t>
            </a:r>
          </a:p>
        </p:txBody>
      </p:sp>
      <p:grpSp>
        <p:nvGrpSpPr>
          <p:cNvPr id="79" name="Group 79"/>
          <p:cNvGrpSpPr/>
          <p:nvPr/>
        </p:nvGrpSpPr>
        <p:grpSpPr>
          <a:xfrm>
            <a:off x="8024085" y="4792632"/>
            <a:ext cx="755841" cy="755841"/>
            <a:chOff x="0" y="0"/>
            <a:chExt cx="244674" cy="244674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12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287340" y="5987654"/>
            <a:ext cx="229331" cy="229331"/>
            <a:chOff x="0" y="0"/>
            <a:chExt cx="74237" cy="74237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85" name="TextBox 85"/>
          <p:cNvSpPr txBox="1"/>
          <p:nvPr/>
        </p:nvSpPr>
        <p:spPr>
          <a:xfrm>
            <a:off x="9144000" y="6635547"/>
            <a:ext cx="3562459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Cronograma</a:t>
            </a:r>
          </a:p>
        </p:txBody>
      </p:sp>
      <p:grpSp>
        <p:nvGrpSpPr>
          <p:cNvPr id="86" name="Group 86"/>
          <p:cNvGrpSpPr/>
          <p:nvPr/>
        </p:nvGrpSpPr>
        <p:grpSpPr>
          <a:xfrm>
            <a:off x="8024085" y="5730337"/>
            <a:ext cx="755841" cy="755841"/>
            <a:chOff x="0" y="0"/>
            <a:chExt cx="244674" cy="24467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13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656945" y="7762319"/>
            <a:ext cx="229331" cy="229331"/>
            <a:chOff x="0" y="0"/>
            <a:chExt cx="74237" cy="74237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92" name="TextBox 92"/>
          <p:cNvSpPr txBox="1"/>
          <p:nvPr/>
        </p:nvSpPr>
        <p:spPr>
          <a:xfrm>
            <a:off x="2479498" y="7539937"/>
            <a:ext cx="326022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Epicas</a:t>
            </a:r>
          </a:p>
        </p:txBody>
      </p:sp>
      <p:grpSp>
        <p:nvGrpSpPr>
          <p:cNvPr id="93" name="Group 93"/>
          <p:cNvGrpSpPr/>
          <p:nvPr/>
        </p:nvGrpSpPr>
        <p:grpSpPr>
          <a:xfrm>
            <a:off x="1393690" y="7609874"/>
            <a:ext cx="755841" cy="755841"/>
            <a:chOff x="0" y="0"/>
            <a:chExt cx="244674" cy="244674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7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8287340" y="6822550"/>
            <a:ext cx="229331" cy="229331"/>
            <a:chOff x="0" y="0"/>
            <a:chExt cx="74237" cy="74237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99" name="TextBox 99"/>
          <p:cNvSpPr txBox="1"/>
          <p:nvPr/>
        </p:nvSpPr>
        <p:spPr>
          <a:xfrm>
            <a:off x="9144000" y="7512561"/>
            <a:ext cx="326022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Conclusión</a:t>
            </a:r>
          </a:p>
        </p:txBody>
      </p:sp>
      <p:grpSp>
        <p:nvGrpSpPr>
          <p:cNvPr id="100" name="Group 100"/>
          <p:cNvGrpSpPr/>
          <p:nvPr/>
        </p:nvGrpSpPr>
        <p:grpSpPr>
          <a:xfrm>
            <a:off x="8024085" y="6670106"/>
            <a:ext cx="755841" cy="755841"/>
            <a:chOff x="0" y="0"/>
            <a:chExt cx="244674" cy="244674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14</a:t>
              </a:r>
            </a:p>
          </p:txBody>
        </p:sp>
      </p:grpSp>
      <p:sp>
        <p:nvSpPr>
          <p:cNvPr id="103" name="Freeform 103"/>
          <p:cNvSpPr/>
          <p:nvPr/>
        </p:nvSpPr>
        <p:spPr>
          <a:xfrm>
            <a:off x="16482152" y="8708446"/>
            <a:ext cx="1370621" cy="1370621"/>
          </a:xfrm>
          <a:custGeom>
            <a:avLst/>
            <a:gdLst/>
            <a:ahLst/>
            <a:cxnLst/>
            <a:rect l="l" t="t" r="r" b="b"/>
            <a:pathLst>
              <a:path w="1370621" h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4" name="TextBox 104"/>
          <p:cNvSpPr txBox="1"/>
          <p:nvPr/>
        </p:nvSpPr>
        <p:spPr>
          <a:xfrm>
            <a:off x="2479498" y="4724754"/>
            <a:ext cx="388539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Solución</a:t>
            </a:r>
          </a:p>
        </p:txBody>
      </p:sp>
      <p:grpSp>
        <p:nvGrpSpPr>
          <p:cNvPr id="105" name="Group 105"/>
          <p:cNvGrpSpPr/>
          <p:nvPr/>
        </p:nvGrpSpPr>
        <p:grpSpPr>
          <a:xfrm>
            <a:off x="8024085" y="7606922"/>
            <a:ext cx="755841" cy="755841"/>
            <a:chOff x="0" y="0"/>
            <a:chExt cx="244674" cy="244674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14312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13873162" y="2488528"/>
            <a:ext cx="3274068" cy="2654972"/>
          </a:xfrm>
          <a:custGeom>
            <a:avLst/>
            <a:gdLst/>
            <a:ahLst/>
            <a:cxnLst/>
            <a:rect l="l" t="t" r="r" b="b"/>
            <a:pathLst>
              <a:path w="3274068" h="2654972">
                <a:moveTo>
                  <a:pt x="0" y="0"/>
                </a:moveTo>
                <a:lnTo>
                  <a:pt x="3274069" y="0"/>
                </a:lnTo>
                <a:lnTo>
                  <a:pt x="3274069" y="2654972"/>
                </a:lnTo>
                <a:lnTo>
                  <a:pt x="0" y="26549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1028700" y="2539740"/>
            <a:ext cx="11617422" cy="318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Farmacias Maira es una empresa farmacéutica que busca optimizar la gestión de sus procesos y la interacción con proveedores. El proyecto se desarrollará bajo la metodología Scrum, incluyendo planificación, definición de requisitos y organización de actividades para mejorar la eficiencia y la toma de decisiones.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14400"/>
            <a:ext cx="7253939" cy="964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Contexto</a:t>
            </a:r>
          </a:p>
        </p:txBody>
      </p:sp>
      <p:sp>
        <p:nvSpPr>
          <p:cNvPr id="7" name="Freeform 7"/>
          <p:cNvSpPr/>
          <p:nvPr/>
        </p:nvSpPr>
        <p:spPr>
          <a:xfrm>
            <a:off x="4025855" y="6123675"/>
            <a:ext cx="10236290" cy="3748988"/>
          </a:xfrm>
          <a:custGeom>
            <a:avLst/>
            <a:gdLst/>
            <a:ahLst/>
            <a:cxnLst/>
            <a:rect l="l" t="t" r="r" b="b"/>
            <a:pathLst>
              <a:path w="10236290" h="3748988">
                <a:moveTo>
                  <a:pt x="0" y="0"/>
                </a:moveTo>
                <a:lnTo>
                  <a:pt x="10236290" y="0"/>
                </a:lnTo>
                <a:lnTo>
                  <a:pt x="10236290" y="3748987"/>
                </a:lnTo>
                <a:lnTo>
                  <a:pt x="0" y="37489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79382" b="-93659"/>
            </a:stretch>
          </a:blipFill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14312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4" name="Group 4"/>
          <p:cNvGrpSpPr/>
          <p:nvPr/>
        </p:nvGrpSpPr>
        <p:grpSpPr>
          <a:xfrm>
            <a:off x="1134430" y="6079520"/>
            <a:ext cx="7529402" cy="2679278"/>
            <a:chOff x="0" y="0"/>
            <a:chExt cx="1107445" cy="3940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07445" cy="394075"/>
            </a:xfrm>
            <a:custGeom>
              <a:avLst/>
              <a:gdLst/>
              <a:ahLst/>
              <a:cxnLst/>
              <a:rect l="l" t="t" r="r" b="b"/>
              <a:pathLst>
                <a:path w="1107445" h="394075">
                  <a:moveTo>
                    <a:pt x="23649" y="0"/>
                  </a:moveTo>
                  <a:lnTo>
                    <a:pt x="1083795" y="0"/>
                  </a:lnTo>
                  <a:cubicBezTo>
                    <a:pt x="1090068" y="0"/>
                    <a:pt x="1096083" y="2492"/>
                    <a:pt x="1100518" y="6927"/>
                  </a:cubicBezTo>
                  <a:cubicBezTo>
                    <a:pt x="1104953" y="11362"/>
                    <a:pt x="1107445" y="17377"/>
                    <a:pt x="1107445" y="23649"/>
                  </a:cubicBezTo>
                  <a:lnTo>
                    <a:pt x="1107445" y="370426"/>
                  </a:lnTo>
                  <a:cubicBezTo>
                    <a:pt x="1107445" y="376698"/>
                    <a:pt x="1104953" y="382714"/>
                    <a:pt x="1100518" y="387149"/>
                  </a:cubicBezTo>
                  <a:cubicBezTo>
                    <a:pt x="1096083" y="391584"/>
                    <a:pt x="1090068" y="394075"/>
                    <a:pt x="1083795" y="394075"/>
                  </a:cubicBezTo>
                  <a:lnTo>
                    <a:pt x="23649" y="394075"/>
                  </a:lnTo>
                  <a:cubicBezTo>
                    <a:pt x="17377" y="394075"/>
                    <a:pt x="11362" y="391584"/>
                    <a:pt x="6927" y="387149"/>
                  </a:cubicBezTo>
                  <a:cubicBezTo>
                    <a:pt x="2492" y="382714"/>
                    <a:pt x="0" y="376698"/>
                    <a:pt x="0" y="370426"/>
                  </a:cubicBezTo>
                  <a:lnTo>
                    <a:pt x="0" y="23649"/>
                  </a:lnTo>
                  <a:cubicBezTo>
                    <a:pt x="0" y="17377"/>
                    <a:pt x="2492" y="11362"/>
                    <a:pt x="6927" y="6927"/>
                  </a:cubicBezTo>
                  <a:cubicBezTo>
                    <a:pt x="11362" y="2492"/>
                    <a:pt x="17377" y="0"/>
                    <a:pt x="23649" y="0"/>
                  </a:cubicBezTo>
                  <a:close/>
                </a:path>
              </a:pathLst>
            </a:custGeom>
            <a:blipFill>
              <a:blip r:embed="rId5"/>
              <a:stretch>
                <a:fillRect t="-43791" b="-43791"/>
              </a:stretch>
            </a:blipFill>
            <a:ln w="76200" cap="rnd">
              <a:solidFill>
                <a:srgbClr val="1A1A1A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6" name="Freeform 6"/>
          <p:cNvSpPr/>
          <p:nvPr/>
        </p:nvSpPr>
        <p:spPr>
          <a:xfrm>
            <a:off x="9598822" y="6079520"/>
            <a:ext cx="3349098" cy="2679278"/>
          </a:xfrm>
          <a:custGeom>
            <a:avLst/>
            <a:gdLst/>
            <a:ahLst/>
            <a:cxnLst/>
            <a:rect l="l" t="t" r="r" b="b"/>
            <a:pathLst>
              <a:path w="3349098" h="2679278">
                <a:moveTo>
                  <a:pt x="0" y="0"/>
                </a:moveTo>
                <a:lnTo>
                  <a:pt x="3349098" y="0"/>
                </a:lnTo>
                <a:lnTo>
                  <a:pt x="3349098" y="2679278"/>
                </a:lnTo>
                <a:lnTo>
                  <a:pt x="0" y="26792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/>
          <p:cNvSpPr/>
          <p:nvPr/>
        </p:nvSpPr>
        <p:spPr>
          <a:xfrm>
            <a:off x="16482152" y="8708446"/>
            <a:ext cx="1370621" cy="1370621"/>
          </a:xfrm>
          <a:custGeom>
            <a:avLst/>
            <a:gdLst/>
            <a:ahLst/>
            <a:cxnLst/>
            <a:rect l="l" t="t" r="r" b="b"/>
            <a:pathLst>
              <a:path w="1370621" h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TextBox 8"/>
          <p:cNvSpPr txBox="1"/>
          <p:nvPr/>
        </p:nvSpPr>
        <p:spPr>
          <a:xfrm>
            <a:off x="1028700" y="914400"/>
            <a:ext cx="7253939" cy="964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549265"/>
            <a:ext cx="11617422" cy="2066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Farmacias Maira pierde tiempo valioso cotizando manualmente, revisando múltiples páginas web y correos con Excel, lo que dificulta tomar decisiones de compra basadas en datos claros y retrasa la atención a los clientes.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2152" y="8708446"/>
            <a:ext cx="1370621" cy="1370621"/>
          </a:xfrm>
          <a:custGeom>
            <a:avLst/>
            <a:gdLst/>
            <a:ahLst/>
            <a:cxnLst/>
            <a:rect l="l" t="t" r="r" b="b"/>
            <a:pathLst>
              <a:path w="1370621" h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0" y="-214312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999"/>
            </a:blip>
            <a:stretch>
              <a:fillRect t="-30503" b="-3050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12341654" y="2067420"/>
            <a:ext cx="5432503" cy="5439302"/>
          </a:xfrm>
          <a:custGeom>
            <a:avLst/>
            <a:gdLst/>
            <a:ahLst/>
            <a:cxnLst/>
            <a:rect l="l" t="t" r="r" b="b"/>
            <a:pathLst>
              <a:path w="5432503" h="5439302">
                <a:moveTo>
                  <a:pt x="0" y="0"/>
                </a:moveTo>
                <a:lnTo>
                  <a:pt x="5432503" y="0"/>
                </a:lnTo>
                <a:lnTo>
                  <a:pt x="5432503" y="5439302"/>
                </a:lnTo>
                <a:lnTo>
                  <a:pt x="0" y="54393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519561" y="333381"/>
            <a:ext cx="9653841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Necesidad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834410"/>
            <a:ext cx="4726530" cy="427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b="1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Datos </a:t>
            </a:r>
            <a:r>
              <a:rPr lang="en-US" sz="2624" b="1">
                <a:solidFill>
                  <a:srgbClr val="FF6B00"/>
                </a:solidFill>
                <a:latin typeface="DM Sans Bold"/>
                <a:ea typeface="DM Sans Bold"/>
                <a:cs typeface="DM Sans Bold"/>
                <a:sym typeface="DM Sans Bold"/>
              </a:rPr>
              <a:t>Claros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4407" y="4447357"/>
            <a:ext cx="5384570" cy="427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b="1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Información a </a:t>
            </a:r>
            <a:r>
              <a:rPr lang="en-US" sz="2624" b="1">
                <a:solidFill>
                  <a:srgbClr val="FF6B00"/>
                </a:solidFill>
                <a:latin typeface="DM Sans Bold"/>
                <a:ea typeface="DM Sans Bold"/>
                <a:cs typeface="DM Sans Bold"/>
                <a:sym typeface="DM Sans Bold"/>
              </a:rPr>
              <a:t>la vista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280143"/>
            <a:ext cx="6182398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Información consistente y depurada. Base confiable para decidir sin dudas.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4407" y="4894327"/>
            <a:ext cx="6182398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Indicadores</a:t>
            </a:r>
            <a:r>
              <a:rPr lang="en-US" sz="3000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clave </a:t>
            </a:r>
            <a:r>
              <a:rPr lang="en-US" sz="3000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3000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un panel simple. Lo </a:t>
            </a:r>
            <a:r>
              <a:rPr lang="en-US" sz="3000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importante</a:t>
            </a:r>
            <a:r>
              <a:rPr lang="en-US" sz="3000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, a un </a:t>
            </a:r>
            <a:r>
              <a:rPr lang="en-US" sz="3000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clic</a:t>
            </a:r>
            <a:r>
              <a:rPr lang="en-US" sz="3000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4407" y="6366510"/>
            <a:ext cx="5384570" cy="427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b="1" dirty="0" err="1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Compras</a:t>
            </a:r>
            <a:r>
              <a:rPr lang="en-US" sz="2624" b="1" dirty="0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624" b="1" dirty="0" err="1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más</a:t>
            </a:r>
            <a:r>
              <a:rPr lang="en-US" sz="2624" b="1" dirty="0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2624" b="1" dirty="0" err="1">
                <a:solidFill>
                  <a:srgbClr val="FF6B00"/>
                </a:solidFill>
                <a:latin typeface="DM Sans Bold"/>
                <a:ea typeface="DM Sans Bold"/>
                <a:cs typeface="DM Sans Bold"/>
                <a:sym typeface="DM Sans Bold"/>
              </a:rPr>
              <a:t>inteligentes</a:t>
            </a:r>
            <a:endParaRPr lang="en-US" sz="2624" b="1" dirty="0">
              <a:solidFill>
                <a:srgbClr val="FF6B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4407" y="6813480"/>
            <a:ext cx="6182398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Comparación</a:t>
            </a:r>
            <a:r>
              <a:rPr lang="en-US" sz="3000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ágil</a:t>
            </a:r>
            <a:r>
              <a:rPr lang="en-US" sz="3000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entre </a:t>
            </a:r>
            <a:r>
              <a:rPr lang="en-US" sz="3000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proveedores</a:t>
            </a:r>
            <a:r>
              <a:rPr lang="en-US" sz="3000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. Mejor </a:t>
            </a:r>
            <a:r>
              <a:rPr lang="en-US" sz="3000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precio</a:t>
            </a:r>
            <a:r>
              <a:rPr lang="en-US" sz="3000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lang="en-US" sz="3000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disponibilidad</a:t>
            </a:r>
            <a:r>
              <a:rPr lang="en-US" sz="3000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3000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menos</a:t>
            </a:r>
            <a:r>
              <a:rPr lang="en-US" sz="3000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tiempo</a:t>
            </a:r>
            <a:r>
              <a:rPr lang="en-US" sz="3000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39348" y="1834410"/>
            <a:ext cx="5384570" cy="427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b="1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Facil y </a:t>
            </a:r>
            <a:r>
              <a:rPr lang="en-US" sz="2624" b="1">
                <a:solidFill>
                  <a:srgbClr val="FF6B00"/>
                </a:solidFill>
                <a:latin typeface="DM Sans Bold"/>
                <a:ea typeface="DM Sans Bold"/>
                <a:cs typeface="DM Sans Bold"/>
                <a:sym typeface="DM Sans Bold"/>
              </a:rPr>
              <a:t>Seguro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39348" y="2281380"/>
            <a:ext cx="5897984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Implementación sencilla, accesos por rol y respaldos automáticos. Continuidad garantizada.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39348" y="4332942"/>
            <a:ext cx="4726530" cy="427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4"/>
              </a:lnSpc>
              <a:spcBef>
                <a:spcPct val="0"/>
              </a:spcBef>
            </a:pPr>
            <a:r>
              <a:rPr lang="en-US" sz="2624" b="1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Ahorro de </a:t>
            </a:r>
            <a:r>
              <a:rPr lang="en-US" sz="2624" b="1">
                <a:solidFill>
                  <a:srgbClr val="FF6B00"/>
                </a:solidFill>
                <a:latin typeface="DM Sans Bold"/>
                <a:ea typeface="DM Sans Bold"/>
                <a:cs typeface="DM Sans Bold"/>
                <a:sym typeface="DM Sans Bold"/>
              </a:rPr>
              <a:t>Tiempo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39348" y="4779912"/>
            <a:ext cx="6182398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Decisiones</a:t>
            </a:r>
            <a:r>
              <a:rPr lang="en-US" sz="3000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rapidas</a:t>
            </a:r>
            <a:r>
              <a:rPr lang="en-US" sz="3000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sin </a:t>
            </a:r>
            <a:r>
              <a:rPr lang="en-US" sz="3000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recorridos</a:t>
            </a:r>
            <a:r>
              <a:rPr lang="en-US" sz="3000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manuales</a:t>
            </a:r>
            <a:r>
              <a:rPr lang="en-US" sz="3000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. Una sola </a:t>
            </a:r>
            <a:r>
              <a:rPr lang="en-US" sz="3000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busqueda</a:t>
            </a:r>
            <a:r>
              <a:rPr lang="en-US" sz="3000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3000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todos</a:t>
            </a:r>
            <a:r>
              <a:rPr lang="en-US" sz="3000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los</a:t>
            </a:r>
            <a:r>
              <a:rPr lang="en-US" sz="3000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000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proveedores</a:t>
            </a:r>
            <a:r>
              <a:rPr lang="en-US" sz="3000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82152" y="8708446"/>
            <a:ext cx="1370621" cy="1370621"/>
          </a:xfrm>
          <a:custGeom>
            <a:avLst/>
            <a:gdLst/>
            <a:ahLst/>
            <a:cxnLst/>
            <a:rect l="l" t="t" r="r" b="b"/>
            <a:pathLst>
              <a:path w="1370621" h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0" y="-214312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999"/>
            </a:blip>
            <a:stretch>
              <a:fillRect t="-30503" b="-3050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176661" y="65849"/>
            <a:ext cx="13111416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Solución - Aqui entra FarmaAnalytics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607469"/>
            <a:ext cx="10071397" cy="531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Una página web que permita a Farmacias Maira visualizar un ranking de los productos más vendidos, consultar simultáneamente los catálogos de múltiples proveedores, comparar la rentabilidad de medicamentos entre sucursales y procesar automáticamente las cotizaciones recibidas por correo electrónico. De esta manera, la empresa podrá optimizar la gestión de su inventario, reducir tiempos de búsqueda y cotización, y contar con información precisa y centralizada para la toma de decisiones.</a:t>
            </a:r>
          </a:p>
        </p:txBody>
      </p:sp>
      <p:sp>
        <p:nvSpPr>
          <p:cNvPr id="6" name="Freeform 6"/>
          <p:cNvSpPr/>
          <p:nvPr/>
        </p:nvSpPr>
        <p:spPr>
          <a:xfrm>
            <a:off x="12237574" y="2189286"/>
            <a:ext cx="4929888" cy="5358574"/>
          </a:xfrm>
          <a:custGeom>
            <a:avLst/>
            <a:gdLst/>
            <a:ahLst/>
            <a:cxnLst/>
            <a:rect l="l" t="t" r="r" b="b"/>
            <a:pathLst>
              <a:path w="4929888" h="5358574">
                <a:moveTo>
                  <a:pt x="0" y="0"/>
                </a:moveTo>
                <a:lnTo>
                  <a:pt x="4929888" y="0"/>
                </a:lnTo>
                <a:lnTo>
                  <a:pt x="4929888" y="5358574"/>
                </a:lnTo>
                <a:lnTo>
                  <a:pt x="0" y="5358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t="-30503" b="-3050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>
            <a:off x="16917379" y="9258300"/>
            <a:ext cx="1370621" cy="1370621"/>
          </a:xfrm>
          <a:custGeom>
            <a:avLst/>
            <a:gdLst/>
            <a:ahLst/>
            <a:cxnLst/>
            <a:rect l="l" t="t" r="r" b="b"/>
            <a:pathLst>
              <a:path w="1370621" h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/>
          <p:cNvSpPr/>
          <p:nvPr/>
        </p:nvSpPr>
        <p:spPr>
          <a:xfrm>
            <a:off x="12837991" y="4489742"/>
            <a:ext cx="6072613" cy="6072613"/>
          </a:xfrm>
          <a:custGeom>
            <a:avLst/>
            <a:gdLst/>
            <a:ahLst/>
            <a:cxnLst/>
            <a:rect l="l" t="t" r="r" b="b"/>
            <a:pathLst>
              <a:path w="6072613" h="6072613">
                <a:moveTo>
                  <a:pt x="0" y="0"/>
                </a:moveTo>
                <a:lnTo>
                  <a:pt x="6072612" y="0"/>
                </a:lnTo>
                <a:lnTo>
                  <a:pt x="6072612" y="6072613"/>
                </a:lnTo>
                <a:lnTo>
                  <a:pt x="0" y="60726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TextBox 7"/>
          <p:cNvSpPr txBox="1"/>
          <p:nvPr/>
        </p:nvSpPr>
        <p:spPr>
          <a:xfrm>
            <a:off x="1028700" y="183383"/>
            <a:ext cx="11809291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Requerimientos 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Funcionales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878074" y="7858125"/>
            <a:ext cx="6355529" cy="1767522"/>
            <a:chOff x="0" y="0"/>
            <a:chExt cx="1137609" cy="3163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37609" cy="316378"/>
            </a:xfrm>
            <a:custGeom>
              <a:avLst/>
              <a:gdLst/>
              <a:ahLst/>
              <a:cxnLst/>
              <a:rect l="l" t="t" r="r" b="b"/>
              <a:pathLst>
                <a:path w="1137609" h="316378">
                  <a:moveTo>
                    <a:pt x="28017" y="0"/>
                  </a:moveTo>
                  <a:lnTo>
                    <a:pt x="1109592" y="0"/>
                  </a:lnTo>
                  <a:cubicBezTo>
                    <a:pt x="1117023" y="0"/>
                    <a:pt x="1124149" y="2952"/>
                    <a:pt x="1129403" y="8206"/>
                  </a:cubicBezTo>
                  <a:cubicBezTo>
                    <a:pt x="1134658" y="13460"/>
                    <a:pt x="1137609" y="20587"/>
                    <a:pt x="1137609" y="28017"/>
                  </a:cubicBezTo>
                  <a:lnTo>
                    <a:pt x="1137609" y="288361"/>
                  </a:lnTo>
                  <a:cubicBezTo>
                    <a:pt x="1137609" y="303834"/>
                    <a:pt x="1125066" y="316378"/>
                    <a:pt x="1109592" y="316378"/>
                  </a:cubicBezTo>
                  <a:lnTo>
                    <a:pt x="28017" y="316378"/>
                  </a:lnTo>
                  <a:cubicBezTo>
                    <a:pt x="12544" y="316378"/>
                    <a:pt x="0" y="303834"/>
                    <a:pt x="0" y="288361"/>
                  </a:cubicBezTo>
                  <a:lnTo>
                    <a:pt x="0" y="28017"/>
                  </a:lnTo>
                  <a:cubicBezTo>
                    <a:pt x="0" y="12544"/>
                    <a:pt x="12544" y="0"/>
                    <a:pt x="28017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177683" y="8448360"/>
            <a:ext cx="550806" cy="275403"/>
            <a:chOff x="0" y="0"/>
            <a:chExt cx="812800" cy="406400"/>
          </a:xfrm>
        </p:grpSpPr>
        <p:sp>
          <p:nvSpPr>
            <p:cNvPr id="11" name="Freeform 11"/>
            <p:cNvSpPr/>
            <p:nvPr/>
          </p:nvSpPr>
          <p:spPr>
            <a:xfrm>
              <a:off x="79487" y="0"/>
              <a:ext cx="687825" cy="406400"/>
            </a:xfrm>
            <a:custGeom>
              <a:avLst/>
              <a:gdLst/>
              <a:ahLst/>
              <a:cxnLst/>
              <a:rect l="l" t="t" r="r" b="b"/>
              <a:pathLst>
                <a:path w="687825" h="406400">
                  <a:moveTo>
                    <a:pt x="64197" y="0"/>
                  </a:moveTo>
                  <a:lnTo>
                    <a:pt x="386429" y="0"/>
                  </a:lnTo>
                  <a:cubicBezTo>
                    <a:pt x="478428" y="0"/>
                    <a:pt x="566660" y="36547"/>
                    <a:pt x="631713" y="101600"/>
                  </a:cubicBezTo>
                  <a:lnTo>
                    <a:pt x="631713" y="101600"/>
                  </a:lnTo>
                  <a:cubicBezTo>
                    <a:pt x="687825" y="157712"/>
                    <a:pt x="687825" y="248688"/>
                    <a:pt x="631713" y="304800"/>
                  </a:cubicBezTo>
                  <a:lnTo>
                    <a:pt x="631713" y="304800"/>
                  </a:lnTo>
                  <a:cubicBezTo>
                    <a:pt x="566660" y="369853"/>
                    <a:pt x="478428" y="406400"/>
                    <a:pt x="386429" y="406400"/>
                  </a:cubicBezTo>
                  <a:lnTo>
                    <a:pt x="64197" y="406400"/>
                  </a:lnTo>
                  <a:cubicBezTo>
                    <a:pt x="40125" y="406400"/>
                    <a:pt x="18424" y="391899"/>
                    <a:pt x="9212" y="369660"/>
                  </a:cubicBezTo>
                  <a:cubicBezTo>
                    <a:pt x="0" y="347420"/>
                    <a:pt x="5092" y="321821"/>
                    <a:pt x="22113" y="304800"/>
                  </a:cubicBezTo>
                  <a:lnTo>
                    <a:pt x="22113" y="304800"/>
                  </a:lnTo>
                  <a:cubicBezTo>
                    <a:pt x="78225" y="248688"/>
                    <a:pt x="78225" y="157712"/>
                    <a:pt x="22113" y="101600"/>
                  </a:cubicBezTo>
                  <a:lnTo>
                    <a:pt x="22113" y="101600"/>
                  </a:lnTo>
                  <a:cubicBezTo>
                    <a:pt x="5092" y="84579"/>
                    <a:pt x="0" y="58980"/>
                    <a:pt x="9212" y="36740"/>
                  </a:cubicBezTo>
                  <a:cubicBezTo>
                    <a:pt x="18424" y="14501"/>
                    <a:pt x="40125" y="0"/>
                    <a:pt x="64197" y="0"/>
                  </a:cubicBezTo>
                  <a:close/>
                </a:path>
              </a:pathLst>
            </a:custGeom>
            <a:solidFill>
              <a:srgbClr val="FF6B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7800" y="-28575"/>
              <a:ext cx="558800" cy="434975"/>
            </a:xfrm>
            <a:prstGeom prst="rect">
              <a:avLst/>
            </a:prstGeom>
          </p:spPr>
          <p:txBody>
            <a:bodyPr lIns="51547" tIns="51547" rIns="51547" bIns="51547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017954" y="8047303"/>
            <a:ext cx="6075769" cy="1764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0"/>
              </a:lnSpc>
            </a:pPr>
            <a:r>
              <a:rPr lang="en-US" sz="206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El sistema debe emitir alertas de stock bajo en productos críticos. y advertir al usuario cuando un archivo excel tiene una antiguedad mayor a la definida</a:t>
            </a:r>
          </a:p>
          <a:p>
            <a:pPr algn="ctr">
              <a:lnSpc>
                <a:spcPts val="2890"/>
              </a:lnSpc>
            </a:pPr>
            <a:endParaRPr lang="en-US" sz="2064">
              <a:solidFill>
                <a:srgbClr val="00000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03003" y="8036711"/>
            <a:ext cx="1683794" cy="97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44"/>
              </a:lnSpc>
              <a:spcBef>
                <a:spcPct val="0"/>
              </a:spcBef>
            </a:pPr>
            <a:r>
              <a:rPr lang="en-US" sz="5674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RF-5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07052" y="8296952"/>
            <a:ext cx="6921045" cy="521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1"/>
              </a:lnSpc>
              <a:spcBef>
                <a:spcPct val="0"/>
              </a:spcBef>
            </a:pPr>
            <a:r>
              <a:rPr lang="en-US" sz="3044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Notificación en forma de alertas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28700" y="1500048"/>
            <a:ext cx="16230600" cy="1418069"/>
            <a:chOff x="0" y="0"/>
            <a:chExt cx="21640800" cy="1890759"/>
          </a:xfrm>
        </p:grpSpPr>
        <p:grpSp>
          <p:nvGrpSpPr>
            <p:cNvPr id="17" name="Group 17"/>
            <p:cNvGrpSpPr/>
            <p:nvPr/>
          </p:nvGrpSpPr>
          <p:grpSpPr>
            <a:xfrm>
              <a:off x="13166761" y="0"/>
              <a:ext cx="8474039" cy="1890759"/>
              <a:chOff x="0" y="0"/>
              <a:chExt cx="1154328" cy="25755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154328" cy="257558"/>
              </a:xfrm>
              <a:custGeom>
                <a:avLst/>
                <a:gdLst/>
                <a:ahLst/>
                <a:cxnLst/>
                <a:rect l="l" t="t" r="r" b="b"/>
                <a:pathLst>
                  <a:path w="1154328" h="257558">
                    <a:moveTo>
                      <a:pt x="28017" y="0"/>
                    </a:moveTo>
                    <a:lnTo>
                      <a:pt x="1126310" y="0"/>
                    </a:lnTo>
                    <a:cubicBezTo>
                      <a:pt x="1133741" y="0"/>
                      <a:pt x="1140867" y="2952"/>
                      <a:pt x="1146122" y="8206"/>
                    </a:cubicBezTo>
                    <a:cubicBezTo>
                      <a:pt x="1151376" y="13460"/>
                      <a:pt x="1154328" y="20587"/>
                      <a:pt x="1154328" y="28017"/>
                    </a:cubicBezTo>
                    <a:lnTo>
                      <a:pt x="1154328" y="229541"/>
                    </a:lnTo>
                    <a:cubicBezTo>
                      <a:pt x="1154328" y="236971"/>
                      <a:pt x="1151376" y="244098"/>
                      <a:pt x="1146122" y="249352"/>
                    </a:cubicBezTo>
                    <a:cubicBezTo>
                      <a:pt x="1140867" y="254606"/>
                      <a:pt x="1133741" y="257558"/>
                      <a:pt x="1126310" y="257558"/>
                    </a:cubicBezTo>
                    <a:lnTo>
                      <a:pt x="28017" y="257558"/>
                    </a:lnTo>
                    <a:cubicBezTo>
                      <a:pt x="12544" y="257558"/>
                      <a:pt x="0" y="245014"/>
                      <a:pt x="0" y="229541"/>
                    </a:cubicBezTo>
                    <a:lnTo>
                      <a:pt x="0" y="28017"/>
                    </a:lnTo>
                    <a:cubicBezTo>
                      <a:pt x="0" y="12544"/>
                      <a:pt x="12544" y="0"/>
                      <a:pt x="280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2033458" y="775582"/>
              <a:ext cx="734407" cy="361886"/>
              <a:chOff x="0" y="0"/>
              <a:chExt cx="824745" cy="4064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9487" y="0"/>
                <a:ext cx="69977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699770" h="406400">
                    <a:moveTo>
                      <a:pt x="64197" y="0"/>
                    </a:moveTo>
                    <a:lnTo>
                      <a:pt x="398374" y="0"/>
                    </a:lnTo>
                    <a:cubicBezTo>
                      <a:pt x="490373" y="0"/>
                      <a:pt x="578604" y="36547"/>
                      <a:pt x="643658" y="101600"/>
                    </a:cubicBezTo>
                    <a:lnTo>
                      <a:pt x="643658" y="101600"/>
                    </a:lnTo>
                    <a:cubicBezTo>
                      <a:pt x="699770" y="157712"/>
                      <a:pt x="699770" y="248688"/>
                      <a:pt x="643658" y="304800"/>
                    </a:cubicBezTo>
                    <a:lnTo>
                      <a:pt x="643658" y="304800"/>
                    </a:lnTo>
                    <a:cubicBezTo>
                      <a:pt x="578604" y="369853"/>
                      <a:pt x="490373" y="406400"/>
                      <a:pt x="398374" y="406400"/>
                    </a:cubicBezTo>
                    <a:lnTo>
                      <a:pt x="64197" y="406400"/>
                    </a:lnTo>
                    <a:cubicBezTo>
                      <a:pt x="40125" y="406400"/>
                      <a:pt x="18424" y="391899"/>
                      <a:pt x="9212" y="369660"/>
                    </a:cubicBezTo>
                    <a:cubicBezTo>
                      <a:pt x="0" y="347420"/>
                      <a:pt x="5092" y="321821"/>
                      <a:pt x="22113" y="304800"/>
                    </a:cubicBezTo>
                    <a:lnTo>
                      <a:pt x="22113" y="304800"/>
                    </a:lnTo>
                    <a:cubicBezTo>
                      <a:pt x="78225" y="248688"/>
                      <a:pt x="78225" y="157712"/>
                      <a:pt x="22113" y="101600"/>
                    </a:cubicBezTo>
                    <a:lnTo>
                      <a:pt x="22113" y="101600"/>
                    </a:lnTo>
                    <a:cubicBezTo>
                      <a:pt x="5092" y="84579"/>
                      <a:pt x="0" y="58980"/>
                      <a:pt x="9212" y="36740"/>
                    </a:cubicBezTo>
                    <a:cubicBezTo>
                      <a:pt x="18424" y="14501"/>
                      <a:pt x="40125" y="0"/>
                      <a:pt x="64197" y="0"/>
                    </a:cubicBezTo>
                    <a:close/>
                  </a:path>
                </a:pathLst>
              </a:custGeom>
              <a:solidFill>
                <a:srgbClr val="FF6B00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77800" y="-28575"/>
                <a:ext cx="570745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20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3353268" y="238508"/>
              <a:ext cx="8101025" cy="13884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48"/>
                </a:lnSpc>
              </a:pPr>
              <a:r>
                <a:rPr lang="en-US" sz="2034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La solución muestra un ranking de los productos más vendidos durante un tiempo especificado por el usuario, junto a  unidades, costo y margen.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270558"/>
              <a:ext cx="2245059" cy="12457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29"/>
                </a:lnSpc>
                <a:spcBef>
                  <a:spcPct val="0"/>
                </a:spcBef>
              </a:pPr>
              <a:r>
                <a:rPr lang="en-US" sz="5592" b="1">
                  <a:solidFill>
                    <a:srgbClr val="1A1A1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RF-1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05398" y="585050"/>
              <a:ext cx="922806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Ranking de productos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03003" y="3089567"/>
            <a:ext cx="16230600" cy="1418069"/>
            <a:chOff x="0" y="0"/>
            <a:chExt cx="21640800" cy="1890759"/>
          </a:xfrm>
        </p:grpSpPr>
        <p:grpSp>
          <p:nvGrpSpPr>
            <p:cNvPr id="26" name="Group 26"/>
            <p:cNvGrpSpPr/>
            <p:nvPr/>
          </p:nvGrpSpPr>
          <p:grpSpPr>
            <a:xfrm>
              <a:off x="13166761" y="0"/>
              <a:ext cx="8474039" cy="1890759"/>
              <a:chOff x="0" y="0"/>
              <a:chExt cx="1154328" cy="25755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154328" cy="257558"/>
              </a:xfrm>
              <a:custGeom>
                <a:avLst/>
                <a:gdLst/>
                <a:ahLst/>
                <a:cxnLst/>
                <a:rect l="l" t="t" r="r" b="b"/>
                <a:pathLst>
                  <a:path w="1154328" h="257558">
                    <a:moveTo>
                      <a:pt x="28017" y="0"/>
                    </a:moveTo>
                    <a:lnTo>
                      <a:pt x="1126310" y="0"/>
                    </a:lnTo>
                    <a:cubicBezTo>
                      <a:pt x="1133741" y="0"/>
                      <a:pt x="1140867" y="2952"/>
                      <a:pt x="1146122" y="8206"/>
                    </a:cubicBezTo>
                    <a:cubicBezTo>
                      <a:pt x="1151376" y="13460"/>
                      <a:pt x="1154328" y="20587"/>
                      <a:pt x="1154328" y="28017"/>
                    </a:cubicBezTo>
                    <a:lnTo>
                      <a:pt x="1154328" y="229541"/>
                    </a:lnTo>
                    <a:cubicBezTo>
                      <a:pt x="1154328" y="236971"/>
                      <a:pt x="1151376" y="244098"/>
                      <a:pt x="1146122" y="249352"/>
                    </a:cubicBezTo>
                    <a:cubicBezTo>
                      <a:pt x="1140867" y="254606"/>
                      <a:pt x="1133741" y="257558"/>
                      <a:pt x="1126310" y="257558"/>
                    </a:cubicBezTo>
                    <a:lnTo>
                      <a:pt x="28017" y="257558"/>
                    </a:lnTo>
                    <a:cubicBezTo>
                      <a:pt x="12544" y="257558"/>
                      <a:pt x="0" y="245014"/>
                      <a:pt x="0" y="229541"/>
                    </a:cubicBezTo>
                    <a:lnTo>
                      <a:pt x="0" y="28017"/>
                    </a:lnTo>
                    <a:cubicBezTo>
                      <a:pt x="0" y="12544"/>
                      <a:pt x="12544" y="0"/>
                      <a:pt x="280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2049304" y="775582"/>
              <a:ext cx="734407" cy="361886"/>
              <a:chOff x="0" y="0"/>
              <a:chExt cx="824745" cy="4064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9487" y="0"/>
                <a:ext cx="69977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699770" h="406400">
                    <a:moveTo>
                      <a:pt x="64197" y="0"/>
                    </a:moveTo>
                    <a:lnTo>
                      <a:pt x="398374" y="0"/>
                    </a:lnTo>
                    <a:cubicBezTo>
                      <a:pt x="490373" y="0"/>
                      <a:pt x="578604" y="36547"/>
                      <a:pt x="643658" y="101600"/>
                    </a:cubicBezTo>
                    <a:lnTo>
                      <a:pt x="643658" y="101600"/>
                    </a:lnTo>
                    <a:cubicBezTo>
                      <a:pt x="699770" y="157712"/>
                      <a:pt x="699770" y="248688"/>
                      <a:pt x="643658" y="304800"/>
                    </a:cubicBezTo>
                    <a:lnTo>
                      <a:pt x="643658" y="304800"/>
                    </a:lnTo>
                    <a:cubicBezTo>
                      <a:pt x="578604" y="369853"/>
                      <a:pt x="490373" y="406400"/>
                      <a:pt x="398374" y="406400"/>
                    </a:cubicBezTo>
                    <a:lnTo>
                      <a:pt x="64197" y="406400"/>
                    </a:lnTo>
                    <a:cubicBezTo>
                      <a:pt x="40125" y="406400"/>
                      <a:pt x="18424" y="391899"/>
                      <a:pt x="9212" y="369660"/>
                    </a:cubicBezTo>
                    <a:cubicBezTo>
                      <a:pt x="0" y="347420"/>
                      <a:pt x="5092" y="321821"/>
                      <a:pt x="22113" y="304800"/>
                    </a:cubicBezTo>
                    <a:lnTo>
                      <a:pt x="22113" y="304800"/>
                    </a:lnTo>
                    <a:cubicBezTo>
                      <a:pt x="78225" y="248688"/>
                      <a:pt x="78225" y="157712"/>
                      <a:pt x="22113" y="101600"/>
                    </a:cubicBezTo>
                    <a:lnTo>
                      <a:pt x="22113" y="101600"/>
                    </a:lnTo>
                    <a:cubicBezTo>
                      <a:pt x="5092" y="84579"/>
                      <a:pt x="0" y="58980"/>
                      <a:pt x="9212" y="36740"/>
                    </a:cubicBezTo>
                    <a:cubicBezTo>
                      <a:pt x="18424" y="14501"/>
                      <a:pt x="40125" y="0"/>
                      <a:pt x="64197" y="0"/>
                    </a:cubicBezTo>
                    <a:close/>
                  </a:path>
                </a:pathLst>
              </a:custGeom>
              <a:solidFill>
                <a:srgbClr val="FF6B00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77800" y="-28575"/>
                <a:ext cx="570745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20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3353268" y="238508"/>
              <a:ext cx="8101025" cy="13884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48"/>
                </a:lnSpc>
              </a:pPr>
              <a:r>
                <a:rPr lang="en-US" sz="2034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La solución muestra los precios del producto buscado y fecha de actualización de la cotización de cada proveedor.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270558"/>
              <a:ext cx="2245059" cy="12457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29"/>
                </a:lnSpc>
                <a:spcBef>
                  <a:spcPct val="0"/>
                </a:spcBef>
              </a:pPr>
              <a:r>
                <a:rPr lang="en-US" sz="5592" b="1">
                  <a:solidFill>
                    <a:srgbClr val="1A1A1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RF-2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38195" y="573904"/>
              <a:ext cx="922806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Comparar precio entre proveedores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03003" y="4679087"/>
            <a:ext cx="16230600" cy="1418069"/>
            <a:chOff x="0" y="0"/>
            <a:chExt cx="21640800" cy="1890759"/>
          </a:xfrm>
        </p:grpSpPr>
        <p:grpSp>
          <p:nvGrpSpPr>
            <p:cNvPr id="35" name="Group 35"/>
            <p:cNvGrpSpPr/>
            <p:nvPr/>
          </p:nvGrpSpPr>
          <p:grpSpPr>
            <a:xfrm>
              <a:off x="13166761" y="0"/>
              <a:ext cx="8474039" cy="1890759"/>
              <a:chOff x="0" y="0"/>
              <a:chExt cx="1154328" cy="257558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154328" cy="257558"/>
              </a:xfrm>
              <a:custGeom>
                <a:avLst/>
                <a:gdLst/>
                <a:ahLst/>
                <a:cxnLst/>
                <a:rect l="l" t="t" r="r" b="b"/>
                <a:pathLst>
                  <a:path w="1154328" h="257558">
                    <a:moveTo>
                      <a:pt x="28017" y="0"/>
                    </a:moveTo>
                    <a:lnTo>
                      <a:pt x="1126310" y="0"/>
                    </a:lnTo>
                    <a:cubicBezTo>
                      <a:pt x="1133741" y="0"/>
                      <a:pt x="1140867" y="2952"/>
                      <a:pt x="1146122" y="8206"/>
                    </a:cubicBezTo>
                    <a:cubicBezTo>
                      <a:pt x="1151376" y="13460"/>
                      <a:pt x="1154328" y="20587"/>
                      <a:pt x="1154328" y="28017"/>
                    </a:cubicBezTo>
                    <a:lnTo>
                      <a:pt x="1154328" y="229541"/>
                    </a:lnTo>
                    <a:cubicBezTo>
                      <a:pt x="1154328" y="236971"/>
                      <a:pt x="1151376" y="244098"/>
                      <a:pt x="1146122" y="249352"/>
                    </a:cubicBezTo>
                    <a:cubicBezTo>
                      <a:pt x="1140867" y="254606"/>
                      <a:pt x="1133741" y="257558"/>
                      <a:pt x="1126310" y="257558"/>
                    </a:cubicBezTo>
                    <a:lnTo>
                      <a:pt x="28017" y="257558"/>
                    </a:lnTo>
                    <a:cubicBezTo>
                      <a:pt x="12544" y="257558"/>
                      <a:pt x="0" y="245014"/>
                      <a:pt x="0" y="229541"/>
                    </a:cubicBezTo>
                    <a:lnTo>
                      <a:pt x="0" y="28017"/>
                    </a:lnTo>
                    <a:cubicBezTo>
                      <a:pt x="0" y="12544"/>
                      <a:pt x="12544" y="0"/>
                      <a:pt x="280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2049304" y="775582"/>
              <a:ext cx="734407" cy="361886"/>
              <a:chOff x="0" y="0"/>
              <a:chExt cx="824745" cy="4064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9487" y="0"/>
                <a:ext cx="69977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699770" h="406400">
                    <a:moveTo>
                      <a:pt x="64197" y="0"/>
                    </a:moveTo>
                    <a:lnTo>
                      <a:pt x="398374" y="0"/>
                    </a:lnTo>
                    <a:cubicBezTo>
                      <a:pt x="490373" y="0"/>
                      <a:pt x="578604" y="36547"/>
                      <a:pt x="643658" y="101600"/>
                    </a:cubicBezTo>
                    <a:lnTo>
                      <a:pt x="643658" y="101600"/>
                    </a:lnTo>
                    <a:cubicBezTo>
                      <a:pt x="699770" y="157712"/>
                      <a:pt x="699770" y="248688"/>
                      <a:pt x="643658" y="304800"/>
                    </a:cubicBezTo>
                    <a:lnTo>
                      <a:pt x="643658" y="304800"/>
                    </a:lnTo>
                    <a:cubicBezTo>
                      <a:pt x="578604" y="369853"/>
                      <a:pt x="490373" y="406400"/>
                      <a:pt x="398374" y="406400"/>
                    </a:cubicBezTo>
                    <a:lnTo>
                      <a:pt x="64197" y="406400"/>
                    </a:lnTo>
                    <a:cubicBezTo>
                      <a:pt x="40125" y="406400"/>
                      <a:pt x="18424" y="391899"/>
                      <a:pt x="9212" y="369660"/>
                    </a:cubicBezTo>
                    <a:cubicBezTo>
                      <a:pt x="0" y="347420"/>
                      <a:pt x="5092" y="321821"/>
                      <a:pt x="22113" y="304800"/>
                    </a:cubicBezTo>
                    <a:lnTo>
                      <a:pt x="22113" y="304800"/>
                    </a:lnTo>
                    <a:cubicBezTo>
                      <a:pt x="78225" y="248688"/>
                      <a:pt x="78225" y="157712"/>
                      <a:pt x="22113" y="101600"/>
                    </a:cubicBezTo>
                    <a:lnTo>
                      <a:pt x="22113" y="101600"/>
                    </a:lnTo>
                    <a:cubicBezTo>
                      <a:pt x="5092" y="84579"/>
                      <a:pt x="0" y="58980"/>
                      <a:pt x="9212" y="36740"/>
                    </a:cubicBezTo>
                    <a:cubicBezTo>
                      <a:pt x="18424" y="14501"/>
                      <a:pt x="40125" y="0"/>
                      <a:pt x="64197" y="0"/>
                    </a:cubicBezTo>
                    <a:close/>
                  </a:path>
                </a:pathLst>
              </a:custGeom>
              <a:solidFill>
                <a:srgbClr val="FF6B00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77800" y="-28575"/>
                <a:ext cx="570745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20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13353268" y="238508"/>
              <a:ext cx="8101025" cy="13884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48"/>
                </a:lnSpc>
              </a:pPr>
              <a:r>
                <a:rPr lang="en-US" sz="2034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Se pueden visualizar, por sucursal, los indicadores unidades vendidas, costo, ingreso y % de margen y exportarlos a CSV/Excel.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270558"/>
              <a:ext cx="2245059" cy="12457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29"/>
                </a:lnSpc>
                <a:spcBef>
                  <a:spcPct val="0"/>
                </a:spcBef>
              </a:pPr>
              <a:r>
                <a:rPr lang="en-US" sz="5592" b="1">
                  <a:solidFill>
                    <a:srgbClr val="1A1A1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RF-3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342652" y="605443"/>
              <a:ext cx="9609060" cy="622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Comparar rentabilidad entre sucursales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03003" y="6215640"/>
            <a:ext cx="16230600" cy="1471035"/>
            <a:chOff x="0" y="0"/>
            <a:chExt cx="21640800" cy="1961379"/>
          </a:xfrm>
        </p:grpSpPr>
        <p:grpSp>
          <p:nvGrpSpPr>
            <p:cNvPr id="44" name="Group 44"/>
            <p:cNvGrpSpPr/>
            <p:nvPr/>
          </p:nvGrpSpPr>
          <p:grpSpPr>
            <a:xfrm>
              <a:off x="13166761" y="0"/>
              <a:ext cx="8474039" cy="1890759"/>
              <a:chOff x="0" y="0"/>
              <a:chExt cx="1154328" cy="257558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1154328" cy="257558"/>
              </a:xfrm>
              <a:custGeom>
                <a:avLst/>
                <a:gdLst/>
                <a:ahLst/>
                <a:cxnLst/>
                <a:rect l="l" t="t" r="r" b="b"/>
                <a:pathLst>
                  <a:path w="1154328" h="257558">
                    <a:moveTo>
                      <a:pt x="28017" y="0"/>
                    </a:moveTo>
                    <a:lnTo>
                      <a:pt x="1126310" y="0"/>
                    </a:lnTo>
                    <a:cubicBezTo>
                      <a:pt x="1133741" y="0"/>
                      <a:pt x="1140867" y="2952"/>
                      <a:pt x="1146122" y="8206"/>
                    </a:cubicBezTo>
                    <a:cubicBezTo>
                      <a:pt x="1151376" y="13460"/>
                      <a:pt x="1154328" y="20587"/>
                      <a:pt x="1154328" y="28017"/>
                    </a:cubicBezTo>
                    <a:lnTo>
                      <a:pt x="1154328" y="229541"/>
                    </a:lnTo>
                    <a:cubicBezTo>
                      <a:pt x="1154328" y="236971"/>
                      <a:pt x="1151376" y="244098"/>
                      <a:pt x="1146122" y="249352"/>
                    </a:cubicBezTo>
                    <a:cubicBezTo>
                      <a:pt x="1140867" y="254606"/>
                      <a:pt x="1133741" y="257558"/>
                      <a:pt x="1126310" y="257558"/>
                    </a:cubicBezTo>
                    <a:lnTo>
                      <a:pt x="28017" y="257558"/>
                    </a:lnTo>
                    <a:cubicBezTo>
                      <a:pt x="12544" y="257558"/>
                      <a:pt x="0" y="245014"/>
                      <a:pt x="0" y="229541"/>
                    </a:cubicBezTo>
                    <a:lnTo>
                      <a:pt x="0" y="28017"/>
                    </a:lnTo>
                    <a:cubicBezTo>
                      <a:pt x="0" y="12544"/>
                      <a:pt x="12544" y="0"/>
                      <a:pt x="280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12049304" y="775582"/>
              <a:ext cx="734407" cy="361886"/>
              <a:chOff x="0" y="0"/>
              <a:chExt cx="824745" cy="4064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9487" y="0"/>
                <a:ext cx="69977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699770" h="406400">
                    <a:moveTo>
                      <a:pt x="64197" y="0"/>
                    </a:moveTo>
                    <a:lnTo>
                      <a:pt x="398374" y="0"/>
                    </a:lnTo>
                    <a:cubicBezTo>
                      <a:pt x="490373" y="0"/>
                      <a:pt x="578604" y="36547"/>
                      <a:pt x="643658" y="101600"/>
                    </a:cubicBezTo>
                    <a:lnTo>
                      <a:pt x="643658" y="101600"/>
                    </a:lnTo>
                    <a:cubicBezTo>
                      <a:pt x="699770" y="157712"/>
                      <a:pt x="699770" y="248688"/>
                      <a:pt x="643658" y="304800"/>
                    </a:cubicBezTo>
                    <a:lnTo>
                      <a:pt x="643658" y="304800"/>
                    </a:lnTo>
                    <a:cubicBezTo>
                      <a:pt x="578604" y="369853"/>
                      <a:pt x="490373" y="406400"/>
                      <a:pt x="398374" y="406400"/>
                    </a:cubicBezTo>
                    <a:lnTo>
                      <a:pt x="64197" y="406400"/>
                    </a:lnTo>
                    <a:cubicBezTo>
                      <a:pt x="40125" y="406400"/>
                      <a:pt x="18424" y="391899"/>
                      <a:pt x="9212" y="369660"/>
                    </a:cubicBezTo>
                    <a:cubicBezTo>
                      <a:pt x="0" y="347420"/>
                      <a:pt x="5092" y="321821"/>
                      <a:pt x="22113" y="304800"/>
                    </a:cubicBezTo>
                    <a:lnTo>
                      <a:pt x="22113" y="304800"/>
                    </a:lnTo>
                    <a:cubicBezTo>
                      <a:pt x="78225" y="248688"/>
                      <a:pt x="78225" y="157712"/>
                      <a:pt x="22113" y="101600"/>
                    </a:cubicBezTo>
                    <a:lnTo>
                      <a:pt x="22113" y="101600"/>
                    </a:lnTo>
                    <a:cubicBezTo>
                      <a:pt x="5092" y="84579"/>
                      <a:pt x="0" y="58980"/>
                      <a:pt x="9212" y="36740"/>
                    </a:cubicBezTo>
                    <a:cubicBezTo>
                      <a:pt x="18424" y="14501"/>
                      <a:pt x="40125" y="0"/>
                      <a:pt x="64197" y="0"/>
                    </a:cubicBezTo>
                    <a:close/>
                  </a:path>
                </a:pathLst>
              </a:custGeom>
              <a:solidFill>
                <a:srgbClr val="FF6B00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77800" y="-28575"/>
                <a:ext cx="570745" cy="434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20"/>
                  </a:lnSpc>
                </a:pPr>
                <a:endParaRPr/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13353268" y="238508"/>
              <a:ext cx="8101025" cy="13884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48"/>
                </a:lnSpc>
              </a:pPr>
              <a:r>
                <a:rPr lang="en-US" sz="2034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El sistema debe generar recomendaciones automáticas sobre productos y proveedores a partir del ranking de ventas.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270558"/>
              <a:ext cx="2245059" cy="12457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29"/>
                </a:lnSpc>
                <a:spcBef>
                  <a:spcPct val="0"/>
                </a:spcBef>
              </a:pPr>
              <a:r>
                <a:rPr lang="en-US" sz="5592" b="1">
                  <a:solidFill>
                    <a:srgbClr val="1A1A1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RF-4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662352" y="573904"/>
              <a:ext cx="9228060" cy="138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Inteligencia Artificial básica integrada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t="-30503" b="-3050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>
            <a:off x="16917379" y="9258300"/>
            <a:ext cx="1370621" cy="1370621"/>
          </a:xfrm>
          <a:custGeom>
            <a:avLst/>
            <a:gdLst/>
            <a:ahLst/>
            <a:cxnLst/>
            <a:rect l="l" t="t" r="r" b="b"/>
            <a:pathLst>
              <a:path w="1370621" h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Freeform 6"/>
          <p:cNvSpPr/>
          <p:nvPr/>
        </p:nvSpPr>
        <p:spPr>
          <a:xfrm>
            <a:off x="12837991" y="4489742"/>
            <a:ext cx="6072613" cy="6072613"/>
          </a:xfrm>
          <a:custGeom>
            <a:avLst/>
            <a:gdLst/>
            <a:ahLst/>
            <a:cxnLst/>
            <a:rect l="l" t="t" r="r" b="b"/>
            <a:pathLst>
              <a:path w="6072613" h="6072613">
                <a:moveTo>
                  <a:pt x="0" y="0"/>
                </a:moveTo>
                <a:lnTo>
                  <a:pt x="6072612" y="0"/>
                </a:lnTo>
                <a:lnTo>
                  <a:pt x="6072612" y="6072613"/>
                </a:lnTo>
                <a:lnTo>
                  <a:pt x="0" y="60726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7" name="Group 7"/>
          <p:cNvGrpSpPr/>
          <p:nvPr/>
        </p:nvGrpSpPr>
        <p:grpSpPr>
          <a:xfrm>
            <a:off x="10654624" y="1482154"/>
            <a:ext cx="6263481" cy="1418069"/>
            <a:chOff x="0" y="0"/>
            <a:chExt cx="1137609" cy="2575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37609" cy="257558"/>
            </a:xfrm>
            <a:custGeom>
              <a:avLst/>
              <a:gdLst/>
              <a:ahLst/>
              <a:cxnLst/>
              <a:rect l="l" t="t" r="r" b="b"/>
              <a:pathLst>
                <a:path w="1137609" h="257558">
                  <a:moveTo>
                    <a:pt x="28429" y="0"/>
                  </a:moveTo>
                  <a:lnTo>
                    <a:pt x="1109180" y="0"/>
                  </a:lnTo>
                  <a:cubicBezTo>
                    <a:pt x="1116720" y="0"/>
                    <a:pt x="1123951" y="2995"/>
                    <a:pt x="1129283" y="8327"/>
                  </a:cubicBezTo>
                  <a:cubicBezTo>
                    <a:pt x="1134614" y="13658"/>
                    <a:pt x="1137609" y="20889"/>
                    <a:pt x="1137609" y="28429"/>
                  </a:cubicBezTo>
                  <a:lnTo>
                    <a:pt x="1137609" y="229129"/>
                  </a:lnTo>
                  <a:cubicBezTo>
                    <a:pt x="1137609" y="244830"/>
                    <a:pt x="1124881" y="257558"/>
                    <a:pt x="1109180" y="257558"/>
                  </a:cubicBezTo>
                  <a:lnTo>
                    <a:pt x="28429" y="257558"/>
                  </a:lnTo>
                  <a:cubicBezTo>
                    <a:pt x="12728" y="257558"/>
                    <a:pt x="0" y="244830"/>
                    <a:pt x="0" y="229129"/>
                  </a:cubicBezTo>
                  <a:lnTo>
                    <a:pt x="0" y="28429"/>
                  </a:lnTo>
                  <a:cubicBezTo>
                    <a:pt x="0" y="12728"/>
                    <a:pt x="12728" y="0"/>
                    <a:pt x="28429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33374" y="2023423"/>
            <a:ext cx="542828" cy="271414"/>
            <a:chOff x="0" y="0"/>
            <a:chExt cx="812800" cy="406400"/>
          </a:xfrm>
        </p:grpSpPr>
        <p:sp>
          <p:nvSpPr>
            <p:cNvPr id="10" name="Freeform 10"/>
            <p:cNvSpPr/>
            <p:nvPr/>
          </p:nvSpPr>
          <p:spPr>
            <a:xfrm>
              <a:off x="79487" y="0"/>
              <a:ext cx="687825" cy="406400"/>
            </a:xfrm>
            <a:custGeom>
              <a:avLst/>
              <a:gdLst/>
              <a:ahLst/>
              <a:cxnLst/>
              <a:rect l="l" t="t" r="r" b="b"/>
              <a:pathLst>
                <a:path w="687825" h="406400">
                  <a:moveTo>
                    <a:pt x="64197" y="0"/>
                  </a:moveTo>
                  <a:lnTo>
                    <a:pt x="386429" y="0"/>
                  </a:lnTo>
                  <a:cubicBezTo>
                    <a:pt x="478428" y="0"/>
                    <a:pt x="566660" y="36547"/>
                    <a:pt x="631713" y="101600"/>
                  </a:cubicBezTo>
                  <a:lnTo>
                    <a:pt x="631713" y="101600"/>
                  </a:lnTo>
                  <a:cubicBezTo>
                    <a:pt x="687825" y="157712"/>
                    <a:pt x="687825" y="248688"/>
                    <a:pt x="631713" y="304800"/>
                  </a:cubicBezTo>
                  <a:lnTo>
                    <a:pt x="631713" y="304800"/>
                  </a:lnTo>
                  <a:cubicBezTo>
                    <a:pt x="566660" y="369853"/>
                    <a:pt x="478428" y="406400"/>
                    <a:pt x="386429" y="406400"/>
                  </a:cubicBezTo>
                  <a:lnTo>
                    <a:pt x="64197" y="406400"/>
                  </a:lnTo>
                  <a:cubicBezTo>
                    <a:pt x="40125" y="406400"/>
                    <a:pt x="18424" y="391899"/>
                    <a:pt x="9212" y="369660"/>
                  </a:cubicBezTo>
                  <a:cubicBezTo>
                    <a:pt x="0" y="347420"/>
                    <a:pt x="5092" y="321821"/>
                    <a:pt x="22113" y="304800"/>
                  </a:cubicBezTo>
                  <a:lnTo>
                    <a:pt x="22113" y="304800"/>
                  </a:lnTo>
                  <a:cubicBezTo>
                    <a:pt x="78225" y="248688"/>
                    <a:pt x="78225" y="157712"/>
                    <a:pt x="22113" y="101600"/>
                  </a:cubicBezTo>
                  <a:lnTo>
                    <a:pt x="22113" y="101600"/>
                  </a:lnTo>
                  <a:cubicBezTo>
                    <a:pt x="5092" y="84579"/>
                    <a:pt x="0" y="58980"/>
                    <a:pt x="9212" y="36740"/>
                  </a:cubicBezTo>
                  <a:cubicBezTo>
                    <a:pt x="18424" y="14501"/>
                    <a:pt x="40125" y="0"/>
                    <a:pt x="64197" y="0"/>
                  </a:cubicBezTo>
                  <a:close/>
                </a:path>
              </a:pathLst>
            </a:custGeom>
            <a:solidFill>
              <a:srgbClr val="FF6B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7800" y="-28575"/>
              <a:ext cx="5588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653898" y="3071673"/>
            <a:ext cx="6263481" cy="1418069"/>
            <a:chOff x="0" y="0"/>
            <a:chExt cx="1137609" cy="25755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37609" cy="257558"/>
            </a:xfrm>
            <a:custGeom>
              <a:avLst/>
              <a:gdLst/>
              <a:ahLst/>
              <a:cxnLst/>
              <a:rect l="l" t="t" r="r" b="b"/>
              <a:pathLst>
                <a:path w="1137609" h="257558">
                  <a:moveTo>
                    <a:pt x="28429" y="0"/>
                  </a:moveTo>
                  <a:lnTo>
                    <a:pt x="1109180" y="0"/>
                  </a:lnTo>
                  <a:cubicBezTo>
                    <a:pt x="1116720" y="0"/>
                    <a:pt x="1123951" y="2995"/>
                    <a:pt x="1129283" y="8327"/>
                  </a:cubicBezTo>
                  <a:cubicBezTo>
                    <a:pt x="1134614" y="13658"/>
                    <a:pt x="1137609" y="20889"/>
                    <a:pt x="1137609" y="28429"/>
                  </a:cubicBezTo>
                  <a:lnTo>
                    <a:pt x="1137609" y="229129"/>
                  </a:lnTo>
                  <a:cubicBezTo>
                    <a:pt x="1137609" y="244830"/>
                    <a:pt x="1124881" y="257558"/>
                    <a:pt x="1109180" y="257558"/>
                  </a:cubicBezTo>
                  <a:lnTo>
                    <a:pt x="28429" y="257558"/>
                  </a:lnTo>
                  <a:cubicBezTo>
                    <a:pt x="12728" y="257558"/>
                    <a:pt x="0" y="244830"/>
                    <a:pt x="0" y="229129"/>
                  </a:cubicBezTo>
                  <a:lnTo>
                    <a:pt x="0" y="28429"/>
                  </a:lnTo>
                  <a:cubicBezTo>
                    <a:pt x="0" y="12728"/>
                    <a:pt x="12728" y="0"/>
                    <a:pt x="28429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32648" y="3612942"/>
            <a:ext cx="542828" cy="271414"/>
            <a:chOff x="0" y="0"/>
            <a:chExt cx="812800" cy="406400"/>
          </a:xfrm>
        </p:grpSpPr>
        <p:sp>
          <p:nvSpPr>
            <p:cNvPr id="15" name="Freeform 15"/>
            <p:cNvSpPr/>
            <p:nvPr/>
          </p:nvSpPr>
          <p:spPr>
            <a:xfrm>
              <a:off x="79487" y="0"/>
              <a:ext cx="687825" cy="406400"/>
            </a:xfrm>
            <a:custGeom>
              <a:avLst/>
              <a:gdLst/>
              <a:ahLst/>
              <a:cxnLst/>
              <a:rect l="l" t="t" r="r" b="b"/>
              <a:pathLst>
                <a:path w="687825" h="406400">
                  <a:moveTo>
                    <a:pt x="64197" y="0"/>
                  </a:moveTo>
                  <a:lnTo>
                    <a:pt x="386429" y="0"/>
                  </a:lnTo>
                  <a:cubicBezTo>
                    <a:pt x="478428" y="0"/>
                    <a:pt x="566660" y="36547"/>
                    <a:pt x="631713" y="101600"/>
                  </a:cubicBezTo>
                  <a:lnTo>
                    <a:pt x="631713" y="101600"/>
                  </a:lnTo>
                  <a:cubicBezTo>
                    <a:pt x="687825" y="157712"/>
                    <a:pt x="687825" y="248688"/>
                    <a:pt x="631713" y="304800"/>
                  </a:cubicBezTo>
                  <a:lnTo>
                    <a:pt x="631713" y="304800"/>
                  </a:lnTo>
                  <a:cubicBezTo>
                    <a:pt x="566660" y="369853"/>
                    <a:pt x="478428" y="406400"/>
                    <a:pt x="386429" y="406400"/>
                  </a:cubicBezTo>
                  <a:lnTo>
                    <a:pt x="64197" y="406400"/>
                  </a:lnTo>
                  <a:cubicBezTo>
                    <a:pt x="40125" y="406400"/>
                    <a:pt x="18424" y="391899"/>
                    <a:pt x="9212" y="369660"/>
                  </a:cubicBezTo>
                  <a:cubicBezTo>
                    <a:pt x="0" y="347420"/>
                    <a:pt x="5092" y="321821"/>
                    <a:pt x="22113" y="304800"/>
                  </a:cubicBezTo>
                  <a:lnTo>
                    <a:pt x="22113" y="304800"/>
                  </a:lnTo>
                  <a:cubicBezTo>
                    <a:pt x="78225" y="248688"/>
                    <a:pt x="78225" y="157712"/>
                    <a:pt x="22113" y="101600"/>
                  </a:cubicBezTo>
                  <a:lnTo>
                    <a:pt x="22113" y="101600"/>
                  </a:lnTo>
                  <a:cubicBezTo>
                    <a:pt x="5092" y="84579"/>
                    <a:pt x="0" y="58980"/>
                    <a:pt x="9212" y="36740"/>
                  </a:cubicBezTo>
                  <a:cubicBezTo>
                    <a:pt x="18424" y="14501"/>
                    <a:pt x="40125" y="0"/>
                    <a:pt x="64197" y="0"/>
                  </a:cubicBezTo>
                  <a:close/>
                </a:path>
              </a:pathLst>
            </a:custGeom>
            <a:solidFill>
              <a:srgbClr val="FF6B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7800" y="-28575"/>
              <a:ext cx="5588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653172" y="4661192"/>
            <a:ext cx="6263481" cy="1418069"/>
            <a:chOff x="0" y="0"/>
            <a:chExt cx="1137609" cy="25755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37609" cy="257558"/>
            </a:xfrm>
            <a:custGeom>
              <a:avLst/>
              <a:gdLst/>
              <a:ahLst/>
              <a:cxnLst/>
              <a:rect l="l" t="t" r="r" b="b"/>
              <a:pathLst>
                <a:path w="1137609" h="257558">
                  <a:moveTo>
                    <a:pt x="28429" y="0"/>
                  </a:moveTo>
                  <a:lnTo>
                    <a:pt x="1109180" y="0"/>
                  </a:lnTo>
                  <a:cubicBezTo>
                    <a:pt x="1116720" y="0"/>
                    <a:pt x="1123951" y="2995"/>
                    <a:pt x="1129283" y="8327"/>
                  </a:cubicBezTo>
                  <a:cubicBezTo>
                    <a:pt x="1134614" y="13658"/>
                    <a:pt x="1137609" y="20889"/>
                    <a:pt x="1137609" y="28429"/>
                  </a:cubicBezTo>
                  <a:lnTo>
                    <a:pt x="1137609" y="229129"/>
                  </a:lnTo>
                  <a:cubicBezTo>
                    <a:pt x="1137609" y="244830"/>
                    <a:pt x="1124881" y="257558"/>
                    <a:pt x="1109180" y="257558"/>
                  </a:cubicBezTo>
                  <a:lnTo>
                    <a:pt x="28429" y="257558"/>
                  </a:lnTo>
                  <a:cubicBezTo>
                    <a:pt x="12728" y="257558"/>
                    <a:pt x="0" y="244830"/>
                    <a:pt x="0" y="229129"/>
                  </a:cubicBezTo>
                  <a:lnTo>
                    <a:pt x="0" y="28429"/>
                  </a:lnTo>
                  <a:cubicBezTo>
                    <a:pt x="0" y="12728"/>
                    <a:pt x="12728" y="0"/>
                    <a:pt x="28429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431921" y="5202461"/>
            <a:ext cx="542828" cy="271414"/>
            <a:chOff x="0" y="0"/>
            <a:chExt cx="812800" cy="406400"/>
          </a:xfrm>
        </p:grpSpPr>
        <p:sp>
          <p:nvSpPr>
            <p:cNvPr id="20" name="Freeform 20"/>
            <p:cNvSpPr/>
            <p:nvPr/>
          </p:nvSpPr>
          <p:spPr>
            <a:xfrm>
              <a:off x="79487" y="0"/>
              <a:ext cx="687825" cy="406400"/>
            </a:xfrm>
            <a:custGeom>
              <a:avLst/>
              <a:gdLst/>
              <a:ahLst/>
              <a:cxnLst/>
              <a:rect l="l" t="t" r="r" b="b"/>
              <a:pathLst>
                <a:path w="687825" h="406400">
                  <a:moveTo>
                    <a:pt x="64197" y="0"/>
                  </a:moveTo>
                  <a:lnTo>
                    <a:pt x="386429" y="0"/>
                  </a:lnTo>
                  <a:cubicBezTo>
                    <a:pt x="478428" y="0"/>
                    <a:pt x="566660" y="36547"/>
                    <a:pt x="631713" y="101600"/>
                  </a:cubicBezTo>
                  <a:lnTo>
                    <a:pt x="631713" y="101600"/>
                  </a:lnTo>
                  <a:cubicBezTo>
                    <a:pt x="687825" y="157712"/>
                    <a:pt x="687825" y="248688"/>
                    <a:pt x="631713" y="304800"/>
                  </a:cubicBezTo>
                  <a:lnTo>
                    <a:pt x="631713" y="304800"/>
                  </a:lnTo>
                  <a:cubicBezTo>
                    <a:pt x="566660" y="369853"/>
                    <a:pt x="478428" y="406400"/>
                    <a:pt x="386429" y="406400"/>
                  </a:cubicBezTo>
                  <a:lnTo>
                    <a:pt x="64197" y="406400"/>
                  </a:lnTo>
                  <a:cubicBezTo>
                    <a:pt x="40125" y="406400"/>
                    <a:pt x="18424" y="391899"/>
                    <a:pt x="9212" y="369660"/>
                  </a:cubicBezTo>
                  <a:cubicBezTo>
                    <a:pt x="0" y="347420"/>
                    <a:pt x="5092" y="321821"/>
                    <a:pt x="22113" y="304800"/>
                  </a:cubicBezTo>
                  <a:lnTo>
                    <a:pt x="22113" y="304800"/>
                  </a:lnTo>
                  <a:cubicBezTo>
                    <a:pt x="78225" y="248688"/>
                    <a:pt x="78225" y="157712"/>
                    <a:pt x="22113" y="101600"/>
                  </a:cubicBezTo>
                  <a:lnTo>
                    <a:pt x="22113" y="101600"/>
                  </a:lnTo>
                  <a:cubicBezTo>
                    <a:pt x="5092" y="84579"/>
                    <a:pt x="0" y="58980"/>
                    <a:pt x="9212" y="36740"/>
                  </a:cubicBezTo>
                  <a:cubicBezTo>
                    <a:pt x="18424" y="14501"/>
                    <a:pt x="40125" y="0"/>
                    <a:pt x="64197" y="0"/>
                  </a:cubicBezTo>
                  <a:close/>
                </a:path>
              </a:pathLst>
            </a:custGeom>
            <a:solidFill>
              <a:srgbClr val="FF6B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7800" y="-28575"/>
              <a:ext cx="5588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652445" y="6250712"/>
            <a:ext cx="6263481" cy="1418069"/>
            <a:chOff x="0" y="0"/>
            <a:chExt cx="1137609" cy="25755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37609" cy="257558"/>
            </a:xfrm>
            <a:custGeom>
              <a:avLst/>
              <a:gdLst/>
              <a:ahLst/>
              <a:cxnLst/>
              <a:rect l="l" t="t" r="r" b="b"/>
              <a:pathLst>
                <a:path w="1137609" h="257558">
                  <a:moveTo>
                    <a:pt x="28429" y="0"/>
                  </a:moveTo>
                  <a:lnTo>
                    <a:pt x="1109180" y="0"/>
                  </a:lnTo>
                  <a:cubicBezTo>
                    <a:pt x="1116720" y="0"/>
                    <a:pt x="1123951" y="2995"/>
                    <a:pt x="1129283" y="8327"/>
                  </a:cubicBezTo>
                  <a:cubicBezTo>
                    <a:pt x="1134614" y="13658"/>
                    <a:pt x="1137609" y="20889"/>
                    <a:pt x="1137609" y="28429"/>
                  </a:cubicBezTo>
                  <a:lnTo>
                    <a:pt x="1137609" y="229129"/>
                  </a:lnTo>
                  <a:cubicBezTo>
                    <a:pt x="1137609" y="244830"/>
                    <a:pt x="1124881" y="257558"/>
                    <a:pt x="1109180" y="257558"/>
                  </a:cubicBezTo>
                  <a:lnTo>
                    <a:pt x="28429" y="257558"/>
                  </a:lnTo>
                  <a:cubicBezTo>
                    <a:pt x="12728" y="257558"/>
                    <a:pt x="0" y="244830"/>
                    <a:pt x="0" y="229129"/>
                  </a:cubicBezTo>
                  <a:lnTo>
                    <a:pt x="0" y="28429"/>
                  </a:lnTo>
                  <a:cubicBezTo>
                    <a:pt x="0" y="12728"/>
                    <a:pt x="12728" y="0"/>
                    <a:pt x="28429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31195" y="6791981"/>
            <a:ext cx="542828" cy="271414"/>
            <a:chOff x="0" y="0"/>
            <a:chExt cx="812800" cy="406400"/>
          </a:xfrm>
        </p:grpSpPr>
        <p:sp>
          <p:nvSpPr>
            <p:cNvPr id="25" name="Freeform 25"/>
            <p:cNvSpPr/>
            <p:nvPr/>
          </p:nvSpPr>
          <p:spPr>
            <a:xfrm>
              <a:off x="79487" y="0"/>
              <a:ext cx="687825" cy="406400"/>
            </a:xfrm>
            <a:custGeom>
              <a:avLst/>
              <a:gdLst/>
              <a:ahLst/>
              <a:cxnLst/>
              <a:rect l="l" t="t" r="r" b="b"/>
              <a:pathLst>
                <a:path w="687825" h="406400">
                  <a:moveTo>
                    <a:pt x="64197" y="0"/>
                  </a:moveTo>
                  <a:lnTo>
                    <a:pt x="386429" y="0"/>
                  </a:lnTo>
                  <a:cubicBezTo>
                    <a:pt x="478428" y="0"/>
                    <a:pt x="566660" y="36547"/>
                    <a:pt x="631713" y="101600"/>
                  </a:cubicBezTo>
                  <a:lnTo>
                    <a:pt x="631713" y="101600"/>
                  </a:lnTo>
                  <a:cubicBezTo>
                    <a:pt x="687825" y="157712"/>
                    <a:pt x="687825" y="248688"/>
                    <a:pt x="631713" y="304800"/>
                  </a:cubicBezTo>
                  <a:lnTo>
                    <a:pt x="631713" y="304800"/>
                  </a:lnTo>
                  <a:cubicBezTo>
                    <a:pt x="566660" y="369853"/>
                    <a:pt x="478428" y="406400"/>
                    <a:pt x="386429" y="406400"/>
                  </a:cubicBezTo>
                  <a:lnTo>
                    <a:pt x="64197" y="406400"/>
                  </a:lnTo>
                  <a:cubicBezTo>
                    <a:pt x="40125" y="406400"/>
                    <a:pt x="18424" y="391899"/>
                    <a:pt x="9212" y="369660"/>
                  </a:cubicBezTo>
                  <a:cubicBezTo>
                    <a:pt x="0" y="347420"/>
                    <a:pt x="5092" y="321821"/>
                    <a:pt x="22113" y="304800"/>
                  </a:cubicBezTo>
                  <a:lnTo>
                    <a:pt x="22113" y="304800"/>
                  </a:lnTo>
                  <a:cubicBezTo>
                    <a:pt x="78225" y="248688"/>
                    <a:pt x="78225" y="157712"/>
                    <a:pt x="22113" y="101600"/>
                  </a:cubicBezTo>
                  <a:lnTo>
                    <a:pt x="22113" y="101600"/>
                  </a:lnTo>
                  <a:cubicBezTo>
                    <a:pt x="5092" y="84579"/>
                    <a:pt x="0" y="58980"/>
                    <a:pt x="9212" y="36740"/>
                  </a:cubicBezTo>
                  <a:cubicBezTo>
                    <a:pt x="18424" y="14501"/>
                    <a:pt x="40125" y="0"/>
                    <a:pt x="64197" y="0"/>
                  </a:cubicBezTo>
                  <a:close/>
                </a:path>
              </a:pathLst>
            </a:custGeom>
            <a:solidFill>
              <a:srgbClr val="FF6B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7800" y="-28575"/>
              <a:ext cx="5588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652445" y="8002156"/>
            <a:ext cx="6263481" cy="1418069"/>
            <a:chOff x="0" y="0"/>
            <a:chExt cx="1137609" cy="25755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37609" cy="257558"/>
            </a:xfrm>
            <a:custGeom>
              <a:avLst/>
              <a:gdLst/>
              <a:ahLst/>
              <a:cxnLst/>
              <a:rect l="l" t="t" r="r" b="b"/>
              <a:pathLst>
                <a:path w="1137609" h="257558">
                  <a:moveTo>
                    <a:pt x="28429" y="0"/>
                  </a:moveTo>
                  <a:lnTo>
                    <a:pt x="1109180" y="0"/>
                  </a:lnTo>
                  <a:cubicBezTo>
                    <a:pt x="1116720" y="0"/>
                    <a:pt x="1123951" y="2995"/>
                    <a:pt x="1129283" y="8327"/>
                  </a:cubicBezTo>
                  <a:cubicBezTo>
                    <a:pt x="1134614" y="13658"/>
                    <a:pt x="1137609" y="20889"/>
                    <a:pt x="1137609" y="28429"/>
                  </a:cubicBezTo>
                  <a:lnTo>
                    <a:pt x="1137609" y="229129"/>
                  </a:lnTo>
                  <a:cubicBezTo>
                    <a:pt x="1137609" y="244830"/>
                    <a:pt x="1124881" y="257558"/>
                    <a:pt x="1109180" y="257558"/>
                  </a:cubicBezTo>
                  <a:lnTo>
                    <a:pt x="28429" y="257558"/>
                  </a:lnTo>
                  <a:cubicBezTo>
                    <a:pt x="12728" y="257558"/>
                    <a:pt x="0" y="244830"/>
                    <a:pt x="0" y="229129"/>
                  </a:cubicBezTo>
                  <a:lnTo>
                    <a:pt x="0" y="28429"/>
                  </a:lnTo>
                  <a:cubicBezTo>
                    <a:pt x="0" y="12728"/>
                    <a:pt x="12728" y="0"/>
                    <a:pt x="28429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431195" y="8543425"/>
            <a:ext cx="542828" cy="271414"/>
            <a:chOff x="0" y="0"/>
            <a:chExt cx="812800" cy="406400"/>
          </a:xfrm>
        </p:grpSpPr>
        <p:sp>
          <p:nvSpPr>
            <p:cNvPr id="30" name="Freeform 30"/>
            <p:cNvSpPr/>
            <p:nvPr/>
          </p:nvSpPr>
          <p:spPr>
            <a:xfrm>
              <a:off x="79487" y="0"/>
              <a:ext cx="687825" cy="406400"/>
            </a:xfrm>
            <a:custGeom>
              <a:avLst/>
              <a:gdLst/>
              <a:ahLst/>
              <a:cxnLst/>
              <a:rect l="l" t="t" r="r" b="b"/>
              <a:pathLst>
                <a:path w="687825" h="406400">
                  <a:moveTo>
                    <a:pt x="64197" y="0"/>
                  </a:moveTo>
                  <a:lnTo>
                    <a:pt x="386429" y="0"/>
                  </a:lnTo>
                  <a:cubicBezTo>
                    <a:pt x="478428" y="0"/>
                    <a:pt x="566660" y="36547"/>
                    <a:pt x="631713" y="101600"/>
                  </a:cubicBezTo>
                  <a:lnTo>
                    <a:pt x="631713" y="101600"/>
                  </a:lnTo>
                  <a:cubicBezTo>
                    <a:pt x="687825" y="157712"/>
                    <a:pt x="687825" y="248688"/>
                    <a:pt x="631713" y="304800"/>
                  </a:cubicBezTo>
                  <a:lnTo>
                    <a:pt x="631713" y="304800"/>
                  </a:lnTo>
                  <a:cubicBezTo>
                    <a:pt x="566660" y="369853"/>
                    <a:pt x="478428" y="406400"/>
                    <a:pt x="386429" y="406400"/>
                  </a:cubicBezTo>
                  <a:lnTo>
                    <a:pt x="64197" y="406400"/>
                  </a:lnTo>
                  <a:cubicBezTo>
                    <a:pt x="40125" y="406400"/>
                    <a:pt x="18424" y="391899"/>
                    <a:pt x="9212" y="369660"/>
                  </a:cubicBezTo>
                  <a:cubicBezTo>
                    <a:pt x="0" y="347420"/>
                    <a:pt x="5092" y="321821"/>
                    <a:pt x="22113" y="304800"/>
                  </a:cubicBezTo>
                  <a:lnTo>
                    <a:pt x="22113" y="304800"/>
                  </a:lnTo>
                  <a:cubicBezTo>
                    <a:pt x="78225" y="248688"/>
                    <a:pt x="78225" y="157712"/>
                    <a:pt x="22113" y="101600"/>
                  </a:cubicBezTo>
                  <a:lnTo>
                    <a:pt x="22113" y="101600"/>
                  </a:lnTo>
                  <a:cubicBezTo>
                    <a:pt x="5092" y="84579"/>
                    <a:pt x="0" y="58980"/>
                    <a:pt x="9212" y="36740"/>
                  </a:cubicBezTo>
                  <a:cubicBezTo>
                    <a:pt x="18424" y="14501"/>
                    <a:pt x="40125" y="0"/>
                    <a:pt x="64197" y="0"/>
                  </a:cubicBezTo>
                  <a:close/>
                </a:path>
              </a:pathLst>
            </a:custGeom>
            <a:solidFill>
              <a:srgbClr val="FF6B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7800" y="-28575"/>
              <a:ext cx="5588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0790300" y="1627935"/>
            <a:ext cx="5987773" cy="1053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sz="203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Todas las comunicaciones deben ser HTTPS, Garantizar autenticación de usuarios, cifrado de datos sensibles y control de acceso por roles.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08375" y="1652613"/>
            <a:ext cx="2073745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RNF-1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166559" y="1944818"/>
            <a:ext cx="277873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Seguridad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2575" y="65849"/>
            <a:ext cx="11809291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Requerimientos No 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Funcionales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790300" y="3238648"/>
            <a:ext cx="5987773" cy="1053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sz="203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El sistema debe estar disponible al menos el 99.5% del tiempo. Revisar con health-check y mandar alertas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607649" y="3171973"/>
            <a:ext cx="2202332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RNF-2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166263" y="3534337"/>
            <a:ext cx="277873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Disponibilidad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791026" y="4828167"/>
            <a:ext cx="5987773" cy="1053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sz="203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Garantizar un buen rendimiento del sistema y sus funciones, procesamiento y generación &lt; 15 segundos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08375" y="4798514"/>
            <a:ext cx="2201606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RNF-3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165967" y="5123856"/>
            <a:ext cx="277873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Rendimiento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790300" y="6417686"/>
            <a:ext cx="5987773" cy="1053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sz="203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Arquitectura permite añadir sucursales y proveedores sin cambios estructurales en el modelo de datos.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607649" y="6390015"/>
            <a:ext cx="2200880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RNF-4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165671" y="6713375"/>
            <a:ext cx="277873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Escalabilidad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790300" y="8287906"/>
            <a:ext cx="5987773" cy="700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sz="2034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La interfaz debe ser intuitiva y permitir realizar operaciones principales en menos de 5 pasos.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607649" y="8180974"/>
            <a:ext cx="2200880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RNF-5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165671" y="8464819"/>
            <a:ext cx="277873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Usabilidad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0" y="-214312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t="-30503" b="-30503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4" name="Group 4"/>
          <p:cNvGrpSpPr/>
          <p:nvPr/>
        </p:nvGrpSpPr>
        <p:grpSpPr>
          <a:xfrm>
            <a:off x="2583914" y="1479852"/>
            <a:ext cx="1258584" cy="1258584"/>
            <a:chOff x="0" y="0"/>
            <a:chExt cx="244674" cy="24467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44674" cy="292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583914" y="4268951"/>
            <a:ext cx="1258584" cy="1258584"/>
            <a:chOff x="0" y="0"/>
            <a:chExt cx="244674" cy="24467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44674" cy="292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583914" y="7464946"/>
            <a:ext cx="1258584" cy="1258584"/>
            <a:chOff x="0" y="0"/>
            <a:chExt cx="244674" cy="24467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44674" cy="292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2821162" y="1561786"/>
            <a:ext cx="784089" cy="1094715"/>
          </a:xfrm>
          <a:custGeom>
            <a:avLst/>
            <a:gdLst/>
            <a:ahLst/>
            <a:cxnLst/>
            <a:rect l="l" t="t" r="r" b="b"/>
            <a:pathLst>
              <a:path w="784089" h="1094715">
                <a:moveTo>
                  <a:pt x="0" y="0"/>
                </a:moveTo>
                <a:lnTo>
                  <a:pt x="784089" y="0"/>
                </a:lnTo>
                <a:lnTo>
                  <a:pt x="784089" y="1094715"/>
                </a:lnTo>
                <a:lnTo>
                  <a:pt x="0" y="10947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4" name="Freeform 14"/>
          <p:cNvSpPr/>
          <p:nvPr/>
        </p:nvSpPr>
        <p:spPr>
          <a:xfrm>
            <a:off x="2821162" y="4432820"/>
            <a:ext cx="832759" cy="879448"/>
          </a:xfrm>
          <a:custGeom>
            <a:avLst/>
            <a:gdLst/>
            <a:ahLst/>
            <a:cxnLst/>
            <a:rect l="l" t="t" r="r" b="b"/>
            <a:pathLst>
              <a:path w="832759" h="879448">
                <a:moveTo>
                  <a:pt x="0" y="0"/>
                </a:moveTo>
                <a:lnTo>
                  <a:pt x="832758" y="0"/>
                </a:lnTo>
                <a:lnTo>
                  <a:pt x="832758" y="879448"/>
                </a:lnTo>
                <a:lnTo>
                  <a:pt x="0" y="8794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Freeform 15"/>
          <p:cNvSpPr/>
          <p:nvPr/>
        </p:nvSpPr>
        <p:spPr>
          <a:xfrm>
            <a:off x="2821162" y="7628815"/>
            <a:ext cx="857467" cy="857467"/>
          </a:xfrm>
          <a:custGeom>
            <a:avLst/>
            <a:gdLst/>
            <a:ahLst/>
            <a:cxnLst/>
            <a:rect l="l" t="t" r="r" b="b"/>
            <a:pathLst>
              <a:path w="857467" h="857467">
                <a:moveTo>
                  <a:pt x="0" y="0"/>
                </a:moveTo>
                <a:lnTo>
                  <a:pt x="857467" y="0"/>
                </a:lnTo>
                <a:lnTo>
                  <a:pt x="857467" y="857467"/>
                </a:lnTo>
                <a:lnTo>
                  <a:pt x="0" y="8574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TextBox 16"/>
          <p:cNvSpPr txBox="1"/>
          <p:nvPr/>
        </p:nvSpPr>
        <p:spPr>
          <a:xfrm>
            <a:off x="279637" y="124616"/>
            <a:ext cx="7398321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Algunas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épicas...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48719" y="1403652"/>
            <a:ext cx="11255366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Épica 1: Ranking y Análisis de Ventas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448719" y="2166294"/>
            <a:ext cx="9140579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Optimizar decisiones de compra con análisis detallado de rendimiento y rentabilidad de productos por sucursal.</a:t>
            </a:r>
          </a:p>
        </p:txBody>
      </p:sp>
      <p:sp>
        <p:nvSpPr>
          <p:cNvPr id="19" name="Freeform 19"/>
          <p:cNvSpPr/>
          <p:nvPr/>
        </p:nvSpPr>
        <p:spPr>
          <a:xfrm>
            <a:off x="16482152" y="8708446"/>
            <a:ext cx="1370621" cy="1370621"/>
          </a:xfrm>
          <a:custGeom>
            <a:avLst/>
            <a:gdLst/>
            <a:ahLst/>
            <a:cxnLst/>
            <a:rect l="l" t="t" r="r" b="b"/>
            <a:pathLst>
              <a:path w="1370621" h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0" name="TextBox 20"/>
          <p:cNvSpPr txBox="1"/>
          <p:nvPr/>
        </p:nvSpPr>
        <p:spPr>
          <a:xfrm>
            <a:off x="4448719" y="4356620"/>
            <a:ext cx="11712566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Épica 2: Gestión de Proveedores y Cotizaciones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48719" y="5215447"/>
            <a:ext cx="9340604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Automatizar y centralizar el proceso de cotización con múltiples proveedores para reducir tiempo y mejorar comparación de precios.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348707" y="7552615"/>
            <a:ext cx="11255366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Épica 3: Inteligencia Artificial para Decisiones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48719" y="8264601"/>
            <a:ext cx="11155354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Sistema da recomendaciones inteligentes sobre los productos en el ranking y sobre los productos ofrecidos por proveedores, para optimizar el stock y mejorar mis márgenes.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14312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aphicFrame>
        <p:nvGraphicFramePr>
          <p:cNvPr id="4" name="Object 4"/>
          <p:cNvGraphicFramePr/>
          <p:nvPr>
            <p:extLst>
              <p:ext uri="{D42A27DB-BD31-4B8C-83A1-F6EECF244321}">
                <p14:modId xmlns:p14="http://schemas.microsoft.com/office/powerpoint/2010/main" val="3065774896"/>
              </p:ext>
            </p:extLst>
          </p:nvPr>
        </p:nvGraphicFramePr>
        <p:xfrm>
          <a:off x="-1369087" y="-658848"/>
          <a:ext cx="19657087" cy="1001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9469100" imgH="9474200" progId="Excel.Sheet.12">
                  <p:embed/>
                </p:oleObj>
              </mc:Choice>
              <mc:Fallback>
                <p:oleObj name="Worksheet" r:id="rId5" imgW="19469100" imgH="9474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-1369087" y="-658848"/>
                        <a:ext cx="19657087" cy="10019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5"/>
          <p:cNvSpPr/>
          <p:nvPr/>
        </p:nvSpPr>
        <p:spPr>
          <a:xfrm>
            <a:off x="16882692" y="8916379"/>
            <a:ext cx="1370621" cy="1370621"/>
          </a:xfrm>
          <a:custGeom>
            <a:avLst/>
            <a:gdLst/>
            <a:ahLst/>
            <a:cxnLst/>
            <a:rect l="l" t="t" r="r" b="b"/>
            <a:pathLst>
              <a:path w="1370621" h="1370621">
                <a:moveTo>
                  <a:pt x="0" y="0"/>
                </a:moveTo>
                <a:lnTo>
                  <a:pt x="1370620" y="0"/>
                </a:lnTo>
                <a:lnTo>
                  <a:pt x="1370620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TextBox 6"/>
          <p:cNvSpPr txBox="1"/>
          <p:nvPr/>
        </p:nvSpPr>
        <p:spPr>
          <a:xfrm>
            <a:off x="479849" y="124616"/>
            <a:ext cx="7253939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Historias de 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Usuario</a:t>
            </a:r>
            <a:r>
              <a:rPr lang="en-US" sz="5592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0" y="-45626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t="-30503" b="-3050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16482152" y="8708446"/>
            <a:ext cx="1370621" cy="1370621"/>
          </a:xfrm>
          <a:custGeom>
            <a:avLst/>
            <a:gdLst/>
            <a:ahLst/>
            <a:cxnLst/>
            <a:rect l="l" t="t" r="r" b="b"/>
            <a:pathLst>
              <a:path w="1370621" h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5" name="Group 5"/>
          <p:cNvGrpSpPr/>
          <p:nvPr/>
        </p:nvGrpSpPr>
        <p:grpSpPr>
          <a:xfrm>
            <a:off x="3886974" y="3886322"/>
            <a:ext cx="2832787" cy="1691343"/>
            <a:chOff x="0" y="0"/>
            <a:chExt cx="3777049" cy="2255124"/>
          </a:xfrm>
        </p:grpSpPr>
        <p:sp>
          <p:nvSpPr>
            <p:cNvPr id="6" name="Freeform 6"/>
            <p:cNvSpPr/>
            <p:nvPr/>
          </p:nvSpPr>
          <p:spPr>
            <a:xfrm>
              <a:off x="2731333" y="412954"/>
              <a:ext cx="1045716" cy="639194"/>
            </a:xfrm>
            <a:custGeom>
              <a:avLst/>
              <a:gdLst/>
              <a:ahLst/>
              <a:cxnLst/>
              <a:rect l="l" t="t" r="r" b="b"/>
              <a:pathLst>
                <a:path w="1045716" h="639194">
                  <a:moveTo>
                    <a:pt x="0" y="0"/>
                  </a:moveTo>
                  <a:lnTo>
                    <a:pt x="1045716" y="0"/>
                  </a:lnTo>
                  <a:lnTo>
                    <a:pt x="1045716" y="639193"/>
                  </a:lnTo>
                  <a:lnTo>
                    <a:pt x="0" y="639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1052147"/>
              <a:ext cx="1815814" cy="1202977"/>
            </a:xfrm>
            <a:custGeom>
              <a:avLst/>
              <a:gdLst/>
              <a:ahLst/>
              <a:cxnLst/>
              <a:rect l="l" t="t" r="r" b="b"/>
              <a:pathLst>
                <a:path w="1815814" h="1202977">
                  <a:moveTo>
                    <a:pt x="0" y="0"/>
                  </a:moveTo>
                  <a:lnTo>
                    <a:pt x="1815814" y="0"/>
                  </a:lnTo>
                  <a:lnTo>
                    <a:pt x="1815814" y="1202977"/>
                  </a:lnTo>
                  <a:lnTo>
                    <a:pt x="0" y="1202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Freeform 8"/>
            <p:cNvSpPr/>
            <p:nvPr/>
          </p:nvSpPr>
          <p:spPr>
            <a:xfrm>
              <a:off x="1292670" y="1061926"/>
              <a:ext cx="1577894" cy="1183420"/>
            </a:xfrm>
            <a:custGeom>
              <a:avLst/>
              <a:gdLst/>
              <a:ahLst/>
              <a:cxnLst/>
              <a:rect l="l" t="t" r="r" b="b"/>
              <a:pathLst>
                <a:path w="1577894" h="1183420">
                  <a:moveTo>
                    <a:pt x="0" y="0"/>
                  </a:moveTo>
                  <a:lnTo>
                    <a:pt x="1577894" y="0"/>
                  </a:lnTo>
                  <a:lnTo>
                    <a:pt x="1577894" y="1183420"/>
                  </a:lnTo>
                  <a:lnTo>
                    <a:pt x="0" y="11834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4610" y="-66675"/>
              <a:ext cx="2245926" cy="6282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3"/>
                </a:lnSpc>
                <a:spcBef>
                  <a:spcPct val="0"/>
                </a:spcBef>
              </a:pPr>
              <a:r>
                <a:rPr lang="en-US" sz="2795" b="1">
                  <a:solidFill>
                    <a:srgbClr val="D42E3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FrontEnd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83025" y="3864237"/>
            <a:ext cx="2699212" cy="1973151"/>
            <a:chOff x="0" y="0"/>
            <a:chExt cx="3598950" cy="2630868"/>
          </a:xfrm>
        </p:grpSpPr>
        <p:sp>
          <p:nvSpPr>
            <p:cNvPr id="11" name="Freeform 11"/>
            <p:cNvSpPr/>
            <p:nvPr/>
          </p:nvSpPr>
          <p:spPr>
            <a:xfrm>
              <a:off x="1070368" y="635679"/>
              <a:ext cx="1458213" cy="1466486"/>
            </a:xfrm>
            <a:custGeom>
              <a:avLst/>
              <a:gdLst/>
              <a:ahLst/>
              <a:cxnLst/>
              <a:rect l="l" t="t" r="r" b="b"/>
              <a:pathLst>
                <a:path w="1458213" h="1466486">
                  <a:moveTo>
                    <a:pt x="0" y="0"/>
                  </a:moveTo>
                  <a:lnTo>
                    <a:pt x="1458213" y="0"/>
                  </a:lnTo>
                  <a:lnTo>
                    <a:pt x="1458213" y="1466486"/>
                  </a:lnTo>
                  <a:lnTo>
                    <a:pt x="0" y="1466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83" r="-283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002861" y="1573462"/>
              <a:ext cx="1051441" cy="1057406"/>
            </a:xfrm>
            <a:custGeom>
              <a:avLst/>
              <a:gdLst/>
              <a:ahLst/>
              <a:cxnLst/>
              <a:rect l="l" t="t" r="r" b="b"/>
              <a:pathLst>
                <a:path w="1051441" h="1057406">
                  <a:moveTo>
                    <a:pt x="0" y="0"/>
                  </a:moveTo>
                  <a:lnTo>
                    <a:pt x="1051441" y="0"/>
                  </a:lnTo>
                  <a:lnTo>
                    <a:pt x="1051441" y="1057406"/>
                  </a:lnTo>
                  <a:lnTo>
                    <a:pt x="0" y="1057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83" r="-283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3598950" cy="6282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3"/>
                </a:lnSpc>
                <a:spcBef>
                  <a:spcPct val="0"/>
                </a:spcBef>
              </a:pPr>
              <a:r>
                <a:rPr lang="en-US" sz="2795" b="1">
                  <a:solidFill>
                    <a:srgbClr val="D42E3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Backend + API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559929" y="4299667"/>
            <a:ext cx="1975003" cy="1018206"/>
            <a:chOff x="0" y="0"/>
            <a:chExt cx="2633338" cy="1357607"/>
          </a:xfrm>
        </p:grpSpPr>
        <p:sp>
          <p:nvSpPr>
            <p:cNvPr id="15" name="Freeform 15"/>
            <p:cNvSpPr/>
            <p:nvPr/>
          </p:nvSpPr>
          <p:spPr>
            <a:xfrm>
              <a:off x="0" y="303375"/>
              <a:ext cx="2633338" cy="1054233"/>
            </a:xfrm>
            <a:custGeom>
              <a:avLst/>
              <a:gdLst/>
              <a:ahLst/>
              <a:cxnLst/>
              <a:rect l="l" t="t" r="r" b="b"/>
              <a:pathLst>
                <a:path w="2633338" h="1054233">
                  <a:moveTo>
                    <a:pt x="0" y="0"/>
                  </a:moveTo>
                  <a:lnTo>
                    <a:pt x="2633338" y="0"/>
                  </a:lnTo>
                  <a:lnTo>
                    <a:pt x="2633338" y="1054232"/>
                  </a:lnTo>
                  <a:lnTo>
                    <a:pt x="0" y="1054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8634" t="-43511" r="-18321" b="-49219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55852" y="-28575"/>
              <a:ext cx="721633" cy="331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34"/>
                </a:lnSpc>
                <a:spcBef>
                  <a:spcPct val="0"/>
                </a:spcBef>
              </a:pPr>
              <a:r>
                <a:rPr lang="en-US" sz="1524" b="1">
                  <a:solidFill>
                    <a:srgbClr val="97989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ORM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5266871" y="5633656"/>
            <a:ext cx="1721620" cy="407465"/>
          </a:xfrm>
          <a:custGeom>
            <a:avLst/>
            <a:gdLst/>
            <a:ahLst/>
            <a:cxnLst/>
            <a:rect l="l" t="t" r="r" b="b"/>
            <a:pathLst>
              <a:path w="1721620" h="407465">
                <a:moveTo>
                  <a:pt x="0" y="0"/>
                </a:moveTo>
                <a:lnTo>
                  <a:pt x="1721621" y="0"/>
                </a:lnTo>
                <a:lnTo>
                  <a:pt x="1721621" y="407465"/>
                </a:lnTo>
                <a:lnTo>
                  <a:pt x="0" y="40746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966" b="-966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8" name="TextBox 18"/>
          <p:cNvSpPr txBox="1"/>
          <p:nvPr/>
        </p:nvSpPr>
        <p:spPr>
          <a:xfrm>
            <a:off x="14888715" y="3848222"/>
            <a:ext cx="2477933" cy="430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4"/>
              </a:lnSpc>
              <a:spcBef>
                <a:spcPct val="0"/>
              </a:spcBef>
            </a:pPr>
            <a:r>
              <a:rPr lang="en-US" sz="2603" b="1">
                <a:solidFill>
                  <a:srgbClr val="D42E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Base de datos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40352" y="3790763"/>
            <a:ext cx="1664440" cy="2036014"/>
            <a:chOff x="0" y="0"/>
            <a:chExt cx="2219253" cy="2714685"/>
          </a:xfrm>
        </p:grpSpPr>
        <p:sp>
          <p:nvSpPr>
            <p:cNvPr id="20" name="Freeform 20"/>
            <p:cNvSpPr/>
            <p:nvPr/>
          </p:nvSpPr>
          <p:spPr>
            <a:xfrm>
              <a:off x="0" y="672972"/>
              <a:ext cx="2219253" cy="2041713"/>
            </a:xfrm>
            <a:custGeom>
              <a:avLst/>
              <a:gdLst/>
              <a:ahLst/>
              <a:cxnLst/>
              <a:rect l="l" t="t" r="r" b="b"/>
              <a:pathLst>
                <a:path w="2219253" h="2041713">
                  <a:moveTo>
                    <a:pt x="0" y="0"/>
                  </a:moveTo>
                  <a:lnTo>
                    <a:pt x="2219253" y="0"/>
                  </a:lnTo>
                  <a:lnTo>
                    <a:pt x="2219253" y="2041713"/>
                  </a:lnTo>
                  <a:lnTo>
                    <a:pt x="0" y="2041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2131" y="-66675"/>
              <a:ext cx="1714992" cy="6282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3"/>
                </a:lnSpc>
                <a:spcBef>
                  <a:spcPct val="0"/>
                </a:spcBef>
              </a:pPr>
              <a:r>
                <a:rPr lang="en-US" sz="2795" b="1">
                  <a:solidFill>
                    <a:srgbClr val="D42E3A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Cliente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800231" y="4850813"/>
            <a:ext cx="585374" cy="292687"/>
            <a:chOff x="0" y="0"/>
            <a:chExt cx="812800" cy="406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398177" y="4744675"/>
            <a:ext cx="585374" cy="292687"/>
            <a:chOff x="0" y="0"/>
            <a:chExt cx="812800" cy="406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4111311" y="4598331"/>
            <a:ext cx="585374" cy="292687"/>
            <a:chOff x="0" y="0"/>
            <a:chExt cx="812800" cy="406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 rot="-10800000">
            <a:off x="14111311" y="5056617"/>
            <a:ext cx="585374" cy="292687"/>
            <a:chOff x="0" y="0"/>
            <a:chExt cx="812800" cy="406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081710" y="4693858"/>
            <a:ext cx="585374" cy="292687"/>
            <a:chOff x="0" y="0"/>
            <a:chExt cx="812800" cy="4064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 rot="-10800000">
            <a:off x="7081710" y="5202961"/>
            <a:ext cx="585374" cy="292687"/>
            <a:chOff x="0" y="0"/>
            <a:chExt cx="812800" cy="406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40" name="Freeform 40"/>
          <p:cNvSpPr/>
          <p:nvPr/>
        </p:nvSpPr>
        <p:spPr>
          <a:xfrm>
            <a:off x="15326817" y="4243363"/>
            <a:ext cx="1601729" cy="1387498"/>
          </a:xfrm>
          <a:custGeom>
            <a:avLst/>
            <a:gdLst/>
            <a:ahLst/>
            <a:cxnLst/>
            <a:rect l="l" t="t" r="r" b="b"/>
            <a:pathLst>
              <a:path w="1601729" h="1387498">
                <a:moveTo>
                  <a:pt x="0" y="0"/>
                </a:moveTo>
                <a:lnTo>
                  <a:pt x="1601729" y="0"/>
                </a:lnTo>
                <a:lnTo>
                  <a:pt x="1601729" y="1387498"/>
                </a:lnTo>
                <a:lnTo>
                  <a:pt x="0" y="138749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1" name="Freeform 41"/>
          <p:cNvSpPr/>
          <p:nvPr/>
        </p:nvSpPr>
        <p:spPr>
          <a:xfrm>
            <a:off x="15575003" y="4394913"/>
            <a:ext cx="1105357" cy="1084398"/>
          </a:xfrm>
          <a:custGeom>
            <a:avLst/>
            <a:gdLst/>
            <a:ahLst/>
            <a:cxnLst/>
            <a:rect l="l" t="t" r="r" b="b"/>
            <a:pathLst>
              <a:path w="1105357" h="1084398">
                <a:moveTo>
                  <a:pt x="0" y="0"/>
                </a:moveTo>
                <a:lnTo>
                  <a:pt x="1105357" y="0"/>
                </a:lnTo>
                <a:lnTo>
                  <a:pt x="1105357" y="1084398"/>
                </a:lnTo>
                <a:lnTo>
                  <a:pt x="0" y="108439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66" b="-966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2" name="Freeform 42"/>
          <p:cNvSpPr/>
          <p:nvPr/>
        </p:nvSpPr>
        <p:spPr>
          <a:xfrm>
            <a:off x="0" y="525714"/>
            <a:ext cx="18265766" cy="9553353"/>
          </a:xfrm>
          <a:custGeom>
            <a:avLst/>
            <a:gdLst/>
            <a:ahLst/>
            <a:cxnLst/>
            <a:rect l="l" t="t" r="r" b="b"/>
            <a:pathLst>
              <a:path w="18265766" h="9553353">
                <a:moveTo>
                  <a:pt x="0" y="0"/>
                </a:moveTo>
                <a:lnTo>
                  <a:pt x="18265766" y="0"/>
                </a:lnTo>
                <a:lnTo>
                  <a:pt x="18265766" y="9553353"/>
                </a:lnTo>
                <a:lnTo>
                  <a:pt x="0" y="955335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2022" r="-180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3" name="Freeform 43"/>
          <p:cNvSpPr/>
          <p:nvPr/>
        </p:nvSpPr>
        <p:spPr>
          <a:xfrm>
            <a:off x="16623798" y="8115337"/>
            <a:ext cx="800865" cy="813061"/>
          </a:xfrm>
          <a:custGeom>
            <a:avLst/>
            <a:gdLst/>
            <a:ahLst/>
            <a:cxnLst/>
            <a:rect l="l" t="t" r="r" b="b"/>
            <a:pathLst>
              <a:path w="800865" h="813061">
                <a:moveTo>
                  <a:pt x="0" y="0"/>
                </a:moveTo>
                <a:lnTo>
                  <a:pt x="800865" y="0"/>
                </a:lnTo>
                <a:lnTo>
                  <a:pt x="800865" y="813061"/>
                </a:lnTo>
                <a:lnTo>
                  <a:pt x="0" y="81306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4" name="TextBox 44"/>
          <p:cNvSpPr txBox="1"/>
          <p:nvPr/>
        </p:nvSpPr>
        <p:spPr>
          <a:xfrm>
            <a:off x="292687" y="-10178"/>
            <a:ext cx="3092918" cy="649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4"/>
              </a:lnSpc>
              <a:spcBef>
                <a:spcPct val="0"/>
              </a:spcBef>
            </a:pPr>
            <a:r>
              <a:rPr lang="en-US" sz="3781" b="1">
                <a:solidFill>
                  <a:srgbClr val="D42E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Arquitectura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14312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16482152" y="8708446"/>
            <a:ext cx="1370621" cy="1370621"/>
          </a:xfrm>
          <a:custGeom>
            <a:avLst/>
            <a:gdLst/>
            <a:ahLst/>
            <a:cxnLst/>
            <a:rect l="l" t="t" r="r" b="b"/>
            <a:pathLst>
              <a:path w="1370621" h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1211189" y="1450828"/>
            <a:ext cx="15865622" cy="8353527"/>
          </a:xfrm>
          <a:custGeom>
            <a:avLst/>
            <a:gdLst/>
            <a:ahLst/>
            <a:cxnLst/>
            <a:rect l="l" t="t" r="r" b="b"/>
            <a:pathLst>
              <a:path w="15865622" h="8353527">
                <a:moveTo>
                  <a:pt x="0" y="0"/>
                </a:moveTo>
                <a:lnTo>
                  <a:pt x="15865622" y="0"/>
                </a:lnTo>
                <a:lnTo>
                  <a:pt x="15865622" y="8353527"/>
                </a:lnTo>
                <a:lnTo>
                  <a:pt x="0" y="83535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60" t="-8099" r="-12447" b="-4158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387350" y="292431"/>
            <a:ext cx="8756650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Metodologia 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Scrum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57175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7449118" y="1290076"/>
            <a:ext cx="2925352" cy="3616450"/>
            <a:chOff x="0" y="0"/>
            <a:chExt cx="3900470" cy="4821934"/>
          </a:xfrm>
        </p:grpSpPr>
        <p:grpSp>
          <p:nvGrpSpPr>
            <p:cNvPr id="4" name="Group 4"/>
            <p:cNvGrpSpPr/>
            <p:nvPr/>
          </p:nvGrpSpPr>
          <p:grpSpPr>
            <a:xfrm>
              <a:off x="362474" y="188402"/>
              <a:ext cx="2937733" cy="2937733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53355" t="-76973" r="-50450" b="-94767"/>
                </a:stretch>
              </a:blipFill>
              <a:ln w="76200" cap="sq">
                <a:solidFill>
                  <a:srgbClr val="FF6B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3153529" y="0"/>
              <a:ext cx="746941" cy="74694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0" y="3486316"/>
              <a:ext cx="3900470" cy="6447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sz="2899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Yovanna Maira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350128"/>
              <a:ext cx="390047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Product Owner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560079" y="5402009"/>
            <a:ext cx="2980442" cy="3616450"/>
            <a:chOff x="0" y="0"/>
            <a:chExt cx="3973923" cy="4821934"/>
          </a:xfrm>
        </p:grpSpPr>
        <p:grpSp>
          <p:nvGrpSpPr>
            <p:cNvPr id="12" name="Group 12"/>
            <p:cNvGrpSpPr/>
            <p:nvPr/>
          </p:nvGrpSpPr>
          <p:grpSpPr>
            <a:xfrm>
              <a:off x="481368" y="188402"/>
              <a:ext cx="2937733" cy="2937733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 w="762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3226982" y="0"/>
              <a:ext cx="746941" cy="746941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13223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0" y="3486316"/>
              <a:ext cx="3900470" cy="6447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sz="2899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Jaziel Aguilera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4350128"/>
              <a:ext cx="390047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Scrum Team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747478" y="5380681"/>
            <a:ext cx="2925226" cy="4173456"/>
            <a:chOff x="0" y="0"/>
            <a:chExt cx="3900301" cy="5564607"/>
          </a:xfrm>
        </p:grpSpPr>
        <p:grpSp>
          <p:nvGrpSpPr>
            <p:cNvPr id="20" name="Group 20"/>
            <p:cNvGrpSpPr/>
            <p:nvPr/>
          </p:nvGrpSpPr>
          <p:grpSpPr>
            <a:xfrm>
              <a:off x="362458" y="239516"/>
              <a:ext cx="2937606" cy="2937733"/>
              <a:chOff x="0" y="0"/>
              <a:chExt cx="812765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76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765" h="812800">
                    <a:moveTo>
                      <a:pt x="406382" y="0"/>
                    </a:moveTo>
                    <a:cubicBezTo>
                      <a:pt x="181944" y="0"/>
                      <a:pt x="0" y="181951"/>
                      <a:pt x="0" y="406400"/>
                    </a:cubicBezTo>
                    <a:cubicBezTo>
                      <a:pt x="0" y="630849"/>
                      <a:pt x="181944" y="812800"/>
                      <a:pt x="406382" y="812800"/>
                    </a:cubicBezTo>
                    <a:cubicBezTo>
                      <a:pt x="630821" y="812800"/>
                      <a:pt x="812765" y="630849"/>
                      <a:pt x="812765" y="406400"/>
                    </a:cubicBezTo>
                    <a:cubicBezTo>
                      <a:pt x="812765" y="181951"/>
                      <a:pt x="630821" y="0"/>
                      <a:pt x="406382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t="-26919" b="-26919"/>
                </a:stretch>
              </a:blipFill>
              <a:ln w="762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153393" y="0"/>
              <a:ext cx="746908" cy="746941"/>
              <a:chOff x="0" y="0"/>
              <a:chExt cx="812765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76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765" h="812800">
                    <a:moveTo>
                      <a:pt x="406382" y="0"/>
                    </a:moveTo>
                    <a:cubicBezTo>
                      <a:pt x="181944" y="0"/>
                      <a:pt x="0" y="181951"/>
                      <a:pt x="0" y="406400"/>
                    </a:cubicBezTo>
                    <a:cubicBezTo>
                      <a:pt x="0" y="630849"/>
                      <a:pt x="181944" y="812800"/>
                      <a:pt x="406382" y="812800"/>
                    </a:cubicBezTo>
                    <a:cubicBezTo>
                      <a:pt x="630821" y="812800"/>
                      <a:pt x="812765" y="630849"/>
                      <a:pt x="812765" y="406400"/>
                    </a:cubicBezTo>
                    <a:cubicBezTo>
                      <a:pt x="812765" y="181951"/>
                      <a:pt x="630821" y="0"/>
                      <a:pt x="406382" y="0"/>
                    </a:cubicBezTo>
                    <a:close/>
                  </a:path>
                </a:pathLst>
              </a:custGeom>
              <a:solidFill>
                <a:srgbClr val="F13223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6197" y="38100"/>
                <a:ext cx="660371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0" y="3539199"/>
              <a:ext cx="3900301" cy="13305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sz="2899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Sebastián Morales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5092802"/>
              <a:ext cx="3900301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Scrum Team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53779" y="5372884"/>
            <a:ext cx="2925352" cy="3674699"/>
            <a:chOff x="0" y="0"/>
            <a:chExt cx="3900470" cy="4899599"/>
          </a:xfrm>
        </p:grpSpPr>
        <p:grpSp>
          <p:nvGrpSpPr>
            <p:cNvPr id="28" name="Group 28"/>
            <p:cNvGrpSpPr/>
            <p:nvPr/>
          </p:nvGrpSpPr>
          <p:grpSpPr>
            <a:xfrm>
              <a:off x="481368" y="260307"/>
              <a:ext cx="2937733" cy="2937733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-5923" r="-5923"/>
                </a:stretch>
              </a:blipFill>
              <a:ln w="76200" cap="sq">
                <a:solidFill>
                  <a:srgbClr val="FF6B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3093595" y="0"/>
              <a:ext cx="746941" cy="746941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0" y="3559991"/>
              <a:ext cx="3900470" cy="6447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sz="2899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Thomas Rojas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4427793"/>
              <a:ext cx="390047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Scrum Master</a:t>
              </a:r>
            </a:p>
          </p:txBody>
        </p:sp>
      </p:grpSp>
      <p:sp>
        <p:nvSpPr>
          <p:cNvPr id="35" name="Freeform 35"/>
          <p:cNvSpPr/>
          <p:nvPr/>
        </p:nvSpPr>
        <p:spPr>
          <a:xfrm>
            <a:off x="16482152" y="8708446"/>
            <a:ext cx="1370621" cy="1370621"/>
          </a:xfrm>
          <a:custGeom>
            <a:avLst/>
            <a:gdLst/>
            <a:ahLst/>
            <a:cxnLst/>
            <a:rect l="l" t="t" r="r" b="b"/>
            <a:pathLst>
              <a:path w="1370621" h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6" name="TextBox 36"/>
          <p:cNvSpPr txBox="1"/>
          <p:nvPr/>
        </p:nvSpPr>
        <p:spPr>
          <a:xfrm>
            <a:off x="623326" y="222250"/>
            <a:ext cx="7153926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99"/>
              </a:lnSpc>
              <a:spcBef>
                <a:spcPct val="0"/>
              </a:spcBef>
            </a:pPr>
            <a:r>
              <a:rPr lang="en-US" sz="84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560891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t="-30503" b="-3050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16482152" y="8708446"/>
            <a:ext cx="1370621" cy="1370621"/>
          </a:xfrm>
          <a:custGeom>
            <a:avLst/>
            <a:gdLst/>
            <a:ahLst/>
            <a:cxnLst/>
            <a:rect l="l" t="t" r="r" b="b"/>
            <a:pathLst>
              <a:path w="1370621" h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pic>
        <p:nvPicPr>
          <p:cNvPr id="5" name="Picture 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alphaModFix amt="43999"/>
          </a:blip>
          <a:srcRect/>
          <a:stretch>
            <a:fillRect/>
          </a:stretch>
        </p:blipFill>
        <p:spPr>
          <a:xfrm>
            <a:off x="4614844" y="3448654"/>
            <a:ext cx="7415436" cy="4226798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>
            <a:off x="7619791" y="4721139"/>
            <a:ext cx="1405542" cy="1436058"/>
          </a:xfrm>
          <a:custGeom>
            <a:avLst/>
            <a:gdLst/>
            <a:ahLst/>
            <a:cxnLst/>
            <a:rect l="l" t="t" r="r" b="b"/>
            <a:pathLst>
              <a:path w="1405542" h="1436058">
                <a:moveTo>
                  <a:pt x="0" y="0"/>
                </a:moveTo>
                <a:lnTo>
                  <a:pt x="1405542" y="0"/>
                </a:lnTo>
                <a:lnTo>
                  <a:pt x="1405542" y="1436058"/>
                </a:lnTo>
                <a:lnTo>
                  <a:pt x="0" y="143605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TextBox 7"/>
          <p:cNvSpPr txBox="1"/>
          <p:nvPr/>
        </p:nvSpPr>
        <p:spPr>
          <a:xfrm>
            <a:off x="1028700" y="914400"/>
            <a:ext cx="11809291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Evidencias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71808" y="2678381"/>
            <a:ext cx="1914026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Arquitectura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31986" y="4233143"/>
            <a:ext cx="927049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Épicas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54320" y="7479183"/>
            <a:ext cx="2193469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Daily Meetings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99097" y="5609375"/>
            <a:ext cx="1853426" cy="811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Historias de </a:t>
            </a:r>
          </a:p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usuario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56841" y="2172574"/>
            <a:ext cx="1741018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Carta Gantt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47789" y="8313289"/>
            <a:ext cx="1884229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Incrementos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09786" y="2470074"/>
            <a:ext cx="1250448" cy="811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Product </a:t>
            </a:r>
          </a:p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Backlog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6857" y="2172574"/>
            <a:ext cx="795783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Roles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39201" y="8193298"/>
            <a:ext cx="2141996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Sprint Backlog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37991" y="4233143"/>
            <a:ext cx="2044486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Sprint Review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692458" y="5523953"/>
            <a:ext cx="2588810" cy="1228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Retrospectiva del</a:t>
            </a:r>
          </a:p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proyecto</a:t>
            </a:r>
          </a:p>
          <a:p>
            <a:pPr algn="ctr">
              <a:lnSpc>
                <a:spcPts val="3282"/>
              </a:lnSpc>
            </a:pPr>
            <a:endParaRPr lang="en-US" sz="2344" b="1">
              <a:solidFill>
                <a:srgbClr val="1A1A1A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425268" y="7479183"/>
            <a:ext cx="2457209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Burndown Chart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97825" y="8670346"/>
            <a:ext cx="1137302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Kanban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57175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16482152" y="8708446"/>
            <a:ext cx="1370621" cy="1370621"/>
          </a:xfrm>
          <a:custGeom>
            <a:avLst/>
            <a:gdLst/>
            <a:ahLst/>
            <a:cxnLst/>
            <a:rect l="l" t="t" r="r" b="b"/>
            <a:pathLst>
              <a:path w="1370621" h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680756" y="548892"/>
            <a:ext cx="14902819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sprints </a:t>
            </a: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 como los tenemos previstos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604924"/>
            <a:ext cx="2872744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36281" y="4908550"/>
            <a:ext cx="180118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 Semana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15744" y="4604924"/>
            <a:ext cx="286706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779512" y="3084501"/>
            <a:ext cx="8230556" cy="4117998"/>
            <a:chOff x="0" y="0"/>
            <a:chExt cx="10974075" cy="5490664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66675"/>
              <a:ext cx="725932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Configuración de GitHub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46125"/>
              <a:ext cx="760222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Setup de entornos locales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558925"/>
              <a:ext cx="965962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Instalación de dependencias base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370119"/>
              <a:ext cx="965962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Ping Api Cliente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3182919"/>
              <a:ext cx="1097407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Login, Registro, Autenticación por correo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4001589"/>
              <a:ext cx="965962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Creación de roles con permisos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4814389"/>
              <a:ext cx="965962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Backend inicial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507603" y="8803005"/>
            <a:ext cx="327279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Ceremonias Scrum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57175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16482152" y="8708446"/>
            <a:ext cx="1370621" cy="1370621"/>
          </a:xfrm>
          <a:custGeom>
            <a:avLst/>
            <a:gdLst/>
            <a:ahLst/>
            <a:cxnLst/>
            <a:rect l="l" t="t" r="r" b="b"/>
            <a:pathLst>
              <a:path w="1370621" h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680756" y="548892"/>
            <a:ext cx="14902819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sprints </a:t>
            </a: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 como los tenemos previstos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604924"/>
            <a:ext cx="2872744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36650" y="2773250"/>
            <a:ext cx="570166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Integración básica del POS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36281" y="4908550"/>
            <a:ext cx="180118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 Semana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15744" y="4604924"/>
            <a:ext cx="286706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36650" y="3382850"/>
            <a:ext cx="627316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Creación de tablas iniciales.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36650" y="3992450"/>
            <a:ext cx="787336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Definición inicial de modelos en Prisma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36650" y="4600846"/>
            <a:ext cx="724471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Ranking básico de productos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36650" y="5210446"/>
            <a:ext cx="724471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Dashboard básico del ranking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36650" y="5778533"/>
            <a:ext cx="724471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Diseño de interfaz del sistema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07603" y="8803005"/>
            <a:ext cx="327279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Ceremonias Scrum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36650" y="6346620"/>
            <a:ext cx="627316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Ranking avanzado con filtros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36650" y="6956220"/>
            <a:ext cx="827341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Funcionalidad de generación de reportes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36650" y="7527720"/>
            <a:ext cx="827341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Dashboard Avanzado del ranking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57175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16482152" y="8708446"/>
            <a:ext cx="1370621" cy="1370621"/>
          </a:xfrm>
          <a:custGeom>
            <a:avLst/>
            <a:gdLst/>
            <a:ahLst/>
            <a:cxnLst/>
            <a:rect l="l" t="t" r="r" b="b"/>
            <a:pathLst>
              <a:path w="1370621" h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680756" y="548892"/>
            <a:ext cx="14902819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sprints </a:t>
            </a: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 como los tenemos previstos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604924"/>
            <a:ext cx="2872744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32166" y="2420550"/>
            <a:ext cx="945928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Integración IA Básica para Insights en el ranking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36281" y="4908550"/>
            <a:ext cx="180118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 Semana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15744" y="4604924"/>
            <a:ext cx="286706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32166" y="3054358"/>
            <a:ext cx="9720607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Integración API Proveedores o Scrapping web de proveedores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32166" y="4225933"/>
            <a:ext cx="8784234" cy="492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Diseño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interfaz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cotización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Proveedores</a:t>
            </a:r>
            <a:endParaRPr lang="en-US" sz="30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132166" y="7736580"/>
            <a:ext cx="724471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Cotización de 2 proveedores (Min.)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32166" y="5456728"/>
            <a:ext cx="9559294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Integración modulo Drag &amp; Drop para Proveedores Excel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32166" y="4864108"/>
            <a:ext cx="925925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UI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Comparador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precio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entre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Proveedores</a:t>
            </a:r>
            <a:endParaRPr lang="en-US" sz="30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132166" y="6565005"/>
            <a:ext cx="9359269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Parser Excel para agregarlo al comparador de precios.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07603" y="8938462"/>
            <a:ext cx="327279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Ceremonias Scrum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21841" y="9763326"/>
            <a:ext cx="4044319" cy="429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Correcciones del cliente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43509" y="9346131"/>
            <a:ext cx="20098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57175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16482152" y="8708446"/>
            <a:ext cx="1370621" cy="1370621"/>
          </a:xfrm>
          <a:custGeom>
            <a:avLst/>
            <a:gdLst/>
            <a:ahLst/>
            <a:cxnLst/>
            <a:rect l="l" t="t" r="r" b="b"/>
            <a:pathLst>
              <a:path w="1370621" h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680756" y="548892"/>
            <a:ext cx="14902819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sprints </a:t>
            </a: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 como los tenemos previstos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604924"/>
            <a:ext cx="2872744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36612" y="2500915"/>
            <a:ext cx="778764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Cotización de todos los proveedores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36281" y="4908550"/>
            <a:ext cx="180118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 Semana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15744" y="4604924"/>
            <a:ext cx="286706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36612" y="6081110"/>
            <a:ext cx="73879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IA da insights de los proveedores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36612" y="3110515"/>
            <a:ext cx="787336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Filtro avanzado de Proveedores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36612" y="3718910"/>
            <a:ext cx="8073261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Alertas por Stock Bajo, Antigüedad de Excel de proveedor.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21350" y="9556778"/>
            <a:ext cx="4044319" cy="429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Correcciones del cliente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36612" y="4861910"/>
            <a:ext cx="795909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Documentación SwaggerUI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07113" y="8731913"/>
            <a:ext cx="327279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Ceremonias Scrum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43019" y="9139583"/>
            <a:ext cx="20098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36612" y="6662135"/>
            <a:ext cx="7387950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Integración de la IA en la interfaz de proveedores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36612" y="5500085"/>
            <a:ext cx="73879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IA da insights avanzados en Ranking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57175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16482152" y="8708446"/>
            <a:ext cx="1370621" cy="1370621"/>
          </a:xfrm>
          <a:custGeom>
            <a:avLst/>
            <a:gdLst/>
            <a:ahLst/>
            <a:cxnLst/>
            <a:rect l="l" t="t" r="r" b="b"/>
            <a:pathLst>
              <a:path w="1370621" h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680756" y="548892"/>
            <a:ext cx="14902819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sprints </a:t>
            </a: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 como los tenemos previstos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604924"/>
            <a:ext cx="2872744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79512" y="2699590"/>
            <a:ext cx="778764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Manual de Usuario para Cliente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36281" y="4908550"/>
            <a:ext cx="180118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 Semana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15744" y="4604924"/>
            <a:ext cx="286706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79512" y="3309190"/>
            <a:ext cx="73879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Documentacion Final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79512" y="3918790"/>
            <a:ext cx="787336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Generar video tutorial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79512" y="4527186"/>
            <a:ext cx="8073261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Driver JS para guiar al usuario en el sistema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79512" y="5670186"/>
            <a:ext cx="807326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Mejoras en Seguridad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79512" y="6361900"/>
            <a:ext cx="724471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Despliegue en Producción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07603" y="8803005"/>
            <a:ext cx="327279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Ceremonias Scrum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71772" y="9556778"/>
            <a:ext cx="5144456" cy="429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Correcciones finales del cliente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943019" y="9139583"/>
            <a:ext cx="20098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79512" y="6996860"/>
            <a:ext cx="778764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Capacitación del cliente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57175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  <p:txBody>
          <a:bodyPr/>
          <a:lstStyle/>
          <a:p>
            <a:endParaRPr lang="es-MX"/>
          </a:p>
        </p:txBody>
      </p:sp>
      <p:graphicFrame>
        <p:nvGraphicFramePr>
          <p:cNvPr id="3" name="Object 3"/>
          <p:cNvGraphicFramePr/>
          <p:nvPr>
            <p:extLst>
              <p:ext uri="{D42A27DB-BD31-4B8C-83A1-F6EECF244321}">
                <p14:modId xmlns:p14="http://schemas.microsoft.com/office/powerpoint/2010/main" val="3578690997"/>
              </p:ext>
            </p:extLst>
          </p:nvPr>
        </p:nvGraphicFramePr>
        <p:xfrm>
          <a:off x="-2590800" y="-827088"/>
          <a:ext cx="34124900" cy="12496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2499300" imgH="13373100" progId="Excel.Sheet.12">
                  <p:embed/>
                </p:oleObj>
              </mc:Choice>
              <mc:Fallback>
                <p:oleObj name="Worksheet" r:id="rId3" imgW="32499300" imgH="133731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2590800" y="-827088"/>
                        <a:ext cx="34124900" cy="124968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reeform 4"/>
          <p:cNvSpPr/>
          <p:nvPr/>
        </p:nvSpPr>
        <p:spPr>
          <a:xfrm>
            <a:off x="16675468" y="8761446"/>
            <a:ext cx="1370621" cy="1370621"/>
          </a:xfrm>
          <a:custGeom>
            <a:avLst/>
            <a:gdLst/>
            <a:ahLst/>
            <a:cxnLst/>
            <a:rect l="l" t="t" r="r" b="b"/>
            <a:pathLst>
              <a:path w="1370621" h="1370621">
                <a:moveTo>
                  <a:pt x="0" y="0"/>
                </a:moveTo>
                <a:lnTo>
                  <a:pt x="1370620" y="0"/>
                </a:lnTo>
                <a:lnTo>
                  <a:pt x="1370620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387350" y="292431"/>
            <a:ext cx="8756650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Cronologia 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Carta Gantt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92639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 descr="Map Location Icon"/>
          <p:cNvSpPr/>
          <p:nvPr/>
        </p:nvSpPr>
        <p:spPr>
          <a:xfrm>
            <a:off x="8634776" y="7446431"/>
            <a:ext cx="308583" cy="478086"/>
          </a:xfrm>
          <a:custGeom>
            <a:avLst/>
            <a:gdLst/>
            <a:ahLst/>
            <a:cxnLst/>
            <a:rect l="l" t="t" r="r" b="b"/>
            <a:pathLst>
              <a:path w="308583" h="478086">
                <a:moveTo>
                  <a:pt x="0" y="0"/>
                </a:moveTo>
                <a:lnTo>
                  <a:pt x="308583" y="0"/>
                </a:lnTo>
                <a:lnTo>
                  <a:pt x="308583" y="478086"/>
                </a:lnTo>
                <a:lnTo>
                  <a:pt x="0" y="4780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16726912" y="8572990"/>
            <a:ext cx="1370621" cy="1370621"/>
          </a:xfrm>
          <a:custGeom>
            <a:avLst/>
            <a:gdLst/>
            <a:ahLst/>
            <a:cxnLst/>
            <a:rect l="l" t="t" r="r" b="b"/>
            <a:pathLst>
              <a:path w="1370621" h="1370621">
                <a:moveTo>
                  <a:pt x="0" y="0"/>
                </a:moveTo>
                <a:lnTo>
                  <a:pt x="1370621" y="0"/>
                </a:lnTo>
                <a:lnTo>
                  <a:pt x="1370621" y="1370620"/>
                </a:lnTo>
                <a:lnTo>
                  <a:pt x="0" y="1370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5" name="Group 5"/>
          <p:cNvGrpSpPr/>
          <p:nvPr/>
        </p:nvGrpSpPr>
        <p:grpSpPr>
          <a:xfrm>
            <a:off x="1637288" y="2163342"/>
            <a:ext cx="4925513" cy="7094958"/>
            <a:chOff x="0" y="0"/>
            <a:chExt cx="3813571" cy="54932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13571" cy="5493261"/>
            </a:xfrm>
            <a:custGeom>
              <a:avLst/>
              <a:gdLst/>
              <a:ahLst/>
              <a:cxnLst/>
              <a:rect l="l" t="t" r="r" b="b"/>
              <a:pathLst>
                <a:path w="3813571" h="5493261">
                  <a:moveTo>
                    <a:pt x="3689111" y="5493261"/>
                  </a:moveTo>
                  <a:lnTo>
                    <a:pt x="124460" y="5493261"/>
                  </a:lnTo>
                  <a:cubicBezTo>
                    <a:pt x="55880" y="5493261"/>
                    <a:pt x="0" y="5437381"/>
                    <a:pt x="0" y="536880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689111" y="0"/>
                  </a:lnTo>
                  <a:cubicBezTo>
                    <a:pt x="3757691" y="0"/>
                    <a:pt x="3813571" y="55880"/>
                    <a:pt x="3813571" y="124460"/>
                  </a:cubicBezTo>
                  <a:lnTo>
                    <a:pt x="3813571" y="5368801"/>
                  </a:lnTo>
                  <a:cubicBezTo>
                    <a:pt x="3813571" y="5437381"/>
                    <a:pt x="3757691" y="5493261"/>
                    <a:pt x="3689111" y="5493261"/>
                  </a:cubicBezTo>
                  <a:close/>
                </a:path>
              </a:pathLst>
            </a:custGeom>
            <a:solidFill>
              <a:srgbClr val="D85638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66981" y="2163342"/>
            <a:ext cx="4554038" cy="7047069"/>
            <a:chOff x="0" y="0"/>
            <a:chExt cx="3525957" cy="545618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525957" cy="5456183"/>
            </a:xfrm>
            <a:custGeom>
              <a:avLst/>
              <a:gdLst/>
              <a:ahLst/>
              <a:cxnLst/>
              <a:rect l="l" t="t" r="r" b="b"/>
              <a:pathLst>
                <a:path w="3525957" h="5456183">
                  <a:moveTo>
                    <a:pt x="3401497" y="5456183"/>
                  </a:moveTo>
                  <a:lnTo>
                    <a:pt x="124460" y="5456183"/>
                  </a:lnTo>
                  <a:cubicBezTo>
                    <a:pt x="55880" y="5456183"/>
                    <a:pt x="0" y="5400303"/>
                    <a:pt x="0" y="53317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01497" y="0"/>
                  </a:lnTo>
                  <a:cubicBezTo>
                    <a:pt x="3470077" y="0"/>
                    <a:pt x="3525957" y="55880"/>
                    <a:pt x="3525957" y="124460"/>
                  </a:cubicBezTo>
                  <a:lnTo>
                    <a:pt x="3525957" y="5331723"/>
                  </a:lnTo>
                  <a:cubicBezTo>
                    <a:pt x="3525957" y="5400303"/>
                    <a:pt x="3470077" y="5456183"/>
                    <a:pt x="3401497" y="5456183"/>
                  </a:cubicBezTo>
                  <a:close/>
                </a:path>
              </a:pathLst>
            </a:custGeom>
            <a:solidFill>
              <a:srgbClr val="5654D5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868075" y="2163342"/>
            <a:ext cx="4554038" cy="7047069"/>
            <a:chOff x="0" y="0"/>
            <a:chExt cx="3525957" cy="545618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25957" cy="5456183"/>
            </a:xfrm>
            <a:custGeom>
              <a:avLst/>
              <a:gdLst/>
              <a:ahLst/>
              <a:cxnLst/>
              <a:rect l="l" t="t" r="r" b="b"/>
              <a:pathLst>
                <a:path w="3525957" h="5456183">
                  <a:moveTo>
                    <a:pt x="3401497" y="5456183"/>
                  </a:moveTo>
                  <a:lnTo>
                    <a:pt x="124460" y="5456183"/>
                  </a:lnTo>
                  <a:cubicBezTo>
                    <a:pt x="55880" y="5456183"/>
                    <a:pt x="0" y="5400303"/>
                    <a:pt x="0" y="53317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01497" y="0"/>
                  </a:lnTo>
                  <a:cubicBezTo>
                    <a:pt x="3470077" y="0"/>
                    <a:pt x="3525957" y="55880"/>
                    <a:pt x="3525957" y="124460"/>
                  </a:cubicBezTo>
                  <a:lnTo>
                    <a:pt x="3525957" y="5331723"/>
                  </a:lnTo>
                  <a:cubicBezTo>
                    <a:pt x="3525957" y="5400303"/>
                    <a:pt x="3470077" y="5456183"/>
                    <a:pt x="3401497" y="5456183"/>
                  </a:cubicBezTo>
                  <a:close/>
                </a:path>
              </a:pathLst>
            </a:custGeom>
            <a:solidFill>
              <a:srgbClr val="93C47D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1" name="Freeform 11"/>
          <p:cNvSpPr/>
          <p:nvPr/>
        </p:nvSpPr>
        <p:spPr>
          <a:xfrm>
            <a:off x="3220377" y="2533386"/>
            <a:ext cx="1845058" cy="1824931"/>
          </a:xfrm>
          <a:custGeom>
            <a:avLst/>
            <a:gdLst/>
            <a:ahLst/>
            <a:cxnLst/>
            <a:rect l="l" t="t" r="r" b="b"/>
            <a:pathLst>
              <a:path w="1845058" h="1824931">
                <a:moveTo>
                  <a:pt x="0" y="0"/>
                </a:moveTo>
                <a:lnTo>
                  <a:pt x="1845059" y="0"/>
                </a:lnTo>
                <a:lnTo>
                  <a:pt x="1845059" y="1824931"/>
                </a:lnTo>
                <a:lnTo>
                  <a:pt x="0" y="18249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Freeform 12"/>
          <p:cNvSpPr/>
          <p:nvPr/>
        </p:nvSpPr>
        <p:spPr>
          <a:xfrm>
            <a:off x="8251305" y="2533386"/>
            <a:ext cx="1785390" cy="1824931"/>
          </a:xfrm>
          <a:custGeom>
            <a:avLst/>
            <a:gdLst/>
            <a:ahLst/>
            <a:cxnLst/>
            <a:rect l="l" t="t" r="r" b="b"/>
            <a:pathLst>
              <a:path w="1785390" h="1824931">
                <a:moveTo>
                  <a:pt x="0" y="0"/>
                </a:moveTo>
                <a:lnTo>
                  <a:pt x="1785390" y="0"/>
                </a:lnTo>
                <a:lnTo>
                  <a:pt x="1785390" y="1824931"/>
                </a:lnTo>
                <a:lnTo>
                  <a:pt x="0" y="18249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Freeform 13"/>
          <p:cNvSpPr/>
          <p:nvPr/>
        </p:nvSpPr>
        <p:spPr>
          <a:xfrm>
            <a:off x="13262283" y="2533386"/>
            <a:ext cx="1765620" cy="1824931"/>
          </a:xfrm>
          <a:custGeom>
            <a:avLst/>
            <a:gdLst/>
            <a:ahLst/>
            <a:cxnLst/>
            <a:rect l="l" t="t" r="r" b="b"/>
            <a:pathLst>
              <a:path w="1765620" h="1824931">
                <a:moveTo>
                  <a:pt x="0" y="0"/>
                </a:moveTo>
                <a:lnTo>
                  <a:pt x="1765621" y="0"/>
                </a:lnTo>
                <a:lnTo>
                  <a:pt x="1765621" y="1824931"/>
                </a:lnTo>
                <a:lnTo>
                  <a:pt x="0" y="18249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4" name="Freeform 14"/>
          <p:cNvSpPr/>
          <p:nvPr/>
        </p:nvSpPr>
        <p:spPr>
          <a:xfrm>
            <a:off x="16140618" y="138113"/>
            <a:ext cx="1712154" cy="1781175"/>
          </a:xfrm>
          <a:custGeom>
            <a:avLst/>
            <a:gdLst/>
            <a:ahLst/>
            <a:cxnLst/>
            <a:rect l="l" t="t" r="r" b="b"/>
            <a:pathLst>
              <a:path w="1712154" h="1781175">
                <a:moveTo>
                  <a:pt x="0" y="0"/>
                </a:moveTo>
                <a:lnTo>
                  <a:pt x="1712155" y="0"/>
                </a:lnTo>
                <a:lnTo>
                  <a:pt x="1712155" y="1781174"/>
                </a:lnTo>
                <a:lnTo>
                  <a:pt x="0" y="17811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Freeform 15"/>
          <p:cNvSpPr/>
          <p:nvPr/>
        </p:nvSpPr>
        <p:spPr>
          <a:xfrm>
            <a:off x="186979" y="8572990"/>
            <a:ext cx="1288383" cy="1370621"/>
          </a:xfrm>
          <a:custGeom>
            <a:avLst/>
            <a:gdLst/>
            <a:ahLst/>
            <a:cxnLst/>
            <a:rect l="l" t="t" r="r" b="b"/>
            <a:pathLst>
              <a:path w="1288383" h="1370621">
                <a:moveTo>
                  <a:pt x="0" y="0"/>
                </a:moveTo>
                <a:lnTo>
                  <a:pt x="1288384" y="0"/>
                </a:lnTo>
                <a:lnTo>
                  <a:pt x="1288384" y="1370620"/>
                </a:lnTo>
                <a:lnTo>
                  <a:pt x="0" y="1370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TextBox 16"/>
          <p:cNvSpPr txBox="1"/>
          <p:nvPr/>
        </p:nvSpPr>
        <p:spPr>
          <a:xfrm>
            <a:off x="1686937" y="5355431"/>
            <a:ext cx="4826215" cy="3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Emocionado por poner en practica mis conocimientos con un desafio que contempla realizar un proyecto a un cliente real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04404" y="5735672"/>
            <a:ext cx="3879192" cy="2124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 entusiasmo por aprender y crecer a través de esta experiencia real.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05498" y="5754722"/>
            <a:ext cx="3879192" cy="29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Para mí, este proyecto es la prueba real de todo lo aprendido: une datos, desarrollo y gestión en un solo reto y, al ser para un cliente real, nos pide hacerlo bien de verdad.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092432" y="4563110"/>
            <a:ext cx="210532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Sebastian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77486" y="4563110"/>
            <a:ext cx="1328514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Jaziel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292651" y="4563110"/>
            <a:ext cx="170051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Thomas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37225" y="399319"/>
            <a:ext cx="6813550" cy="1134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69"/>
              </a:lnSpc>
              <a:spcBef>
                <a:spcPct val="0"/>
              </a:spcBef>
            </a:pPr>
            <a:r>
              <a:rPr lang="en-US" sz="6692" b="1">
                <a:solidFill>
                  <a:srgbClr val="1A1A1A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CONCLUSIONES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2896851" y="2784638"/>
            <a:ext cx="12494299" cy="1724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73"/>
              </a:lnSpc>
              <a:spcBef>
                <a:spcPct val="0"/>
              </a:spcBef>
            </a:pPr>
            <a:r>
              <a:rPr lang="en-US" sz="10123" b="1">
                <a:solidFill>
                  <a:srgbClr val="FF6B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MUCHAS GRACIAS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48264" y="4251091"/>
            <a:ext cx="16391472" cy="2397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0"/>
              </a:lnSpc>
              <a:spcBef>
                <a:spcPct val="0"/>
              </a:spcBef>
            </a:pPr>
            <a:r>
              <a:rPr lang="en-US" sz="14000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POR LA ATENCIÓN</a:t>
            </a:r>
          </a:p>
        </p:txBody>
      </p:sp>
      <p:sp>
        <p:nvSpPr>
          <p:cNvPr id="5" name="Freeform 5"/>
          <p:cNvSpPr/>
          <p:nvPr/>
        </p:nvSpPr>
        <p:spPr>
          <a:xfrm>
            <a:off x="16482152" y="8708446"/>
            <a:ext cx="1370621" cy="1370621"/>
          </a:xfrm>
          <a:custGeom>
            <a:avLst/>
            <a:gdLst/>
            <a:ahLst/>
            <a:cxnLst/>
            <a:rect l="l" t="t" r="r" b="b"/>
            <a:pathLst>
              <a:path w="1370621" h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1045</Words>
  <Application>Microsoft Office PowerPoint</Application>
  <PresentationFormat>Personalizado</PresentationFormat>
  <Paragraphs>205</Paragraphs>
  <Slides>22</Slides>
  <Notes>0</Notes>
  <HiddenSlides>0</HiddenSlides>
  <MMClips>1</MMClips>
  <ScaleCrop>false</ScaleCrop>
  <HeadingPairs>
    <vt:vector size="8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22</vt:i4>
      </vt:variant>
    </vt:vector>
  </HeadingPairs>
  <TitlesOfParts>
    <vt:vector size="37" baseType="lpstr">
      <vt:lpstr>Poppins Bold</vt:lpstr>
      <vt:lpstr>Calibri</vt:lpstr>
      <vt:lpstr>Canva Sans</vt:lpstr>
      <vt:lpstr>Open Sauce Bold</vt:lpstr>
      <vt:lpstr>DM Sans</vt:lpstr>
      <vt:lpstr>Open Sauce</vt:lpstr>
      <vt:lpstr>Open Sans 2 Bold</vt:lpstr>
      <vt:lpstr>Open Sans 1 Ultra-Bold</vt:lpstr>
      <vt:lpstr>Open Sans 1 Bold</vt:lpstr>
      <vt:lpstr>DM Sans Bold</vt:lpstr>
      <vt:lpstr>Arial</vt:lpstr>
      <vt:lpstr>Open Sans 1</vt:lpstr>
      <vt:lpstr>Office Theme</vt:lpstr>
      <vt:lpstr>Worksheet</vt:lpstr>
      <vt:lpstr>Hoja de cálculo de Microsoft Excel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Farmacia Maira</dc:title>
  <cp:lastModifiedBy>Thomas Oliver Rojas</cp:lastModifiedBy>
  <cp:revision>2</cp:revision>
  <dcterms:created xsi:type="dcterms:W3CDTF">2006-08-16T00:00:00Z</dcterms:created>
  <dcterms:modified xsi:type="dcterms:W3CDTF">2025-09-03T18:00:40Z</dcterms:modified>
  <dc:identifier>DAGxNParDco</dc:identifier>
</cp:coreProperties>
</file>