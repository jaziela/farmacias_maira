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Open Sans 1 Bold" charset="1" panose="020B0806030504020204"/>
      <p:regular r:id="rId39"/>
    </p:embeddedFont>
    <p:embeddedFont>
      <p:font typeface="Poppins Bold" charset="1" panose="00000800000000000000"/>
      <p:regular r:id="rId40"/>
    </p:embeddedFont>
    <p:embeddedFont>
      <p:font typeface="DM Sans" charset="1" panose="00000000000000000000"/>
      <p:regular r:id="rId41"/>
    </p:embeddedFont>
    <p:embeddedFont>
      <p:font typeface="Open Sauce Bold" charset="1" panose="00000800000000000000"/>
      <p:regular r:id="rId42"/>
    </p:embeddedFont>
    <p:embeddedFont>
      <p:font typeface="Canva Sans" charset="1" panose="020B0503030501040103"/>
      <p:regular r:id="rId43"/>
    </p:embeddedFont>
    <p:embeddedFont>
      <p:font typeface="DM Sans Bold" charset="1" panose="00000000000000000000"/>
      <p:regular r:id="rId44"/>
    </p:embeddedFont>
    <p:embeddedFont>
      <p:font typeface="Open Sans 1" charset="1" panose="020B0606030504020204"/>
      <p:regular r:id="rId45"/>
    </p:embeddedFont>
    <p:embeddedFont>
      <p:font typeface="Open Sauce" charset="1" panose="00000500000000000000"/>
      <p:regular r:id="rId46"/>
    </p:embeddedFont>
    <p:embeddedFont>
      <p:font typeface="Open Sans 1 Ultra-Bold" charset="1" panose="00000000000000000000"/>
      <p:regular r:id="rId47"/>
    </p:embeddedFont>
    <p:embeddedFont>
      <p:font typeface="Open Sans 2 Bold" charset="1" panose="00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jpeg" Type="http://schemas.openxmlformats.org/officeDocument/2006/relationships/image"/><Relationship Id="rId6" Target="../media/image1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9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Relationship Id="rId6" Target="../media/image26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jpeg" Type="http://schemas.openxmlformats.org/officeDocument/2006/relationships/image"/><Relationship Id="rId6" Target="../media/image34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Relationship Id="rId6" Target="../media/image35.jpeg" Type="http://schemas.openxmlformats.org/officeDocument/2006/relationships/image"/><Relationship Id="rId7" Target="../media/VAGcYWLOMvs.mp4" Type="http://schemas.openxmlformats.org/officeDocument/2006/relationships/video"/><Relationship Id="rId8" Target="../media/VAGcYWLOMvs.mp4" Type="http://schemas.microsoft.com/office/2007/relationships/media"/><Relationship Id="rId9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embeddings/oleObject5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embeddings/oleObject6.bin" Type="http://schemas.openxmlformats.org/officeDocument/2006/relationships/oleObjec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embeddings/oleObject7.bin" Type="http://schemas.openxmlformats.org/officeDocument/2006/relationships/oleObjec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4.png" Type="http://schemas.openxmlformats.org/officeDocument/2006/relationships/image"/><Relationship Id="rId4" Target="../embeddings/oleObject8.bin" Type="http://schemas.openxmlformats.org/officeDocument/2006/relationships/oleObject"/><Relationship Id="rId5" Target="../media/image9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47.png" Type="http://schemas.openxmlformats.org/officeDocument/2006/relationships/image"/><Relationship Id="rId5" Target="../embeddings/oleObject9.bin" Type="http://schemas.openxmlformats.org/officeDocument/2006/relationships/oleObjec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48.png" Type="http://schemas.openxmlformats.org/officeDocument/2006/relationships/image"/><Relationship Id="rId5" Target="../embeddings/oleObject10.bin" Type="http://schemas.openxmlformats.org/officeDocument/2006/relationships/oleObjec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2" Target="../media/image8.pn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9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5441" y="2701654"/>
            <a:ext cx="3370342" cy="3969353"/>
          </a:xfrm>
          <a:custGeom>
            <a:avLst/>
            <a:gdLst/>
            <a:ahLst/>
            <a:cxnLst/>
            <a:rect r="r" b="b" t="t" l="l"/>
            <a:pathLst>
              <a:path h="3969353" w="3370342">
                <a:moveTo>
                  <a:pt x="0" y="0"/>
                </a:moveTo>
                <a:lnTo>
                  <a:pt x="3370342" y="0"/>
                </a:lnTo>
                <a:lnTo>
                  <a:pt x="3370342" y="3969353"/>
                </a:lnTo>
                <a:lnTo>
                  <a:pt x="0" y="396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74585" y="8169277"/>
            <a:ext cx="3027665" cy="17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Integrantes: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 Aguilera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Sebastián Morales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 Rojas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87317" y="8169277"/>
            <a:ext cx="2913365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Fecha:</a:t>
            </a:r>
            <a:r>
              <a:rPr lang="en-US" sz="25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5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15/10/2025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98921" y="8751891"/>
            <a:ext cx="3690157" cy="1372562"/>
          </a:xfrm>
          <a:custGeom>
            <a:avLst/>
            <a:gdLst/>
            <a:ahLst/>
            <a:cxnLst/>
            <a:rect r="r" b="b" t="t" l="l"/>
            <a:pathLst>
              <a:path h="1372562" w="3690157">
                <a:moveTo>
                  <a:pt x="0" y="0"/>
                </a:moveTo>
                <a:lnTo>
                  <a:pt x="3690158" y="0"/>
                </a:lnTo>
                <a:lnTo>
                  <a:pt x="3690158" y="1372562"/>
                </a:lnTo>
                <a:lnTo>
                  <a:pt x="0" y="1372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l="0" t="-79382" r="-1558" b="-936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03625" y="3802369"/>
            <a:ext cx="13255675" cy="232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Maira </a:t>
            </a:r>
            <a:r>
              <a:rPr lang="en-US" b="true" sz="1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90811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4"/>
                </a:lnTo>
                <a:lnTo>
                  <a:pt x="0" y="11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75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6945" y="2238896"/>
            <a:ext cx="229331" cy="229331"/>
            <a:chOff x="0" y="0"/>
            <a:chExt cx="74237" cy="742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79498" y="1807274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254" y="101659"/>
            <a:ext cx="1119728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Tabla de contenidos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93690" y="1981579"/>
            <a:ext cx="755841" cy="755841"/>
            <a:chOff x="0" y="0"/>
            <a:chExt cx="244674" cy="2446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56945" y="3176601"/>
            <a:ext cx="229331" cy="229331"/>
            <a:chOff x="0" y="0"/>
            <a:chExt cx="74237" cy="742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79498" y="2849344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93690" y="2919285"/>
            <a:ext cx="755841" cy="755841"/>
            <a:chOff x="0" y="0"/>
            <a:chExt cx="244674" cy="2446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56945" y="4114307"/>
            <a:ext cx="229331" cy="229331"/>
            <a:chOff x="0" y="0"/>
            <a:chExt cx="74237" cy="742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79498" y="3787049"/>
            <a:ext cx="388539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Necesidades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93690" y="3856990"/>
            <a:ext cx="755841" cy="755841"/>
            <a:chOff x="0" y="0"/>
            <a:chExt cx="244674" cy="2446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56945" y="5052012"/>
            <a:ext cx="229331" cy="229331"/>
            <a:chOff x="0" y="0"/>
            <a:chExt cx="74237" cy="742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1911639"/>
            <a:ext cx="3760074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H. Usuario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93690" y="4794695"/>
            <a:ext cx="755841" cy="755841"/>
            <a:chOff x="0" y="0"/>
            <a:chExt cx="244674" cy="2446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56945" y="5989717"/>
            <a:ext cx="229331" cy="229331"/>
            <a:chOff x="0" y="0"/>
            <a:chExt cx="74237" cy="742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479498" y="5662460"/>
            <a:ext cx="4120432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R-Funcionales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93690" y="5732400"/>
            <a:ext cx="755841" cy="755841"/>
            <a:chOff x="0" y="0"/>
            <a:chExt cx="244674" cy="2446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6945" y="6927423"/>
            <a:ext cx="229331" cy="229331"/>
            <a:chOff x="0" y="0"/>
            <a:chExt cx="74237" cy="742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479498" y="6600165"/>
            <a:ext cx="5075700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R-No funcionales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93690" y="6670106"/>
            <a:ext cx="755841" cy="755841"/>
            <a:chOff x="0" y="0"/>
            <a:chExt cx="244674" cy="24467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56945" y="8832585"/>
            <a:ext cx="229331" cy="229331"/>
            <a:chOff x="0" y="0"/>
            <a:chExt cx="74237" cy="7423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589692" y="8480019"/>
            <a:ext cx="367870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Arquitectura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93690" y="8575269"/>
            <a:ext cx="755841" cy="755841"/>
            <a:chOff x="0" y="0"/>
            <a:chExt cx="244674" cy="24467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87340" y="2236833"/>
            <a:ext cx="229331" cy="229331"/>
            <a:chOff x="0" y="0"/>
            <a:chExt cx="74237" cy="7423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144000" y="2821971"/>
            <a:ext cx="367870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Metodología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024085" y="1979516"/>
            <a:ext cx="755841" cy="755841"/>
            <a:chOff x="0" y="0"/>
            <a:chExt cx="244674" cy="24467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9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87340" y="3174538"/>
            <a:ext cx="229331" cy="229331"/>
            <a:chOff x="0" y="0"/>
            <a:chExt cx="74237" cy="7423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144000" y="3787049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Roles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8024085" y="2917221"/>
            <a:ext cx="755841" cy="755841"/>
            <a:chOff x="0" y="0"/>
            <a:chExt cx="244674" cy="24467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287340" y="4112243"/>
            <a:ext cx="229331" cy="229331"/>
            <a:chOff x="0" y="0"/>
            <a:chExt cx="74237" cy="742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144000" y="5662460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Sprints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024085" y="3854926"/>
            <a:ext cx="755841" cy="755841"/>
            <a:chOff x="0" y="0"/>
            <a:chExt cx="244674" cy="24467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87340" y="5049948"/>
            <a:ext cx="229331" cy="229331"/>
            <a:chOff x="0" y="0"/>
            <a:chExt cx="74237" cy="742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144000" y="4724754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Evidencias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024085" y="4792632"/>
            <a:ext cx="755841" cy="755841"/>
            <a:chOff x="0" y="0"/>
            <a:chExt cx="244674" cy="24467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87340" y="5987654"/>
            <a:ext cx="229331" cy="229331"/>
            <a:chOff x="0" y="0"/>
            <a:chExt cx="74237" cy="7423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9144000" y="6635547"/>
            <a:ext cx="3562459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Cronograma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8024085" y="5730337"/>
            <a:ext cx="755841" cy="755841"/>
            <a:chOff x="0" y="0"/>
            <a:chExt cx="244674" cy="24467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56945" y="7762319"/>
            <a:ext cx="229331" cy="229331"/>
            <a:chOff x="0" y="0"/>
            <a:chExt cx="74237" cy="7423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2479498" y="7539937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Epicas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393690" y="7609874"/>
            <a:ext cx="755841" cy="755841"/>
            <a:chOff x="0" y="0"/>
            <a:chExt cx="244674" cy="24467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7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287340" y="6822550"/>
            <a:ext cx="229331" cy="229331"/>
            <a:chOff x="0" y="0"/>
            <a:chExt cx="74237" cy="7423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4237" cy="74237"/>
            </a:xfrm>
            <a:custGeom>
              <a:avLst/>
              <a:gdLst/>
              <a:ahLst/>
              <a:cxnLst/>
              <a:rect r="r" b="b" t="t" l="l"/>
              <a:pathLst>
                <a:path h="74237" w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144000" y="7512561"/>
            <a:ext cx="326022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8024085" y="6670106"/>
            <a:ext cx="755841" cy="755841"/>
            <a:chOff x="0" y="0"/>
            <a:chExt cx="244674" cy="24467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14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2479498" y="4724754"/>
            <a:ext cx="3885393" cy="8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8024085" y="7606922"/>
            <a:ext cx="755841" cy="755841"/>
            <a:chOff x="0" y="0"/>
            <a:chExt cx="244674" cy="24467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73162" y="2488528"/>
            <a:ext cx="3274068" cy="2654972"/>
          </a:xfrm>
          <a:custGeom>
            <a:avLst/>
            <a:gdLst/>
            <a:ahLst/>
            <a:cxnLst/>
            <a:rect r="r" b="b" t="t" l="l"/>
            <a:pathLst>
              <a:path h="2654972" w="3274068">
                <a:moveTo>
                  <a:pt x="0" y="0"/>
                </a:moveTo>
                <a:lnTo>
                  <a:pt x="3274069" y="0"/>
                </a:lnTo>
                <a:lnTo>
                  <a:pt x="3274069" y="2654972"/>
                </a:lnTo>
                <a:lnTo>
                  <a:pt x="0" y="26549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39740"/>
            <a:ext cx="11617422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 Maira es una empresa farmacéutica que busca optimizar la gestión de sus procesos y la interacción con proveedores. El proyecto se desarrollará bajo la metodología Scrum, incluyendo planificación, definición de requisitos y organización de actividades para mejorar la eficiencia y la toma de decisiones.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7253939" cy="96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025855" y="6123675"/>
            <a:ext cx="10236290" cy="3748988"/>
          </a:xfrm>
          <a:custGeom>
            <a:avLst/>
            <a:gdLst/>
            <a:ahLst/>
            <a:cxnLst/>
            <a:rect r="r" b="b" t="t" l="l"/>
            <a:pathLst>
              <a:path h="3748988" w="10236290">
                <a:moveTo>
                  <a:pt x="0" y="0"/>
                </a:moveTo>
                <a:lnTo>
                  <a:pt x="10236290" y="0"/>
                </a:lnTo>
                <a:lnTo>
                  <a:pt x="10236290" y="3748987"/>
                </a:lnTo>
                <a:lnTo>
                  <a:pt x="0" y="3748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9382" r="0" b="-9365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34430" y="6079520"/>
            <a:ext cx="7529402" cy="2679278"/>
            <a:chOff x="0" y="0"/>
            <a:chExt cx="1107445" cy="394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7445" cy="394075"/>
            </a:xfrm>
            <a:custGeom>
              <a:avLst/>
              <a:gdLst/>
              <a:ahLst/>
              <a:cxnLst/>
              <a:rect r="r" b="b" t="t" l="l"/>
              <a:pathLst>
                <a:path h="394075" w="1107445">
                  <a:moveTo>
                    <a:pt x="23649" y="0"/>
                  </a:moveTo>
                  <a:lnTo>
                    <a:pt x="1083795" y="0"/>
                  </a:lnTo>
                  <a:cubicBezTo>
                    <a:pt x="1090068" y="0"/>
                    <a:pt x="1096083" y="2492"/>
                    <a:pt x="1100518" y="6927"/>
                  </a:cubicBezTo>
                  <a:cubicBezTo>
                    <a:pt x="1104953" y="11362"/>
                    <a:pt x="1107445" y="17377"/>
                    <a:pt x="1107445" y="23649"/>
                  </a:cubicBezTo>
                  <a:lnTo>
                    <a:pt x="1107445" y="370426"/>
                  </a:lnTo>
                  <a:cubicBezTo>
                    <a:pt x="1107445" y="376698"/>
                    <a:pt x="1104953" y="382714"/>
                    <a:pt x="1100518" y="387149"/>
                  </a:cubicBezTo>
                  <a:cubicBezTo>
                    <a:pt x="1096083" y="391584"/>
                    <a:pt x="1090068" y="394075"/>
                    <a:pt x="1083795" y="394075"/>
                  </a:cubicBezTo>
                  <a:lnTo>
                    <a:pt x="23649" y="394075"/>
                  </a:lnTo>
                  <a:cubicBezTo>
                    <a:pt x="17377" y="394075"/>
                    <a:pt x="11362" y="391584"/>
                    <a:pt x="6927" y="387149"/>
                  </a:cubicBezTo>
                  <a:cubicBezTo>
                    <a:pt x="2492" y="382714"/>
                    <a:pt x="0" y="376698"/>
                    <a:pt x="0" y="370426"/>
                  </a:cubicBezTo>
                  <a:lnTo>
                    <a:pt x="0" y="23649"/>
                  </a:lnTo>
                  <a:cubicBezTo>
                    <a:pt x="0" y="17377"/>
                    <a:pt x="2492" y="11362"/>
                    <a:pt x="6927" y="6927"/>
                  </a:cubicBezTo>
                  <a:cubicBezTo>
                    <a:pt x="11362" y="2492"/>
                    <a:pt x="17377" y="0"/>
                    <a:pt x="2364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3791" r="0" b="-43791"/>
              </a:stretch>
            </a:blipFill>
            <a:ln w="76200" cap="rnd">
              <a:solidFill>
                <a:srgbClr val="1A1A1A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598822" y="6079520"/>
            <a:ext cx="3349098" cy="2679278"/>
          </a:xfrm>
          <a:custGeom>
            <a:avLst/>
            <a:gdLst/>
            <a:ahLst/>
            <a:cxnLst/>
            <a:rect r="r" b="b" t="t" l="l"/>
            <a:pathLst>
              <a:path h="2679278" w="3349098">
                <a:moveTo>
                  <a:pt x="0" y="0"/>
                </a:moveTo>
                <a:lnTo>
                  <a:pt x="3349098" y="0"/>
                </a:lnTo>
                <a:lnTo>
                  <a:pt x="3349098" y="2679278"/>
                </a:lnTo>
                <a:lnTo>
                  <a:pt x="0" y="2679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7253939" cy="96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49265"/>
            <a:ext cx="11617422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 Maira pierde tiempo valioso cotizando manualmente, revisando múltiples páginas web y correos con Excel, lo que dificulta tomar decisiones de compra basadas en datos claros y retrasa la atención a los clientes.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41654" y="2067420"/>
            <a:ext cx="5432503" cy="5439302"/>
          </a:xfrm>
          <a:custGeom>
            <a:avLst/>
            <a:gdLst/>
            <a:ahLst/>
            <a:cxnLst/>
            <a:rect r="r" b="b" t="t" l="l"/>
            <a:pathLst>
              <a:path h="5439302" w="5432503">
                <a:moveTo>
                  <a:pt x="0" y="0"/>
                </a:moveTo>
                <a:lnTo>
                  <a:pt x="5432503" y="0"/>
                </a:lnTo>
                <a:lnTo>
                  <a:pt x="5432503" y="5439302"/>
                </a:lnTo>
                <a:lnTo>
                  <a:pt x="0" y="5439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561" y="333381"/>
            <a:ext cx="965384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Necesidad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34410"/>
            <a:ext cx="472653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Datos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Claros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17207"/>
            <a:ext cx="538457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Información a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la vista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80143"/>
            <a:ext cx="61823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Información consistente y depurada. Base confiable para decidir sin dudas.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64177"/>
            <a:ext cx="618239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Indicadores clave en un panel simple. Lo importante, a un clic.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469077"/>
            <a:ext cx="538457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Compras más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inteligentes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16047"/>
            <a:ext cx="61823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Comparación ágil entre proveedores. Mejor precio y disponibilidad en menos tiempo.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39348" y="1834410"/>
            <a:ext cx="538457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Facil y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Seguro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9348" y="2281380"/>
            <a:ext cx="5897984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Implementación sencilla, accesos por rol y respaldos automáticos. Continuidad garantizada.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9348" y="3919680"/>
            <a:ext cx="4726530" cy="42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Ahorro de </a:t>
            </a:r>
            <a:r>
              <a:rPr lang="en-US" sz="2624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39348" y="4366650"/>
            <a:ext cx="618239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Decisiones rapidas sin recorridos manuales. Una sola busqueda, todos los proveedores.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661" y="65849"/>
            <a:ext cx="1311141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 - Aqui entra Maira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07469"/>
            <a:ext cx="10071397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Una página web que permita a Farmacias Maira visualizar un ranking de los productos más vendidos, consultar simultáneamente los catálogos de múltiples proveedores, comparar la rentabilidad de medicamentos entre sucursales y procesar automáticamente las cotizaciones recibidas por correo electrónico. De esta manera, la empresa podrá optimizar la gestión de su inventario, reducir tiempos de búsqueda y cotización, y contar con información precisa y centralizada para la toma de decisiones.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237574" y="2189286"/>
            <a:ext cx="4929888" cy="5358574"/>
          </a:xfrm>
          <a:custGeom>
            <a:avLst/>
            <a:gdLst/>
            <a:ahLst/>
            <a:cxnLst/>
            <a:rect r="r" b="b" t="t" l="l"/>
            <a:pathLst>
              <a:path h="5358574" w="4929888">
                <a:moveTo>
                  <a:pt x="0" y="0"/>
                </a:moveTo>
                <a:lnTo>
                  <a:pt x="4929888" y="0"/>
                </a:lnTo>
                <a:lnTo>
                  <a:pt x="4929888" y="5358574"/>
                </a:lnTo>
                <a:lnTo>
                  <a:pt x="0" y="5358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17379" y="9258300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7991" y="4489742"/>
            <a:ext cx="6072613" cy="6072613"/>
          </a:xfrm>
          <a:custGeom>
            <a:avLst/>
            <a:gdLst/>
            <a:ahLst/>
            <a:cxnLst/>
            <a:rect r="r" b="b" t="t" l="l"/>
            <a:pathLst>
              <a:path h="6072613" w="6072613">
                <a:moveTo>
                  <a:pt x="0" y="0"/>
                </a:moveTo>
                <a:lnTo>
                  <a:pt x="6072612" y="0"/>
                </a:lnTo>
                <a:lnTo>
                  <a:pt x="6072612" y="6072613"/>
                </a:lnTo>
                <a:lnTo>
                  <a:pt x="0" y="6072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83383"/>
            <a:ext cx="1180929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78074" y="7858125"/>
            <a:ext cx="6355529" cy="1767522"/>
            <a:chOff x="0" y="0"/>
            <a:chExt cx="1137609" cy="3163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7609" cy="316378"/>
            </a:xfrm>
            <a:custGeom>
              <a:avLst/>
              <a:gdLst/>
              <a:ahLst/>
              <a:cxnLst/>
              <a:rect r="r" b="b" t="t" l="l"/>
              <a:pathLst>
                <a:path h="316378" w="1137609">
                  <a:moveTo>
                    <a:pt x="28017" y="0"/>
                  </a:moveTo>
                  <a:lnTo>
                    <a:pt x="1109592" y="0"/>
                  </a:lnTo>
                  <a:cubicBezTo>
                    <a:pt x="1117023" y="0"/>
                    <a:pt x="1124149" y="2952"/>
                    <a:pt x="1129403" y="8206"/>
                  </a:cubicBezTo>
                  <a:cubicBezTo>
                    <a:pt x="1134658" y="13460"/>
                    <a:pt x="1137609" y="20587"/>
                    <a:pt x="1137609" y="28017"/>
                  </a:cubicBezTo>
                  <a:lnTo>
                    <a:pt x="1137609" y="288361"/>
                  </a:lnTo>
                  <a:cubicBezTo>
                    <a:pt x="1137609" y="303834"/>
                    <a:pt x="1125066" y="316378"/>
                    <a:pt x="1109592" y="316378"/>
                  </a:cubicBezTo>
                  <a:lnTo>
                    <a:pt x="28017" y="316378"/>
                  </a:lnTo>
                  <a:cubicBezTo>
                    <a:pt x="12544" y="316378"/>
                    <a:pt x="0" y="303834"/>
                    <a:pt x="0" y="288361"/>
                  </a:cubicBezTo>
                  <a:lnTo>
                    <a:pt x="0" y="28017"/>
                  </a:lnTo>
                  <a:cubicBezTo>
                    <a:pt x="0" y="12544"/>
                    <a:pt x="12544" y="0"/>
                    <a:pt x="28017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177683" y="8448360"/>
            <a:ext cx="550806" cy="275403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1547" lIns="51547" bIns="51547" rIns="51547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017954" y="8047303"/>
            <a:ext cx="6075769" cy="176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debe emitir alertas</a:t>
            </a:r>
            <a:r>
              <a:rPr lang="en-US" sz="206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stock bajo en productos críticos. y advertir al usuario cuando un archivo excel tiene una antiguedad mayor a la definida</a:t>
            </a:r>
          </a:p>
          <a:p>
            <a:pPr algn="ctr">
              <a:lnSpc>
                <a:spcPts val="289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03003" y="8036711"/>
            <a:ext cx="1683794" cy="97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4"/>
              </a:lnSpc>
              <a:spcBef>
                <a:spcPct val="0"/>
              </a:spcBef>
            </a:pPr>
            <a:r>
              <a:rPr lang="en-US" sz="5674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RF-5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07052" y="8296952"/>
            <a:ext cx="6921045" cy="52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1"/>
              </a:lnSpc>
              <a:spcBef>
                <a:spcPct val="0"/>
              </a:spcBef>
            </a:pPr>
            <a:r>
              <a:rPr lang="en-US" sz="304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Notificación en forma de alertas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1500048"/>
            <a:ext cx="16230600" cy="1418069"/>
            <a:chOff x="0" y="0"/>
            <a:chExt cx="21640800" cy="189075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033458" y="775582"/>
              <a:ext cx="734407" cy="361886"/>
              <a:chOff x="0" y="0"/>
              <a:chExt cx="824745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La solución muestra un ranking de los productos más vendidos durante un tiempo especificado por el usuario, junto a  unidades, costo y margen.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805398" y="585050"/>
              <a:ext cx="922806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Ranking de productos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3003" y="3089567"/>
            <a:ext cx="16230600" cy="1418069"/>
            <a:chOff x="0" y="0"/>
            <a:chExt cx="21640800" cy="189075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La solución muestra los precios del producto buscado y fecha de actualización de la cotización de cada proveedor.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RF-2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438195" y="573904"/>
              <a:ext cx="922806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Comparar precio entre proveedores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3003" y="4679087"/>
            <a:ext cx="16230600" cy="1418069"/>
            <a:chOff x="0" y="0"/>
            <a:chExt cx="21640800" cy="189075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 pueden visualizar, por sucursal, los indicadores unidades vendidas, costo, ingreso y % de margen y exportarlos a CSV/Excel.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RF-3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42652" y="605443"/>
              <a:ext cx="960906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Comparar rentabilidad entre sucursales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3003" y="6215640"/>
            <a:ext cx="16230600" cy="1471035"/>
            <a:chOff x="0" y="0"/>
            <a:chExt cx="21640800" cy="1961379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54328" cy="257558"/>
              </a:xfrm>
              <a:custGeom>
                <a:avLst/>
                <a:gdLst/>
                <a:ahLst/>
                <a:cxnLst/>
                <a:rect r="r" b="b" t="t" l="l"/>
                <a:pathLst>
                  <a:path h="257558" w="115432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79487" y="0"/>
                <a:ext cx="6997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9977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3353268" y="238508"/>
              <a:ext cx="8101025" cy="138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El sistema debe generar recomendaciones automáticas sobre productos y proveedores a partir del ranking de ventas.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270558"/>
              <a:ext cx="2245059" cy="124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true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RF-4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662352" y="573904"/>
              <a:ext cx="922806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Inteligencia Artificial básica integrada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17379" y="9258300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7991" y="4489742"/>
            <a:ext cx="6072613" cy="6072613"/>
          </a:xfrm>
          <a:custGeom>
            <a:avLst/>
            <a:gdLst/>
            <a:ahLst/>
            <a:cxnLst/>
            <a:rect r="r" b="b" t="t" l="l"/>
            <a:pathLst>
              <a:path h="6072613" w="6072613">
                <a:moveTo>
                  <a:pt x="0" y="0"/>
                </a:moveTo>
                <a:lnTo>
                  <a:pt x="6072612" y="0"/>
                </a:lnTo>
                <a:lnTo>
                  <a:pt x="6072612" y="6072613"/>
                </a:lnTo>
                <a:lnTo>
                  <a:pt x="0" y="6072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54624" y="1482154"/>
            <a:ext cx="6263481" cy="1418069"/>
            <a:chOff x="0" y="0"/>
            <a:chExt cx="1137609" cy="2575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433374" y="2023423"/>
            <a:ext cx="542828" cy="271414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53898" y="3071673"/>
            <a:ext cx="6263481" cy="1418069"/>
            <a:chOff x="0" y="0"/>
            <a:chExt cx="1137609" cy="257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432648" y="3612942"/>
            <a:ext cx="542828" cy="27141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53172" y="4661192"/>
            <a:ext cx="6263481" cy="1418069"/>
            <a:chOff x="0" y="0"/>
            <a:chExt cx="1137609" cy="2575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31921" y="5202461"/>
            <a:ext cx="542828" cy="271414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52445" y="6250712"/>
            <a:ext cx="6263481" cy="1418069"/>
            <a:chOff x="0" y="0"/>
            <a:chExt cx="1137609" cy="2575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431195" y="6791981"/>
            <a:ext cx="542828" cy="271414"/>
            <a:chOff x="0" y="0"/>
            <a:chExt cx="812800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52445" y="8002156"/>
            <a:ext cx="6263481" cy="1418069"/>
            <a:chOff x="0" y="0"/>
            <a:chExt cx="1137609" cy="2575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7609" cy="257558"/>
            </a:xfrm>
            <a:custGeom>
              <a:avLst/>
              <a:gdLst/>
              <a:ahLst/>
              <a:cxnLst/>
              <a:rect r="r" b="b" t="t" l="l"/>
              <a:pathLst>
                <a:path h="257558" w="1137609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431195" y="8543425"/>
            <a:ext cx="542828" cy="271414"/>
            <a:chOff x="0" y="0"/>
            <a:chExt cx="812800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79487" y="0"/>
              <a:ext cx="687825" cy="406400"/>
            </a:xfrm>
            <a:custGeom>
              <a:avLst/>
              <a:gdLst/>
              <a:ahLst/>
              <a:cxnLst/>
              <a:rect r="r" b="b" t="t" l="l"/>
              <a:pathLst>
                <a:path h="406400" w="687825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90300" y="1627935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Todas las comunicaciones deben ser HTTPS, Ga</a:t>
            </a: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rantizar autenticación de usuarios, cifrado de datos sensibles y control de acceso por roles.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8375" y="1652613"/>
            <a:ext cx="2073745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66559" y="1944818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2575" y="65849"/>
            <a:ext cx="1180929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No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90300" y="3238648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debe</a:t>
            </a: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estar disponible al menos el 99.5% del tiempo. Revisar con health-check y mandar alertas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07649" y="3171973"/>
            <a:ext cx="2202332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66263" y="3534337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Disponibilidad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91026" y="4828167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Garantizar un buen rendimiento del sistema y sus funciones, procesamiento y generación &lt; 15 segundos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8375" y="4798514"/>
            <a:ext cx="22016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65967" y="5123856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Rendimiento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90300" y="6417686"/>
            <a:ext cx="5987773" cy="10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Arquitectura permite añadir sucursales y proveedores sin cambios estructurales en el modelo de datos.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7649" y="6390015"/>
            <a:ext cx="220088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65671" y="6713375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Escalabilidad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790300" y="8287906"/>
            <a:ext cx="5987773" cy="70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</a:t>
            </a: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interfaz debe ser intuitiva y permitir realizar operaciones principales en menos de 5 pasos.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7649" y="8180974"/>
            <a:ext cx="220088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65671" y="8464819"/>
            <a:ext cx="27787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Usabilidad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-30503" r="0" b="-3050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83914" y="1479852"/>
            <a:ext cx="1258584" cy="1258584"/>
            <a:chOff x="0" y="0"/>
            <a:chExt cx="244674" cy="2446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83914" y="4268951"/>
            <a:ext cx="1258584" cy="1258584"/>
            <a:chOff x="0" y="0"/>
            <a:chExt cx="244674" cy="244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83914" y="7464946"/>
            <a:ext cx="1258584" cy="1258584"/>
            <a:chOff x="0" y="0"/>
            <a:chExt cx="244674" cy="2446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821162" y="1561786"/>
            <a:ext cx="784089" cy="1094715"/>
          </a:xfrm>
          <a:custGeom>
            <a:avLst/>
            <a:gdLst/>
            <a:ahLst/>
            <a:cxnLst/>
            <a:rect r="r" b="b" t="t" l="l"/>
            <a:pathLst>
              <a:path h="1094715" w="784089">
                <a:moveTo>
                  <a:pt x="0" y="0"/>
                </a:moveTo>
                <a:lnTo>
                  <a:pt x="784089" y="0"/>
                </a:lnTo>
                <a:lnTo>
                  <a:pt x="784089" y="1094715"/>
                </a:lnTo>
                <a:lnTo>
                  <a:pt x="0" y="1094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21162" y="4432820"/>
            <a:ext cx="832759" cy="879448"/>
          </a:xfrm>
          <a:custGeom>
            <a:avLst/>
            <a:gdLst/>
            <a:ahLst/>
            <a:cxnLst/>
            <a:rect r="r" b="b" t="t" l="l"/>
            <a:pathLst>
              <a:path h="879448" w="832759">
                <a:moveTo>
                  <a:pt x="0" y="0"/>
                </a:moveTo>
                <a:lnTo>
                  <a:pt x="832758" y="0"/>
                </a:lnTo>
                <a:lnTo>
                  <a:pt x="832758" y="879448"/>
                </a:lnTo>
                <a:lnTo>
                  <a:pt x="0" y="879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21162" y="7628815"/>
            <a:ext cx="857467" cy="857467"/>
          </a:xfrm>
          <a:custGeom>
            <a:avLst/>
            <a:gdLst/>
            <a:ahLst/>
            <a:cxnLst/>
            <a:rect r="r" b="b" t="t" l="l"/>
            <a:pathLst>
              <a:path h="857467" w="857467">
                <a:moveTo>
                  <a:pt x="0" y="0"/>
                </a:moveTo>
                <a:lnTo>
                  <a:pt x="857467" y="0"/>
                </a:lnTo>
                <a:lnTo>
                  <a:pt x="857467" y="857467"/>
                </a:lnTo>
                <a:lnTo>
                  <a:pt x="0" y="8574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9637" y="124616"/>
            <a:ext cx="739832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Algunas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épicas...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48719" y="1403652"/>
            <a:ext cx="112553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1: Ranking y Análisis de Ventas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48719" y="2166294"/>
            <a:ext cx="914057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 decisiones de compra con análisis detallado de rendimiento y rentabilidad de productos por sucursal.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448719" y="4356620"/>
            <a:ext cx="117125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2: Gestión de Proveedores y Cotizaciones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48719" y="5215447"/>
            <a:ext cx="9340604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Automatizar y centralizar el proceso de cotización con múltiples proveedores para reducir tiempo y mejorar comparación de precios.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48707" y="7552615"/>
            <a:ext cx="112553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3: Inteligencia Artificial para Decisiones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48719" y="8264601"/>
            <a:ext cx="11155354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Sistema da recomendaciones inteligentes sobre los productos en el ranking y sobre los productos ofrecidos por proveedores, para optimizar el stock y mejorar márgenes.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82692" y="8916379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479849" y="1365235"/>
          <a:ext cx="16230600" cy="4454136"/>
        </p:xfrm>
        <a:graphic>
          <a:graphicData uri="http://schemas.openxmlformats.org/presentationml/2006/ole">
            <p:oleObj imgW="19469100" imgH="7696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93601" y="65849"/>
            <a:ext cx="725393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de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</a:t>
            </a: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82692" y="8916379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558562" y="1357193"/>
          <a:ext cx="16230600" cy="4454136"/>
        </p:xfrm>
        <a:graphic>
          <a:graphicData uri="http://schemas.openxmlformats.org/presentationml/2006/ole">
            <p:oleObj imgW="19469100" imgH="7696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3927" y="92075"/>
            <a:ext cx="8793277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de </a:t>
            </a:r>
            <a:r>
              <a:rPr lang="en-US" sz="5499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</a:t>
            </a:r>
            <a:r>
              <a:rPr lang="en-US" sz="5499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758824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6717"/>
            <a:ext cx="18288000" cy="9650283"/>
          </a:xfrm>
          <a:custGeom>
            <a:avLst/>
            <a:gdLst/>
            <a:ahLst/>
            <a:cxnLst/>
            <a:rect r="r" b="b" t="t" l="l"/>
            <a:pathLst>
              <a:path h="9650283" w="18288000">
                <a:moveTo>
                  <a:pt x="0" y="0"/>
                </a:moveTo>
                <a:lnTo>
                  <a:pt x="18288000" y="0"/>
                </a:lnTo>
                <a:lnTo>
                  <a:pt x="18288000" y="9650283"/>
                </a:lnTo>
                <a:lnTo>
                  <a:pt x="0" y="9650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27" r="0" b="-95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2687" y="-10178"/>
            <a:ext cx="6794547" cy="64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Arquitectura: </a:t>
            </a:r>
            <a:r>
              <a:rPr lang="en-US" sz="3781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Capas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8992" y="473985"/>
            <a:ext cx="14238045" cy="9687564"/>
          </a:xfrm>
          <a:custGeom>
            <a:avLst/>
            <a:gdLst/>
            <a:ahLst/>
            <a:cxnLst/>
            <a:rect r="r" b="b" t="t" l="l"/>
            <a:pathLst>
              <a:path h="9687564" w="14238045">
                <a:moveTo>
                  <a:pt x="0" y="0"/>
                </a:moveTo>
                <a:lnTo>
                  <a:pt x="14238045" y="0"/>
                </a:lnTo>
                <a:lnTo>
                  <a:pt x="14238045" y="9687563"/>
                </a:lnTo>
                <a:lnTo>
                  <a:pt x="0" y="968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" r="-220" b="-104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2687" y="-10178"/>
            <a:ext cx="4441523" cy="64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de</a:t>
            </a:r>
            <a:r>
              <a:rPr lang="en-US" sz="3781" b="true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781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4312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189" y="1450828"/>
            <a:ext cx="15865622" cy="8353527"/>
          </a:xfrm>
          <a:custGeom>
            <a:avLst/>
            <a:gdLst/>
            <a:ahLst/>
            <a:cxnLst/>
            <a:rect r="r" b="b" t="t" l="l"/>
            <a:pathLst>
              <a:path h="8353527" w="15865622">
                <a:moveTo>
                  <a:pt x="0" y="0"/>
                </a:moveTo>
                <a:lnTo>
                  <a:pt x="15865622" y="0"/>
                </a:lnTo>
                <a:lnTo>
                  <a:pt x="15865622" y="8353527"/>
                </a:lnTo>
                <a:lnTo>
                  <a:pt x="0" y="835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60" t="-8099" r="-12447" b="-41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7350" y="292431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Metodologia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49118" y="1290076"/>
            <a:ext cx="2925352" cy="3616450"/>
            <a:chOff x="0" y="0"/>
            <a:chExt cx="3900470" cy="482193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62474" y="188402"/>
              <a:ext cx="2937733" cy="293773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3355" t="-76973" r="-50450" b="-94767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3153529" y="0"/>
              <a:ext cx="746941" cy="74694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3486316"/>
              <a:ext cx="3900470" cy="64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Yovanna Maira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350128"/>
              <a:ext cx="39004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Product Owner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60079" y="5402009"/>
            <a:ext cx="2980442" cy="3616450"/>
            <a:chOff x="0" y="0"/>
            <a:chExt cx="3973923" cy="482193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481368" y="188402"/>
              <a:ext cx="2937733" cy="29377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3226982" y="0"/>
              <a:ext cx="746941" cy="74694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3486316"/>
              <a:ext cx="3900470" cy="64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Jaziel Aguilera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350128"/>
              <a:ext cx="39004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47478" y="5380681"/>
            <a:ext cx="2925226" cy="4173456"/>
            <a:chOff x="0" y="0"/>
            <a:chExt cx="3900301" cy="556460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62458" y="239516"/>
              <a:ext cx="2937606" cy="2937733"/>
              <a:chOff x="0" y="0"/>
              <a:chExt cx="812765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76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765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26919" r="0" b="-26919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153393" y="0"/>
              <a:ext cx="746908" cy="746941"/>
              <a:chOff x="0" y="0"/>
              <a:chExt cx="812765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76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765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197" y="38100"/>
                <a:ext cx="660371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3539199"/>
              <a:ext cx="3900301" cy="133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Sebastián Morales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5092802"/>
              <a:ext cx="390030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53779" y="5372884"/>
            <a:ext cx="2925352" cy="3674699"/>
            <a:chOff x="0" y="0"/>
            <a:chExt cx="3900470" cy="489959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481368" y="260307"/>
              <a:ext cx="2937733" cy="293773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5923" t="0" r="-5923" b="0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3093595" y="0"/>
              <a:ext cx="746941" cy="74694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3559991"/>
              <a:ext cx="3900470" cy="64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Thomas Rojas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4427793"/>
              <a:ext cx="39004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Master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23326" y="222250"/>
            <a:ext cx="7153926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60891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>
            <a:alphaModFix amt="43999"/>
          </a:blip>
          <a:srcRect l="0" t="0" r="0" b="0"/>
          <a:stretch>
            <a:fillRect/>
          </a:stretch>
        </p:blipFill>
        <p:spPr>
          <a:xfrm flipH="false" flipV="false" rot="0">
            <a:off x="4614844" y="3448654"/>
            <a:ext cx="7415436" cy="4226798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7619791" y="4721139"/>
            <a:ext cx="1405542" cy="1436058"/>
          </a:xfrm>
          <a:custGeom>
            <a:avLst/>
            <a:gdLst/>
            <a:ahLst/>
            <a:cxnLst/>
            <a:rect r="r" b="b" t="t" l="l"/>
            <a:pathLst>
              <a:path h="1436058" w="1405542">
                <a:moveTo>
                  <a:pt x="0" y="0"/>
                </a:moveTo>
                <a:lnTo>
                  <a:pt x="1405542" y="0"/>
                </a:lnTo>
                <a:lnTo>
                  <a:pt x="1405542" y="1436058"/>
                </a:lnTo>
                <a:lnTo>
                  <a:pt x="0" y="14360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4400"/>
            <a:ext cx="11809291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71808" y="2678381"/>
            <a:ext cx="191402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1986" y="4233143"/>
            <a:ext cx="92704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Épicas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54320" y="7479183"/>
            <a:ext cx="219346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Daily Meetings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9097" y="5609375"/>
            <a:ext cx="1853426" cy="81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Historias de </a:t>
            </a:r>
          </a:p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usuario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72769" y="2172574"/>
            <a:ext cx="1741018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Carta Gantt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47789" y="8313289"/>
            <a:ext cx="188422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Incrementos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9786" y="2470074"/>
            <a:ext cx="1250448" cy="81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</a:t>
            </a:r>
          </a:p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Backlog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9201" y="1482094"/>
            <a:ext cx="795783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9201" y="8193298"/>
            <a:ext cx="214199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Backlog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37991" y="4233143"/>
            <a:ext cx="204448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2458" y="5523953"/>
            <a:ext cx="2588810" cy="122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Retrospectiva del</a:t>
            </a:r>
          </a:p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</a:t>
            </a:r>
          </a:p>
          <a:p>
            <a:pPr algn="ctr">
              <a:lnSpc>
                <a:spcPts val="328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425268" y="7479183"/>
            <a:ext cx="2457209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Burndown Chart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97825" y="8670346"/>
            <a:ext cx="1137302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Kanban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3786" y="1482094"/>
            <a:ext cx="2426003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Impediment Log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2759" y="3455762"/>
            <a:ext cx="3943122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 de Gestion de Riesgos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10199" y="2172574"/>
            <a:ext cx="983756" cy="39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Costos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 Semana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79512" y="3084501"/>
            <a:ext cx="8230556" cy="4117998"/>
            <a:chOff x="0" y="0"/>
            <a:chExt cx="10974075" cy="549066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72593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Configuración de GitHub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46125"/>
              <a:ext cx="76022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Setup de entornos locales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558925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Instalación de dependencias base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70119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Ping Api Cliente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182919"/>
              <a:ext cx="1097407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Login, Registro, Autenticación por correo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001589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Creación de roles con permisos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814389"/>
              <a:ext cx="965962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Backend inicial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07603" y="8803005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6650" y="2587512"/>
            <a:ext cx="57016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básica del POS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  <a:r>
              <a:rPr lang="en-US" b="true" sz="27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6650" y="3221513"/>
            <a:ext cx="62731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Creación de tablas iniciales.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6650" y="3877032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Definición inicial de modelos en Prisma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6650" y="4500920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básico de productos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6650" y="5124807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básico del ranking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6650" y="5778533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de interfaz del sistema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7603" y="8803005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6650" y="6425670"/>
            <a:ext cx="62731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avanzado con filtros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6650" y="7072808"/>
            <a:ext cx="82734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Funcionalidad de generación de reportes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6650" y="7798996"/>
            <a:ext cx="82734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Avanzado del ranking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1231457"/>
          <a:ext cx="15087600" cy="7543800"/>
        </p:xfrm>
        <a:graphic>
          <a:graphicData uri="http://schemas.openxmlformats.org/presentationml/2006/ole">
            <p:oleObj imgW="18097500" imgH="10553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66040"/>
            <a:ext cx="960240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1231457"/>
          <a:ext cx="15087600" cy="7543800"/>
        </p:xfrm>
        <a:graphic>
          <a:graphicData uri="http://schemas.openxmlformats.org/presentationml/2006/ole">
            <p:oleObj imgW="18097500" imgH="10553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66040"/>
            <a:ext cx="960240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344" y="2148405"/>
            <a:ext cx="17731311" cy="5990191"/>
          </a:xfrm>
          <a:custGeom>
            <a:avLst/>
            <a:gdLst/>
            <a:ahLst/>
            <a:cxnLst/>
            <a:rect r="r" b="b" t="t" l="l"/>
            <a:pathLst>
              <a:path h="5990191" w="17731311">
                <a:moveTo>
                  <a:pt x="0" y="0"/>
                </a:moveTo>
                <a:lnTo>
                  <a:pt x="17731312" y="0"/>
                </a:lnTo>
                <a:lnTo>
                  <a:pt x="17731312" y="5990190"/>
                </a:lnTo>
                <a:lnTo>
                  <a:pt x="0" y="599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6040"/>
            <a:ext cx="960240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64479" y="1493367"/>
          <a:ext cx="17325975" cy="1257300"/>
        </p:xfrm>
        <a:graphic>
          <a:graphicData uri="http://schemas.openxmlformats.org/presentationml/2006/ole">
            <p:oleObj imgW="20789900" imgH="4724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66040"/>
            <a:ext cx="960240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Impediment 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 - </a:t>
            </a: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423908"/>
          <a:ext cx="17325975" cy="1257300"/>
        </p:xfrm>
        <a:graphic>
          <a:graphicData uri="http://schemas.openxmlformats.org/presentationml/2006/ole">
            <p:oleObj imgW="20789900" imgH="4724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66040"/>
            <a:ext cx="1154087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1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2314" y="1493367"/>
          <a:ext cx="17325975" cy="1257300"/>
        </p:xfrm>
        <a:graphic>
          <a:graphicData uri="http://schemas.openxmlformats.org/presentationml/2006/ole">
            <p:oleObj imgW="20789900" imgH="4724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66040"/>
            <a:ext cx="1154087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b="true" sz="560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1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2550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2166" y="1146235"/>
            <a:ext cx="945928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IA Básica para Insights en el ranking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  <a:r>
              <a:rPr lang="en-US" b="true" sz="27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32166" y="1846520"/>
            <a:ext cx="972060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API Proveedores o Scrapping web de proveedores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32166" y="2937330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interfaz cotización Proveedores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2166" y="7908700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2 proveedores (Min.)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2166" y="4385130"/>
            <a:ext cx="955929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modulo Drag &amp; Drop para Proveedores Excel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2166" y="3718380"/>
            <a:ext cx="92592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 Comparador de precio entre Proveedores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2166" y="5549249"/>
            <a:ext cx="935926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Parser Excel para agregarlo al comparador de precios.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07603" y="8938462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21841" y="9763326"/>
            <a:ext cx="4044319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3509" y="9346131"/>
            <a:ext cx="2009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32166" y="6664640"/>
            <a:ext cx="807326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por Antigüedad de Excel de proveedor.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36612" y="2238776"/>
            <a:ext cx="7787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todos los proveedores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  <a:r>
              <a:rPr lang="en-US" b="true" sz="27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6612" y="5049151"/>
            <a:ext cx="7387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de los proveedores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6612" y="2976763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Filtro avanzado de Proveedores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21350" y="9556778"/>
            <a:ext cx="4044319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36612" y="3710188"/>
            <a:ext cx="79590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Documentación SwaggerUI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7113" y="8731913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3019" y="9139583"/>
            <a:ext cx="2009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36612" y="6449326"/>
            <a:ext cx="73879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la IA en la interfaz de proveedores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6612" y="4379670"/>
            <a:ext cx="7387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avanzados en Ranking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6612" y="5715901"/>
            <a:ext cx="8073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stock bajo.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756" y="548892"/>
            <a:ext cx="14902819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04924"/>
            <a:ext cx="2872744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9512" y="2453329"/>
            <a:ext cx="7787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de Usuario para Cliente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281" y="4908550"/>
            <a:ext cx="18011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  <a:r>
              <a:rPr lang="en-US" b="true" sz="27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Semana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15744" y="4604924"/>
            <a:ext cx="286706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b="true" sz="55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9512" y="3128215"/>
            <a:ext cx="7387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Documentacion Final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9512" y="3831861"/>
            <a:ext cx="78733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video tutorial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9512" y="4484323"/>
            <a:ext cx="807326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 JS para guiar al usuario en el sistema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9512" y="5785638"/>
            <a:ext cx="8073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Mejoras en Seguridad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9512" y="6576213"/>
            <a:ext cx="72447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Despliegue en Producción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7603" y="8803005"/>
            <a:ext cx="327279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71772" y="9556778"/>
            <a:ext cx="5144456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finales del cliente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43019" y="9139583"/>
            <a:ext cx="20098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9512" y="7272963"/>
            <a:ext cx="7787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 del cliente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7175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87350" y="1410215"/>
          <a:ext cx="27089100" cy="7962900"/>
        </p:xfrm>
        <a:graphic>
          <a:graphicData uri="http://schemas.openxmlformats.org/presentationml/2006/ole">
            <p:oleObj imgW="32499300" imgH="13373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6675468" y="8761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0564" y="5666455"/>
            <a:ext cx="1882476" cy="1710700"/>
          </a:xfrm>
          <a:custGeom>
            <a:avLst/>
            <a:gdLst/>
            <a:ahLst/>
            <a:cxnLst/>
            <a:rect r="r" b="b" t="t" l="l"/>
            <a:pathLst>
              <a:path h="1710700" w="1882476">
                <a:moveTo>
                  <a:pt x="0" y="0"/>
                </a:moveTo>
                <a:lnTo>
                  <a:pt x="1882476" y="0"/>
                </a:lnTo>
                <a:lnTo>
                  <a:pt x="1882476" y="1710700"/>
                </a:lnTo>
                <a:lnTo>
                  <a:pt x="0" y="171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7350" y="292431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Cronologia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Carta Gantt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03283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75468" y="8761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378035" y="1911865"/>
          <a:ext cx="16230600" cy="1711133"/>
        </p:xfrm>
        <a:graphic>
          <a:graphicData uri="http://schemas.openxmlformats.org/presentationml/2006/ole">
            <p:oleObj imgW="19469100" imgH="4953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87350" y="65849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riesgos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75468" y="8761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752921" y="1254621"/>
          <a:ext cx="16230600" cy="3869547"/>
        </p:xfrm>
        <a:graphic>
          <a:graphicData uri="http://schemas.openxmlformats.org/presentationml/2006/ole">
            <p:oleObj imgW="19469100" imgH="7112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87350" y="65849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Costo y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Presupuesto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75468" y="8761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96650" y="1028700"/>
            <a:ext cx="6494700" cy="8616517"/>
          </a:xfrm>
          <a:custGeom>
            <a:avLst/>
            <a:gdLst/>
            <a:ahLst/>
            <a:cxnLst/>
            <a:rect r="r" b="b" t="t" l="l"/>
            <a:pathLst>
              <a:path h="8616517" w="6494700">
                <a:moveTo>
                  <a:pt x="0" y="0"/>
                </a:moveTo>
                <a:lnTo>
                  <a:pt x="6494700" y="0"/>
                </a:lnTo>
                <a:lnTo>
                  <a:pt x="6494700" y="8616517"/>
                </a:lnTo>
                <a:lnTo>
                  <a:pt x="0" y="8616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43269" y="4660675"/>
            <a:ext cx="3787315" cy="378731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87350" y="65849"/>
            <a:ext cx="8756650" cy="96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true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592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Review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792639"/>
            <a:ext cx="18288000" cy="11358562"/>
          </a:xfrm>
          <a:custGeom>
            <a:avLst/>
            <a:gdLst/>
            <a:ahLst/>
            <a:cxnLst/>
            <a:rect r="r" b="b" t="t" l="l"/>
            <a:pathLst>
              <a:path h="11358562" w="18288000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-30503" r="0" b="-30503"/>
            </a:stretch>
          </a:blipFill>
        </p:spPr>
      </p:sp>
      <p:sp>
        <p:nvSpPr>
          <p:cNvPr name="Freeform 3" id="3" descr="Map Location Icon"/>
          <p:cNvSpPr/>
          <p:nvPr/>
        </p:nvSpPr>
        <p:spPr>
          <a:xfrm flipH="false" flipV="false" rot="0">
            <a:off x="8634776" y="7446431"/>
            <a:ext cx="308583" cy="478086"/>
          </a:xfrm>
          <a:custGeom>
            <a:avLst/>
            <a:gdLst/>
            <a:ahLst/>
            <a:cxnLst/>
            <a:rect r="r" b="b" t="t" l="l"/>
            <a:pathLst>
              <a:path h="478086" w="308583">
                <a:moveTo>
                  <a:pt x="0" y="0"/>
                </a:moveTo>
                <a:lnTo>
                  <a:pt x="308583" y="0"/>
                </a:lnTo>
                <a:lnTo>
                  <a:pt x="308583" y="478086"/>
                </a:lnTo>
                <a:lnTo>
                  <a:pt x="0" y="47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26912" y="8572990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88" y="2163342"/>
            <a:ext cx="4925513" cy="7094958"/>
            <a:chOff x="0" y="0"/>
            <a:chExt cx="3813571" cy="5493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3571" cy="5493261"/>
            </a:xfrm>
            <a:custGeom>
              <a:avLst/>
              <a:gdLst/>
              <a:ahLst/>
              <a:cxnLst/>
              <a:rect r="r" b="b" t="t" l="l"/>
              <a:pathLst>
                <a:path h="5493261" w="3813571">
                  <a:moveTo>
                    <a:pt x="3689111" y="5493261"/>
                  </a:moveTo>
                  <a:lnTo>
                    <a:pt x="124460" y="5493261"/>
                  </a:lnTo>
                  <a:cubicBezTo>
                    <a:pt x="55880" y="5493261"/>
                    <a:pt x="0" y="5437381"/>
                    <a:pt x="0" y="53688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9111" y="0"/>
                  </a:lnTo>
                  <a:cubicBezTo>
                    <a:pt x="3757691" y="0"/>
                    <a:pt x="3813571" y="55880"/>
                    <a:pt x="3813571" y="124460"/>
                  </a:cubicBezTo>
                  <a:lnTo>
                    <a:pt x="3813571" y="5368801"/>
                  </a:lnTo>
                  <a:cubicBezTo>
                    <a:pt x="3813571" y="5437381"/>
                    <a:pt x="3757691" y="5493261"/>
                    <a:pt x="3689111" y="5493261"/>
                  </a:cubicBezTo>
                  <a:close/>
                </a:path>
              </a:pathLst>
            </a:custGeom>
            <a:solidFill>
              <a:srgbClr val="D8563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66981" y="2163342"/>
            <a:ext cx="4554038" cy="7047069"/>
            <a:chOff x="0" y="0"/>
            <a:chExt cx="3525957" cy="54561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25957" cy="5456183"/>
            </a:xfrm>
            <a:custGeom>
              <a:avLst/>
              <a:gdLst/>
              <a:ahLst/>
              <a:cxnLst/>
              <a:rect r="r" b="b" t="t" l="l"/>
              <a:pathLst>
                <a:path h="5456183" w="3525957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5654D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68075" y="2163342"/>
            <a:ext cx="4554038" cy="7047069"/>
            <a:chOff x="0" y="0"/>
            <a:chExt cx="3525957" cy="5456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25957" cy="5456183"/>
            </a:xfrm>
            <a:custGeom>
              <a:avLst/>
              <a:gdLst/>
              <a:ahLst/>
              <a:cxnLst/>
              <a:rect r="r" b="b" t="t" l="l"/>
              <a:pathLst>
                <a:path h="5456183" w="3525957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93C47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220377" y="2533386"/>
            <a:ext cx="1845058" cy="1824931"/>
          </a:xfrm>
          <a:custGeom>
            <a:avLst/>
            <a:gdLst/>
            <a:ahLst/>
            <a:cxnLst/>
            <a:rect r="r" b="b" t="t" l="l"/>
            <a:pathLst>
              <a:path h="1824931" w="1845058">
                <a:moveTo>
                  <a:pt x="0" y="0"/>
                </a:moveTo>
                <a:lnTo>
                  <a:pt x="1845059" y="0"/>
                </a:lnTo>
                <a:lnTo>
                  <a:pt x="1845059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51305" y="2533386"/>
            <a:ext cx="1785390" cy="1824931"/>
          </a:xfrm>
          <a:custGeom>
            <a:avLst/>
            <a:gdLst/>
            <a:ahLst/>
            <a:cxnLst/>
            <a:rect r="r" b="b" t="t" l="l"/>
            <a:pathLst>
              <a:path h="1824931" w="1785390">
                <a:moveTo>
                  <a:pt x="0" y="0"/>
                </a:moveTo>
                <a:lnTo>
                  <a:pt x="1785390" y="0"/>
                </a:lnTo>
                <a:lnTo>
                  <a:pt x="1785390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62283" y="2533386"/>
            <a:ext cx="1765620" cy="1824931"/>
          </a:xfrm>
          <a:custGeom>
            <a:avLst/>
            <a:gdLst/>
            <a:ahLst/>
            <a:cxnLst/>
            <a:rect r="r" b="b" t="t" l="l"/>
            <a:pathLst>
              <a:path h="1824931" w="1765620">
                <a:moveTo>
                  <a:pt x="0" y="0"/>
                </a:moveTo>
                <a:lnTo>
                  <a:pt x="1765621" y="0"/>
                </a:lnTo>
                <a:lnTo>
                  <a:pt x="1765621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40618" y="138113"/>
            <a:ext cx="1712154" cy="1781175"/>
          </a:xfrm>
          <a:custGeom>
            <a:avLst/>
            <a:gdLst/>
            <a:ahLst/>
            <a:cxnLst/>
            <a:rect r="r" b="b" t="t" l="l"/>
            <a:pathLst>
              <a:path h="1781175" w="1712154">
                <a:moveTo>
                  <a:pt x="0" y="0"/>
                </a:moveTo>
                <a:lnTo>
                  <a:pt x="1712155" y="0"/>
                </a:lnTo>
                <a:lnTo>
                  <a:pt x="1712155" y="1781174"/>
                </a:lnTo>
                <a:lnTo>
                  <a:pt x="0" y="178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6979" y="8572990"/>
            <a:ext cx="1288383" cy="1370621"/>
          </a:xfrm>
          <a:custGeom>
            <a:avLst/>
            <a:gdLst/>
            <a:ahLst/>
            <a:cxnLst/>
            <a:rect r="r" b="b" t="t" l="l"/>
            <a:pathLst>
              <a:path h="1370621" w="1288383">
                <a:moveTo>
                  <a:pt x="0" y="0"/>
                </a:moveTo>
                <a:lnTo>
                  <a:pt x="1288384" y="0"/>
                </a:lnTo>
                <a:lnTo>
                  <a:pt x="1288384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86937" y="5355431"/>
            <a:ext cx="4826215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Emocionado por poner en practica mis conocimientos con un desafio que contempla realizar un proyecto a un cliente real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4404" y="5735672"/>
            <a:ext cx="3879192" cy="212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 entu</a:t>
            </a: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siasmo por aprender y crecer a través de esta experiencia real.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05498" y="5754722"/>
            <a:ext cx="3879192" cy="29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mí, e</a:t>
            </a: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 proyecto es la prueba real de todo lo aprendido: une datos, desarrollo y gestión en un solo reto y, al ser para un cliente real, nos pide hacerlo bien de verdad.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92432" y="4563110"/>
            <a:ext cx="2105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7486" y="4563110"/>
            <a:ext cx="11330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92651" y="4563110"/>
            <a:ext cx="17005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37225" y="399319"/>
            <a:ext cx="6813550" cy="11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true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CONCLUSIONES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9162" y="1028700"/>
            <a:ext cx="470138" cy="117535"/>
          </a:xfrm>
          <a:custGeom>
            <a:avLst/>
            <a:gdLst/>
            <a:ahLst/>
            <a:cxnLst/>
            <a:rect r="r" b="b" t="t" l="l"/>
            <a:pathLst>
              <a:path h="117535" w="470138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96851" y="2784638"/>
            <a:ext cx="12494299" cy="172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3"/>
              </a:lnSpc>
              <a:spcBef>
                <a:spcPct val="0"/>
              </a:spcBef>
            </a:pPr>
            <a:r>
              <a:rPr lang="en-US" sz="10123" b="true">
                <a:solidFill>
                  <a:srgbClr val="FF6B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MUCHAS 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8264" y="4251091"/>
            <a:ext cx="16391472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0"/>
              </a:lnSpc>
              <a:spcBef>
                <a:spcPct val="0"/>
              </a:spcBef>
            </a:pPr>
            <a:r>
              <a:rPr lang="en-US" sz="1400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POR LA ATENCIÓN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482152" y="8708446"/>
            <a:ext cx="1370621" cy="1370621"/>
          </a:xfrm>
          <a:custGeom>
            <a:avLst/>
            <a:gdLst/>
            <a:ahLst/>
            <a:cxnLst/>
            <a:rect r="r" b="b" t="t" l="l"/>
            <a:pathLst>
              <a:path h="1370621" w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DAGxNParDco</dc:identifier>
  <dcterms:modified xsi:type="dcterms:W3CDTF">2011-08-01T06:04:30Z</dcterms:modified>
  <cp:revision>1</cp:revision>
  <dc:title>Capstone Farmacia Maira</dc:title>
</cp:coreProperties>
</file>