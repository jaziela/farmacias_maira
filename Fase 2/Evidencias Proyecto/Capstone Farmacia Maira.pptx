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</p:sldIdLst>
  <p:sldSz cx="18288000" cy="10287000"/>
  <p:notesSz cx="6858000" cy="9144000"/>
  <p:embeddedFontLst>
    <p:embeddedFont>
      <p:font typeface="Canva Sans" panose="020B0604020202020204" charset="0"/>
      <p:regular r:id="rId42"/>
    </p:embeddedFont>
    <p:embeddedFont>
      <p:font typeface="Canva Sans Bold" panose="020B0604020202020204" charset="0"/>
      <p:regular r:id="rId43"/>
    </p:embeddedFont>
    <p:embeddedFont>
      <p:font typeface="DM Sans" pitchFamily="2" charset="0"/>
      <p:regular r:id="rId44"/>
      <p:bold r:id="rId45"/>
      <p:italic r:id="rId46"/>
      <p:boldItalic r:id="rId47"/>
    </p:embeddedFont>
    <p:embeddedFont>
      <p:font typeface="DM Sans Bold" charset="0"/>
      <p:regular r:id="rId48"/>
    </p:embeddedFont>
    <p:embeddedFont>
      <p:font typeface="Open Sans 1" panose="020B0604020202020204" charset="0"/>
      <p:regular r:id="rId49"/>
    </p:embeddedFont>
    <p:embeddedFont>
      <p:font typeface="Open Sans 1 Bold" panose="020B0604020202020204" charset="0"/>
      <p:regular r:id="rId50"/>
    </p:embeddedFont>
    <p:embeddedFont>
      <p:font typeface="Open Sans 1 Ultra-Bold" panose="020B0604020202020204" charset="0"/>
      <p:regular r:id="rId51"/>
    </p:embeddedFont>
    <p:embeddedFont>
      <p:font typeface="Open Sans 2 Bold" panose="020B0604020202020204" charset="0"/>
      <p:regular r:id="rId52"/>
    </p:embeddedFont>
    <p:embeddedFont>
      <p:font typeface="Open Sauce" panose="020B0604020202020204" charset="0"/>
      <p:regular r:id="rId53"/>
    </p:embeddedFont>
    <p:embeddedFont>
      <p:font typeface="Open Sauce Bold" panose="020B0604020202020204" charset="0"/>
      <p:regular r:id="rId54"/>
    </p:embeddedFont>
    <p:embeddedFont>
      <p:font typeface="Poppins Bold" panose="020B0604020202020204" charset="0"/>
      <p:regular r:id="rId5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8ED5"/>
    <a:srgbClr val="D0D8E8"/>
    <a:srgbClr val="E9ED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3929" autoAdjust="0"/>
  </p:normalViewPr>
  <p:slideViewPr>
    <p:cSldViewPr>
      <p:cViewPr>
        <p:scale>
          <a:sx n="66" d="100"/>
          <a:sy n="66" d="100"/>
        </p:scale>
        <p:origin x="1014" y="1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font" Target="fonts/font1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font" Target="fonts/font1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8.svg"/><Relationship Id="rId7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svg"/><Relationship Id="rId3" Type="http://schemas.openxmlformats.org/officeDocument/2006/relationships/image" Target="../media/image41.png"/><Relationship Id="rId7" Type="http://schemas.openxmlformats.org/officeDocument/2006/relationships/image" Target="../media/image45.svg"/><Relationship Id="rId12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49.sv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svg"/><Relationship Id="rId9" Type="http://schemas.openxmlformats.org/officeDocument/2006/relationships/image" Target="../media/image47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3">
            <a:extLst>
              <a:ext uri="{FF2B5EF4-FFF2-40B4-BE49-F238E27FC236}">
                <a16:creationId xmlns:a16="http://schemas.microsoft.com/office/drawing/2014/main" id="{2868E0C6-3898-1E1A-E4D6-7E8D231BBFC0}"/>
              </a:ext>
            </a:extLst>
          </p:cNvPr>
          <p:cNvSpPr/>
          <p:nvPr/>
        </p:nvSpPr>
        <p:spPr>
          <a:xfrm>
            <a:off x="0" y="-214312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2" name="Freeform 2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85441" y="2701655"/>
            <a:ext cx="3195959" cy="3737246"/>
          </a:xfrm>
          <a:custGeom>
            <a:avLst/>
            <a:gdLst/>
            <a:ahLst/>
            <a:cxnLst/>
            <a:rect l="l" t="t" r="r" b="b"/>
            <a:pathLst>
              <a:path w="3370342" h="3969353">
                <a:moveTo>
                  <a:pt x="0" y="0"/>
                </a:moveTo>
                <a:lnTo>
                  <a:pt x="3370342" y="0"/>
                </a:lnTo>
                <a:lnTo>
                  <a:pt x="3370342" y="3969353"/>
                </a:lnTo>
                <a:lnTo>
                  <a:pt x="0" y="39693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974585" y="8169277"/>
            <a:ext cx="3027665" cy="1746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FF6B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Integrantes:</a:t>
            </a:r>
          </a:p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Jaziel Aguilera</a:t>
            </a:r>
          </a:p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Sebastián Morales</a:t>
            </a:r>
          </a:p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Thomas Rojas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87317" y="8169277"/>
            <a:ext cx="2913365" cy="431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FF6B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Fecha:</a:t>
            </a:r>
            <a:r>
              <a:rPr lang="en-US" sz="2500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  <a:r>
              <a:rPr lang="en-US" sz="25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16/11/2025</a:t>
            </a:r>
          </a:p>
        </p:txBody>
      </p:sp>
      <p:sp>
        <p:nvSpPr>
          <p:cNvPr id="6" name="Freeform 6"/>
          <p:cNvSpPr/>
          <p:nvPr/>
        </p:nvSpPr>
        <p:spPr>
          <a:xfrm>
            <a:off x="7298921" y="8751891"/>
            <a:ext cx="3690157" cy="1372562"/>
          </a:xfrm>
          <a:custGeom>
            <a:avLst/>
            <a:gdLst/>
            <a:ahLst/>
            <a:cxnLst/>
            <a:rect l="l" t="t" r="r" b="b"/>
            <a:pathLst>
              <a:path w="3690157" h="1372562">
                <a:moveTo>
                  <a:pt x="0" y="0"/>
                </a:moveTo>
                <a:lnTo>
                  <a:pt x="3690158" y="0"/>
                </a:lnTo>
                <a:lnTo>
                  <a:pt x="3690158" y="1372562"/>
                </a:lnTo>
                <a:lnTo>
                  <a:pt x="0" y="13725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4000"/>
            </a:blip>
            <a:stretch>
              <a:fillRect t="-79382" r="-1558" b="-93659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130639" y="3577538"/>
            <a:ext cx="14625959" cy="22040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058"/>
              </a:lnSpc>
            </a:pPr>
            <a:r>
              <a:rPr lang="en-US" sz="128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Maira Analytics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9162" y="90811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4"/>
                </a:lnTo>
                <a:lnTo>
                  <a:pt x="0" y="117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575" y="-214312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t="-30503" b="-30503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56945" y="2238896"/>
            <a:ext cx="229331" cy="229331"/>
            <a:chOff x="0" y="0"/>
            <a:chExt cx="74237" cy="7423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479498" y="1807274"/>
            <a:ext cx="326022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Contexto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3254" y="101659"/>
            <a:ext cx="11197289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99"/>
              </a:lnSpc>
              <a:spcBef>
                <a:spcPct val="0"/>
              </a:spcBef>
            </a:pPr>
            <a:r>
              <a:rPr lang="en-US" sz="8499" b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Tabla de contenidos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393690" y="1981579"/>
            <a:ext cx="755841" cy="755841"/>
            <a:chOff x="0" y="0"/>
            <a:chExt cx="244674" cy="24467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56945" y="3176601"/>
            <a:ext cx="229331" cy="229331"/>
            <a:chOff x="0" y="0"/>
            <a:chExt cx="74237" cy="7423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479498" y="2849344"/>
            <a:ext cx="326022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Problema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393690" y="2919285"/>
            <a:ext cx="755841" cy="755841"/>
            <a:chOff x="0" y="0"/>
            <a:chExt cx="244674" cy="24467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2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56945" y="4114307"/>
            <a:ext cx="229331" cy="229331"/>
            <a:chOff x="0" y="0"/>
            <a:chExt cx="74237" cy="7423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479498" y="3787049"/>
            <a:ext cx="388539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Necesidades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393690" y="3856990"/>
            <a:ext cx="755841" cy="755841"/>
            <a:chOff x="0" y="0"/>
            <a:chExt cx="244674" cy="24467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656945" y="5052012"/>
            <a:ext cx="229331" cy="229331"/>
            <a:chOff x="0" y="0"/>
            <a:chExt cx="74237" cy="7423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9144000" y="1911639"/>
            <a:ext cx="3760074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H. Usuario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393690" y="4794695"/>
            <a:ext cx="755841" cy="755841"/>
            <a:chOff x="0" y="0"/>
            <a:chExt cx="244674" cy="24467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4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656945" y="5989717"/>
            <a:ext cx="229331" cy="229331"/>
            <a:chOff x="0" y="0"/>
            <a:chExt cx="74237" cy="7423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2479498" y="5662460"/>
            <a:ext cx="4120432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R-Funcionales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393690" y="5732400"/>
            <a:ext cx="755841" cy="755841"/>
            <a:chOff x="0" y="0"/>
            <a:chExt cx="244674" cy="24467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656945" y="6927423"/>
            <a:ext cx="229331" cy="229331"/>
            <a:chOff x="0" y="0"/>
            <a:chExt cx="74237" cy="74237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2479498" y="6600165"/>
            <a:ext cx="5075700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R-No funcionales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393690" y="6670106"/>
            <a:ext cx="755841" cy="755841"/>
            <a:chOff x="0" y="0"/>
            <a:chExt cx="244674" cy="24467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6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656945" y="8832585"/>
            <a:ext cx="229331" cy="229331"/>
            <a:chOff x="0" y="0"/>
            <a:chExt cx="74237" cy="74237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2589692" y="8480019"/>
            <a:ext cx="367870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Arquitectura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393690" y="8575269"/>
            <a:ext cx="755841" cy="755841"/>
            <a:chOff x="0" y="0"/>
            <a:chExt cx="244674" cy="24467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8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287340" y="2236833"/>
            <a:ext cx="229331" cy="229331"/>
            <a:chOff x="0" y="0"/>
            <a:chExt cx="74237" cy="74237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9144000" y="2821971"/>
            <a:ext cx="367870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Metodología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8024085" y="1979516"/>
            <a:ext cx="755841" cy="755841"/>
            <a:chOff x="0" y="0"/>
            <a:chExt cx="244674" cy="244674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9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287340" y="3174538"/>
            <a:ext cx="229331" cy="229331"/>
            <a:chOff x="0" y="0"/>
            <a:chExt cx="74237" cy="74237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63" name="TextBox 63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9144000" y="3787049"/>
            <a:ext cx="326022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Roles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8024085" y="2917221"/>
            <a:ext cx="755841" cy="755841"/>
            <a:chOff x="0" y="0"/>
            <a:chExt cx="244674" cy="244674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67" name="TextBox 67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10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8287340" y="4112243"/>
            <a:ext cx="229331" cy="229331"/>
            <a:chOff x="0" y="0"/>
            <a:chExt cx="74237" cy="74237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70" name="TextBox 70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9144000" y="5662460"/>
            <a:ext cx="326022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Sprints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8024085" y="3854926"/>
            <a:ext cx="755841" cy="755841"/>
            <a:chOff x="0" y="0"/>
            <a:chExt cx="244674" cy="244674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74" name="TextBox 74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11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8287340" y="5049948"/>
            <a:ext cx="229331" cy="229331"/>
            <a:chOff x="0" y="0"/>
            <a:chExt cx="74237" cy="74237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77" name="TextBox 77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9144000" y="4724754"/>
            <a:ext cx="326022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Evidencias</a:t>
            </a:r>
          </a:p>
        </p:txBody>
      </p:sp>
      <p:grpSp>
        <p:nvGrpSpPr>
          <p:cNvPr id="79" name="Group 79"/>
          <p:cNvGrpSpPr/>
          <p:nvPr/>
        </p:nvGrpSpPr>
        <p:grpSpPr>
          <a:xfrm>
            <a:off x="8024085" y="4792632"/>
            <a:ext cx="755841" cy="755841"/>
            <a:chOff x="0" y="0"/>
            <a:chExt cx="244674" cy="244674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81" name="TextBox 81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12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8287340" y="5987654"/>
            <a:ext cx="229331" cy="229331"/>
            <a:chOff x="0" y="0"/>
            <a:chExt cx="74237" cy="74237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84" name="TextBox 84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85" name="TextBox 85"/>
          <p:cNvSpPr txBox="1"/>
          <p:nvPr/>
        </p:nvSpPr>
        <p:spPr>
          <a:xfrm>
            <a:off x="9144000" y="6635547"/>
            <a:ext cx="3562459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Cronograma</a:t>
            </a:r>
          </a:p>
        </p:txBody>
      </p:sp>
      <p:grpSp>
        <p:nvGrpSpPr>
          <p:cNvPr id="86" name="Group 86"/>
          <p:cNvGrpSpPr/>
          <p:nvPr/>
        </p:nvGrpSpPr>
        <p:grpSpPr>
          <a:xfrm>
            <a:off x="8024085" y="5730337"/>
            <a:ext cx="755841" cy="755841"/>
            <a:chOff x="0" y="0"/>
            <a:chExt cx="244674" cy="244674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88" name="TextBox 88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13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656945" y="7762319"/>
            <a:ext cx="229331" cy="229331"/>
            <a:chOff x="0" y="0"/>
            <a:chExt cx="74237" cy="74237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91" name="TextBox 91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92" name="TextBox 92"/>
          <p:cNvSpPr txBox="1"/>
          <p:nvPr/>
        </p:nvSpPr>
        <p:spPr>
          <a:xfrm>
            <a:off x="2479498" y="7539937"/>
            <a:ext cx="326022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Epicas</a:t>
            </a:r>
          </a:p>
        </p:txBody>
      </p:sp>
      <p:grpSp>
        <p:nvGrpSpPr>
          <p:cNvPr id="93" name="Group 93"/>
          <p:cNvGrpSpPr/>
          <p:nvPr/>
        </p:nvGrpSpPr>
        <p:grpSpPr>
          <a:xfrm>
            <a:off x="1393690" y="7609874"/>
            <a:ext cx="755841" cy="755841"/>
            <a:chOff x="0" y="0"/>
            <a:chExt cx="244674" cy="244674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95" name="TextBox 95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7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8287340" y="6822550"/>
            <a:ext cx="229331" cy="229331"/>
            <a:chOff x="0" y="0"/>
            <a:chExt cx="74237" cy="74237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98" name="TextBox 98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99" name="TextBox 99"/>
          <p:cNvSpPr txBox="1"/>
          <p:nvPr/>
        </p:nvSpPr>
        <p:spPr>
          <a:xfrm>
            <a:off x="9144000" y="7512561"/>
            <a:ext cx="326022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Conclusión</a:t>
            </a:r>
          </a:p>
        </p:txBody>
      </p:sp>
      <p:grpSp>
        <p:nvGrpSpPr>
          <p:cNvPr id="100" name="Group 100"/>
          <p:cNvGrpSpPr/>
          <p:nvPr/>
        </p:nvGrpSpPr>
        <p:grpSpPr>
          <a:xfrm>
            <a:off x="8024085" y="6670106"/>
            <a:ext cx="755841" cy="755841"/>
            <a:chOff x="0" y="0"/>
            <a:chExt cx="244674" cy="244674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102" name="TextBox 102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14</a:t>
              </a:r>
            </a:p>
          </p:txBody>
        </p:sp>
      </p:grpSp>
      <p:sp>
        <p:nvSpPr>
          <p:cNvPr id="103" name="TextBox 103"/>
          <p:cNvSpPr txBox="1"/>
          <p:nvPr/>
        </p:nvSpPr>
        <p:spPr>
          <a:xfrm>
            <a:off x="2479498" y="4724754"/>
            <a:ext cx="388539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Solución</a:t>
            </a:r>
          </a:p>
        </p:txBody>
      </p:sp>
      <p:grpSp>
        <p:nvGrpSpPr>
          <p:cNvPr id="104" name="Group 104"/>
          <p:cNvGrpSpPr/>
          <p:nvPr/>
        </p:nvGrpSpPr>
        <p:grpSpPr>
          <a:xfrm>
            <a:off x="8024085" y="7606922"/>
            <a:ext cx="755841" cy="755841"/>
            <a:chOff x="0" y="0"/>
            <a:chExt cx="244674" cy="244674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106" name="TextBox 106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15</a:t>
              </a:r>
            </a:p>
          </p:txBody>
        </p:sp>
      </p:grpSp>
      <p:sp>
        <p:nvSpPr>
          <p:cNvPr id="107" name="TextBox 107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535781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279353" y="4141262"/>
            <a:ext cx="3274068" cy="2654972"/>
          </a:xfrm>
          <a:custGeom>
            <a:avLst/>
            <a:gdLst/>
            <a:ahLst/>
            <a:cxnLst/>
            <a:rect l="l" t="t" r="r" b="b"/>
            <a:pathLst>
              <a:path w="3274068" h="2654972">
                <a:moveTo>
                  <a:pt x="0" y="0"/>
                </a:moveTo>
                <a:lnTo>
                  <a:pt x="3274069" y="0"/>
                </a:lnTo>
                <a:lnTo>
                  <a:pt x="3274069" y="2654971"/>
                </a:lnTo>
                <a:lnTo>
                  <a:pt x="0" y="26549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35295" y="3162300"/>
            <a:ext cx="12937383" cy="4873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Farmacias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Maira es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una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empresa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farmacéutica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que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busca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optimizar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la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gestión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de sus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procesos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y la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interacción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con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proveedores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. </a:t>
            </a:r>
          </a:p>
          <a:p>
            <a:pPr algn="just">
              <a:lnSpc>
                <a:spcPts val="3780"/>
              </a:lnSpc>
            </a:pPr>
            <a:endParaRPr lang="en-US" sz="3200" dirty="0">
              <a:solidFill>
                <a:srgbClr val="545454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3780"/>
              </a:lnSpc>
              <a:spcBef>
                <a:spcPct val="0"/>
              </a:spcBef>
            </a:pP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Se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enfocan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en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suplir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la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necesidad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de la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comunidad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de Miraflores alto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en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la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comuna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viña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del mar.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Otorgando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acceso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a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medicamentos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lo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más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cerca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posible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de sus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hogares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. Esta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empresa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cuenta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con 2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dueñas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, Yasna Maira y Yovanna Maira,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siendo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esta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ultima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encargada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de las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compras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, la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gestión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nuestro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cliente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directo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para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el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desarrollo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del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proyecto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4578" y="1409700"/>
            <a:ext cx="7253939" cy="964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 dirty="0" err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Contexto</a:t>
            </a:r>
            <a:endParaRPr lang="en-US" sz="5592" b="1" dirty="0">
              <a:solidFill>
                <a:srgbClr val="1A1A1A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535781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310578" y="4229100"/>
            <a:ext cx="3349098" cy="2679278"/>
          </a:xfrm>
          <a:custGeom>
            <a:avLst/>
            <a:gdLst/>
            <a:ahLst/>
            <a:cxnLst/>
            <a:rect l="l" t="t" r="r" b="b"/>
            <a:pathLst>
              <a:path w="3349098" h="2679278">
                <a:moveTo>
                  <a:pt x="0" y="0"/>
                </a:moveTo>
                <a:lnTo>
                  <a:pt x="3349098" y="0"/>
                </a:lnTo>
                <a:lnTo>
                  <a:pt x="3349098" y="2679278"/>
                </a:lnTo>
                <a:lnTo>
                  <a:pt x="0" y="26792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28324" y="1409700"/>
            <a:ext cx="7253939" cy="964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 dirty="0" err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Problema</a:t>
            </a:r>
            <a:endParaRPr lang="en-US" sz="5592" b="1" dirty="0">
              <a:solidFill>
                <a:srgbClr val="1A1A1A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28324" y="3543300"/>
            <a:ext cx="12707824" cy="4273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Farmacias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Maira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actualmente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cotiza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manualmente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, lo que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provoca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...</a:t>
            </a:r>
          </a:p>
          <a:p>
            <a:pPr algn="just">
              <a:lnSpc>
                <a:spcPts val="4199"/>
              </a:lnSpc>
            </a:pPr>
            <a:endParaRPr lang="en-US" sz="3200" dirty="0">
              <a:solidFill>
                <a:srgbClr val="545454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7694" lvl="1" indent="-323847" algn="just">
              <a:lnSpc>
                <a:spcPts val="4199"/>
              </a:lnSpc>
              <a:buFont typeface="Arial"/>
              <a:buChar char="•"/>
            </a:pP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Perdida de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tiempo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cotizando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múltiples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páginas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web.</a:t>
            </a:r>
          </a:p>
          <a:p>
            <a:pPr marL="647694" lvl="1" indent="-323847" algn="just">
              <a:lnSpc>
                <a:spcPts val="4199"/>
              </a:lnSpc>
              <a:buFont typeface="Arial"/>
              <a:buChar char="•"/>
            </a:pP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Perdida de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tiempo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cotizando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correos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con Excels.</a:t>
            </a:r>
          </a:p>
          <a:p>
            <a:pPr marL="647694" lvl="1" indent="-323847" algn="just">
              <a:lnSpc>
                <a:spcPts val="4199"/>
              </a:lnSpc>
              <a:buFont typeface="Arial"/>
              <a:buChar char="•"/>
            </a:pP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Dificultad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en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la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toma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decisiones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compras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marL="647694" lvl="1" indent="-323847" algn="just">
              <a:lnSpc>
                <a:spcPts val="4199"/>
              </a:lnSpc>
              <a:buFont typeface="Arial"/>
              <a:buChar char="•"/>
            </a:pP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Ineficiencia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al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comprar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a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los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proveedores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  <a:endParaRPr lang="en-US" sz="2999" dirty="0">
              <a:solidFill>
                <a:srgbClr val="545454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3">
            <a:extLst>
              <a:ext uri="{FF2B5EF4-FFF2-40B4-BE49-F238E27FC236}">
                <a16:creationId xmlns:a16="http://schemas.microsoft.com/office/drawing/2014/main" id="{6F66CE10-BF7F-F455-2667-2EC2417AAEE3}"/>
              </a:ext>
            </a:extLst>
          </p:cNvPr>
          <p:cNvSpPr/>
          <p:nvPr/>
        </p:nvSpPr>
        <p:spPr>
          <a:xfrm>
            <a:off x="0" y="-214312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2" name="Freeform 2"/>
          <p:cNvSpPr/>
          <p:nvPr/>
        </p:nvSpPr>
        <p:spPr>
          <a:xfrm>
            <a:off x="12245040" y="2574991"/>
            <a:ext cx="5432503" cy="5439302"/>
          </a:xfrm>
          <a:custGeom>
            <a:avLst/>
            <a:gdLst/>
            <a:ahLst/>
            <a:cxnLst/>
            <a:rect l="l" t="t" r="r" b="b"/>
            <a:pathLst>
              <a:path w="5432503" h="5439302">
                <a:moveTo>
                  <a:pt x="0" y="0"/>
                </a:moveTo>
                <a:lnTo>
                  <a:pt x="5432503" y="0"/>
                </a:lnTo>
                <a:lnTo>
                  <a:pt x="5432503" y="5439302"/>
                </a:lnTo>
                <a:lnTo>
                  <a:pt x="0" y="54393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11618" y="276625"/>
            <a:ext cx="9653841" cy="88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39"/>
              </a:lnSpc>
              <a:spcBef>
                <a:spcPct val="0"/>
              </a:spcBef>
            </a:pPr>
            <a:r>
              <a:rPr lang="en-US" sz="5099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Necesidad</a:t>
            </a:r>
            <a:endParaRPr lang="en-US" sz="50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11618" y="1416759"/>
            <a:ext cx="10717421" cy="1506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57"/>
              </a:lnSpc>
              <a:spcBef>
                <a:spcPct val="0"/>
              </a:spcBef>
            </a:pP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Farmacias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Maira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requiere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una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herramienta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moderna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escalable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centralizada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que le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permita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gestionar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analizar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eficientemente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sus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ventas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cotizaciones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optimizando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la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toma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decisiones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comerciales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el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control del stock de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productos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11618" y="4222899"/>
            <a:ext cx="11433422" cy="5546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0691" lvl="1" indent="-230346" algn="l">
              <a:lnSpc>
                <a:spcPts val="2987"/>
              </a:lnSpc>
              <a:buFont typeface="Arial"/>
              <a:buChar char="•"/>
            </a:pPr>
            <a:r>
              <a:rPr lang="en-US" sz="2133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Centralización de información: </a:t>
            </a:r>
            <a:r>
              <a:rPr lang="en-US" sz="213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 necesario un sistema que unifique los datos de ventas, proveedores y productos, reduciendo errores y duplicidad de información.</a:t>
            </a:r>
          </a:p>
          <a:p>
            <a:pPr algn="l">
              <a:lnSpc>
                <a:spcPts val="2987"/>
              </a:lnSpc>
            </a:pPr>
            <a:endParaRPr lang="en-US" sz="2133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460691" lvl="1" indent="-230346" algn="l">
              <a:lnSpc>
                <a:spcPts val="2987"/>
              </a:lnSpc>
              <a:buFont typeface="Arial"/>
              <a:buChar char="•"/>
            </a:pPr>
            <a:r>
              <a:rPr lang="en-US" sz="2133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Automatización de cotizaciones: </a:t>
            </a:r>
            <a:r>
              <a:rPr lang="en-US" sz="213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 requiere agilizar la búsqueda y comparación de precios entre distintos proveedores, disminuyendo los tiempos de respuesta y mejorando la rentabilidad.</a:t>
            </a:r>
          </a:p>
          <a:p>
            <a:pPr algn="l">
              <a:lnSpc>
                <a:spcPts val="2987"/>
              </a:lnSpc>
            </a:pPr>
            <a:endParaRPr lang="en-US" sz="2133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460691" lvl="1" indent="-230346" algn="l">
              <a:lnSpc>
                <a:spcPts val="2987"/>
              </a:lnSpc>
              <a:buFont typeface="Arial"/>
              <a:buChar char="•"/>
            </a:pPr>
            <a:r>
              <a:rPr lang="en-US" sz="2133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Análisis inteligente de ventas: </a:t>
            </a:r>
            <a:r>
              <a:rPr lang="en-US" sz="213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La administración necesita acceder a métricas claras sobre productos más vendidos, márgenes de ganancia y comportamiento de ventas en el tiempo</a:t>
            </a:r>
            <a:r>
              <a:rPr lang="en-US" sz="2133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  <a:p>
            <a:pPr algn="l">
              <a:lnSpc>
                <a:spcPts val="2987"/>
              </a:lnSpc>
            </a:pPr>
            <a:endParaRPr lang="en-US" sz="2133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460691" lvl="1" indent="-230346" algn="l">
              <a:lnSpc>
                <a:spcPts val="2987"/>
              </a:lnSpc>
              <a:buFont typeface="Arial"/>
              <a:buChar char="•"/>
            </a:pPr>
            <a:r>
              <a:rPr lang="en-US" sz="2133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Eficiencia y actualización continua: </a:t>
            </a:r>
            <a:r>
              <a:rPr lang="en-US" sz="213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La herramienta debe ser automatizada, de fácil mantenimiento y adaptable a nuevos requerimientos o fuentes de datos en el futuro.</a:t>
            </a:r>
          </a:p>
          <a:p>
            <a:pPr algn="l">
              <a:lnSpc>
                <a:spcPts val="2987"/>
              </a:lnSpc>
            </a:pPr>
            <a:endParaRPr lang="en-US" sz="2133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11618" y="3133088"/>
            <a:ext cx="9653841" cy="88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39"/>
              </a:lnSpc>
              <a:spcBef>
                <a:spcPct val="0"/>
              </a:spcBef>
            </a:pPr>
            <a:r>
              <a:rPr lang="en-US" sz="50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Necesidades Especificas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3">
            <a:extLst>
              <a:ext uri="{FF2B5EF4-FFF2-40B4-BE49-F238E27FC236}">
                <a16:creationId xmlns:a16="http://schemas.microsoft.com/office/drawing/2014/main" id="{BBCCAAA6-7E56-0D70-7E65-9D537A97ED00}"/>
              </a:ext>
            </a:extLst>
          </p:cNvPr>
          <p:cNvSpPr/>
          <p:nvPr/>
        </p:nvSpPr>
        <p:spPr>
          <a:xfrm>
            <a:off x="0" y="-214312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2" name="TextBox 2"/>
          <p:cNvSpPr txBox="1"/>
          <p:nvPr/>
        </p:nvSpPr>
        <p:spPr>
          <a:xfrm>
            <a:off x="1028700" y="324102"/>
            <a:ext cx="13111416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Solución - Aqui entra Maira Analytics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607469"/>
            <a:ext cx="10071397" cy="5899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Una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página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web que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permita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a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Farmacias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Maira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visualizar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un ranking de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los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productos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más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vendidos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consultar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simultáneamente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los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catálogos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múltiples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proveedores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comparar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la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rentabilidad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medicamentos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entre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sucursales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procesar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las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cotizaciones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recibidas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por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correo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electrónico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  <a:endParaRPr lang="en-US" sz="2999" dirty="0">
              <a:solidFill>
                <a:srgbClr val="54545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De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esta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manera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, la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empresa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podrá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optimizar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la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gestión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su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inventario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reducir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tiempos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búsqueda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cotización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, y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contar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con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información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precisa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centralizada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para la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toma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decisiones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id="4" name="Freeform 4"/>
          <p:cNvSpPr/>
          <p:nvPr/>
        </p:nvSpPr>
        <p:spPr>
          <a:xfrm>
            <a:off x="12237574" y="2189286"/>
            <a:ext cx="4929888" cy="5358574"/>
          </a:xfrm>
          <a:custGeom>
            <a:avLst/>
            <a:gdLst/>
            <a:ahLst/>
            <a:cxnLst/>
            <a:rect l="l" t="t" r="r" b="b"/>
            <a:pathLst>
              <a:path w="4929888" h="5358574">
                <a:moveTo>
                  <a:pt x="0" y="0"/>
                </a:moveTo>
                <a:lnTo>
                  <a:pt x="4929888" y="0"/>
                </a:lnTo>
                <a:lnTo>
                  <a:pt x="4929888" y="5358574"/>
                </a:lnTo>
                <a:lnTo>
                  <a:pt x="0" y="53585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 3">
            <a:extLst>
              <a:ext uri="{FF2B5EF4-FFF2-40B4-BE49-F238E27FC236}">
                <a16:creationId xmlns:a16="http://schemas.microsoft.com/office/drawing/2014/main" id="{A5EC787F-6166-AE4C-878A-D9D184DA6641}"/>
              </a:ext>
            </a:extLst>
          </p:cNvPr>
          <p:cNvSpPr/>
          <p:nvPr/>
        </p:nvSpPr>
        <p:spPr>
          <a:xfrm>
            <a:off x="0" y="-214312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2" name="Freeform 2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9278187" y="2364637"/>
            <a:ext cx="8325931" cy="1134540"/>
            <a:chOff x="0" y="0"/>
            <a:chExt cx="1512203" cy="20606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12203" cy="206062"/>
            </a:xfrm>
            <a:custGeom>
              <a:avLst/>
              <a:gdLst/>
              <a:ahLst/>
              <a:cxnLst/>
              <a:rect l="l" t="t" r="r" b="b"/>
              <a:pathLst>
                <a:path w="1512203" h="206062">
                  <a:moveTo>
                    <a:pt x="21387" y="0"/>
                  </a:moveTo>
                  <a:lnTo>
                    <a:pt x="1490816" y="0"/>
                  </a:lnTo>
                  <a:cubicBezTo>
                    <a:pt x="1496489" y="0"/>
                    <a:pt x="1501928" y="2253"/>
                    <a:pt x="1505939" y="6264"/>
                  </a:cubicBezTo>
                  <a:cubicBezTo>
                    <a:pt x="1509950" y="10275"/>
                    <a:pt x="1512203" y="15715"/>
                    <a:pt x="1512203" y="21387"/>
                  </a:cubicBezTo>
                  <a:lnTo>
                    <a:pt x="1512203" y="184675"/>
                  </a:lnTo>
                  <a:cubicBezTo>
                    <a:pt x="1512203" y="190347"/>
                    <a:pt x="1509950" y="195787"/>
                    <a:pt x="1505939" y="199798"/>
                  </a:cubicBezTo>
                  <a:cubicBezTo>
                    <a:pt x="1501928" y="203808"/>
                    <a:pt x="1496489" y="206062"/>
                    <a:pt x="1490816" y="206062"/>
                  </a:cubicBezTo>
                  <a:lnTo>
                    <a:pt x="21387" y="206062"/>
                  </a:lnTo>
                  <a:cubicBezTo>
                    <a:pt x="15715" y="206062"/>
                    <a:pt x="10275" y="203808"/>
                    <a:pt x="6264" y="199798"/>
                  </a:cubicBezTo>
                  <a:cubicBezTo>
                    <a:pt x="2253" y="195787"/>
                    <a:pt x="0" y="190347"/>
                    <a:pt x="0" y="184675"/>
                  </a:cubicBezTo>
                  <a:lnTo>
                    <a:pt x="0" y="21387"/>
                  </a:lnTo>
                  <a:cubicBezTo>
                    <a:pt x="0" y="15715"/>
                    <a:pt x="2253" y="10275"/>
                    <a:pt x="6264" y="6264"/>
                  </a:cubicBezTo>
                  <a:cubicBezTo>
                    <a:pt x="10275" y="2253"/>
                    <a:pt x="15715" y="0"/>
                    <a:pt x="21387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chemeClr val="accent6"/>
              </a:solidFill>
              <a:prstDash val="solid"/>
              <a:round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2441160" y="2636632"/>
            <a:ext cx="1986913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Seguridad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2575" y="65849"/>
            <a:ext cx="5807859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Requerimientos 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278187" y="3918277"/>
            <a:ext cx="8325931" cy="1134540"/>
            <a:chOff x="0" y="0"/>
            <a:chExt cx="1512203" cy="20606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12203" cy="206062"/>
            </a:xfrm>
            <a:custGeom>
              <a:avLst/>
              <a:gdLst/>
              <a:ahLst/>
              <a:cxnLst/>
              <a:rect l="l" t="t" r="r" b="b"/>
              <a:pathLst>
                <a:path w="1512203" h="206062">
                  <a:moveTo>
                    <a:pt x="21387" y="0"/>
                  </a:moveTo>
                  <a:lnTo>
                    <a:pt x="1490816" y="0"/>
                  </a:lnTo>
                  <a:cubicBezTo>
                    <a:pt x="1496489" y="0"/>
                    <a:pt x="1501928" y="2253"/>
                    <a:pt x="1505939" y="6264"/>
                  </a:cubicBezTo>
                  <a:cubicBezTo>
                    <a:pt x="1509950" y="10275"/>
                    <a:pt x="1512203" y="15715"/>
                    <a:pt x="1512203" y="21387"/>
                  </a:cubicBezTo>
                  <a:lnTo>
                    <a:pt x="1512203" y="184675"/>
                  </a:lnTo>
                  <a:cubicBezTo>
                    <a:pt x="1512203" y="190347"/>
                    <a:pt x="1509950" y="195787"/>
                    <a:pt x="1505939" y="199798"/>
                  </a:cubicBezTo>
                  <a:cubicBezTo>
                    <a:pt x="1501928" y="203808"/>
                    <a:pt x="1496489" y="206062"/>
                    <a:pt x="1490816" y="206062"/>
                  </a:cubicBezTo>
                  <a:lnTo>
                    <a:pt x="21387" y="206062"/>
                  </a:lnTo>
                  <a:cubicBezTo>
                    <a:pt x="15715" y="206062"/>
                    <a:pt x="10275" y="203808"/>
                    <a:pt x="6264" y="199798"/>
                  </a:cubicBezTo>
                  <a:cubicBezTo>
                    <a:pt x="2253" y="195787"/>
                    <a:pt x="0" y="190347"/>
                    <a:pt x="0" y="184675"/>
                  </a:cubicBezTo>
                  <a:lnTo>
                    <a:pt x="0" y="21387"/>
                  </a:lnTo>
                  <a:cubicBezTo>
                    <a:pt x="0" y="15715"/>
                    <a:pt x="2253" y="10275"/>
                    <a:pt x="6264" y="6264"/>
                  </a:cubicBezTo>
                  <a:cubicBezTo>
                    <a:pt x="10275" y="2253"/>
                    <a:pt x="15715" y="0"/>
                    <a:pt x="21387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chemeClr val="accent6"/>
              </a:solidFill>
              <a:prstDash val="solid"/>
              <a:round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028700" y="3918277"/>
            <a:ext cx="8089603" cy="1134540"/>
            <a:chOff x="0" y="0"/>
            <a:chExt cx="1469280" cy="20606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9280" cy="206062"/>
            </a:xfrm>
            <a:custGeom>
              <a:avLst/>
              <a:gdLst/>
              <a:ahLst/>
              <a:cxnLst/>
              <a:rect l="l" t="t" r="r" b="b"/>
              <a:pathLst>
                <a:path w="1469280" h="206062">
                  <a:moveTo>
                    <a:pt x="22011" y="0"/>
                  </a:moveTo>
                  <a:lnTo>
                    <a:pt x="1447269" y="0"/>
                  </a:lnTo>
                  <a:cubicBezTo>
                    <a:pt x="1453106" y="0"/>
                    <a:pt x="1458705" y="2319"/>
                    <a:pt x="1462833" y="6447"/>
                  </a:cubicBezTo>
                  <a:cubicBezTo>
                    <a:pt x="1466961" y="10575"/>
                    <a:pt x="1469280" y="16174"/>
                    <a:pt x="1469280" y="22011"/>
                  </a:cubicBezTo>
                  <a:lnTo>
                    <a:pt x="1469280" y="184050"/>
                  </a:lnTo>
                  <a:cubicBezTo>
                    <a:pt x="1469280" y="189888"/>
                    <a:pt x="1466961" y="195487"/>
                    <a:pt x="1462833" y="199615"/>
                  </a:cubicBezTo>
                  <a:cubicBezTo>
                    <a:pt x="1458705" y="203743"/>
                    <a:pt x="1453106" y="206062"/>
                    <a:pt x="1447269" y="206062"/>
                  </a:cubicBezTo>
                  <a:lnTo>
                    <a:pt x="22011" y="206062"/>
                  </a:lnTo>
                  <a:cubicBezTo>
                    <a:pt x="16174" y="206062"/>
                    <a:pt x="10575" y="203743"/>
                    <a:pt x="6447" y="199615"/>
                  </a:cubicBezTo>
                  <a:cubicBezTo>
                    <a:pt x="2319" y="195487"/>
                    <a:pt x="0" y="189888"/>
                    <a:pt x="0" y="184050"/>
                  </a:cubicBezTo>
                  <a:lnTo>
                    <a:pt x="0" y="22011"/>
                  </a:lnTo>
                  <a:cubicBezTo>
                    <a:pt x="0" y="16174"/>
                    <a:pt x="2319" y="10575"/>
                    <a:pt x="6447" y="6447"/>
                  </a:cubicBezTo>
                  <a:cubicBezTo>
                    <a:pt x="10575" y="2319"/>
                    <a:pt x="16174" y="0"/>
                    <a:pt x="2201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chemeClr val="accent6"/>
              </a:solidFill>
              <a:prstDash val="solid"/>
              <a:round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2049401" y="4186042"/>
            <a:ext cx="269473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Disponibilidad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278187" y="5471917"/>
            <a:ext cx="8325931" cy="1134540"/>
            <a:chOff x="0" y="0"/>
            <a:chExt cx="1512203" cy="20606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12203" cy="206062"/>
            </a:xfrm>
            <a:custGeom>
              <a:avLst/>
              <a:gdLst/>
              <a:ahLst/>
              <a:cxnLst/>
              <a:rect l="l" t="t" r="r" b="b"/>
              <a:pathLst>
                <a:path w="1512203" h="206062">
                  <a:moveTo>
                    <a:pt x="21387" y="0"/>
                  </a:moveTo>
                  <a:lnTo>
                    <a:pt x="1490816" y="0"/>
                  </a:lnTo>
                  <a:cubicBezTo>
                    <a:pt x="1496489" y="0"/>
                    <a:pt x="1501928" y="2253"/>
                    <a:pt x="1505939" y="6264"/>
                  </a:cubicBezTo>
                  <a:cubicBezTo>
                    <a:pt x="1509950" y="10275"/>
                    <a:pt x="1512203" y="15715"/>
                    <a:pt x="1512203" y="21387"/>
                  </a:cubicBezTo>
                  <a:lnTo>
                    <a:pt x="1512203" y="184675"/>
                  </a:lnTo>
                  <a:cubicBezTo>
                    <a:pt x="1512203" y="190347"/>
                    <a:pt x="1509950" y="195787"/>
                    <a:pt x="1505939" y="199798"/>
                  </a:cubicBezTo>
                  <a:cubicBezTo>
                    <a:pt x="1501928" y="203808"/>
                    <a:pt x="1496489" y="206062"/>
                    <a:pt x="1490816" y="206062"/>
                  </a:cubicBezTo>
                  <a:lnTo>
                    <a:pt x="21387" y="206062"/>
                  </a:lnTo>
                  <a:cubicBezTo>
                    <a:pt x="15715" y="206062"/>
                    <a:pt x="10275" y="203808"/>
                    <a:pt x="6264" y="199798"/>
                  </a:cubicBezTo>
                  <a:cubicBezTo>
                    <a:pt x="2253" y="195787"/>
                    <a:pt x="0" y="190347"/>
                    <a:pt x="0" y="184675"/>
                  </a:cubicBezTo>
                  <a:lnTo>
                    <a:pt x="0" y="21387"/>
                  </a:lnTo>
                  <a:cubicBezTo>
                    <a:pt x="0" y="15715"/>
                    <a:pt x="2253" y="10275"/>
                    <a:pt x="6264" y="6264"/>
                  </a:cubicBezTo>
                  <a:cubicBezTo>
                    <a:pt x="10275" y="2253"/>
                    <a:pt x="15715" y="0"/>
                    <a:pt x="21387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chemeClr val="accent6"/>
              </a:solidFill>
              <a:prstDash val="solid"/>
              <a:round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2231636" y="5748142"/>
            <a:ext cx="240596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Rendimiento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278187" y="7025556"/>
            <a:ext cx="8325931" cy="1134540"/>
            <a:chOff x="0" y="0"/>
            <a:chExt cx="1512203" cy="20606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12203" cy="206062"/>
            </a:xfrm>
            <a:custGeom>
              <a:avLst/>
              <a:gdLst/>
              <a:ahLst/>
              <a:cxnLst/>
              <a:rect l="l" t="t" r="r" b="b"/>
              <a:pathLst>
                <a:path w="1512203" h="206062">
                  <a:moveTo>
                    <a:pt x="21387" y="0"/>
                  </a:moveTo>
                  <a:lnTo>
                    <a:pt x="1490816" y="0"/>
                  </a:lnTo>
                  <a:cubicBezTo>
                    <a:pt x="1496489" y="0"/>
                    <a:pt x="1501928" y="2253"/>
                    <a:pt x="1505939" y="6264"/>
                  </a:cubicBezTo>
                  <a:cubicBezTo>
                    <a:pt x="1509950" y="10275"/>
                    <a:pt x="1512203" y="15715"/>
                    <a:pt x="1512203" y="21387"/>
                  </a:cubicBezTo>
                  <a:lnTo>
                    <a:pt x="1512203" y="184675"/>
                  </a:lnTo>
                  <a:cubicBezTo>
                    <a:pt x="1512203" y="190347"/>
                    <a:pt x="1509950" y="195787"/>
                    <a:pt x="1505939" y="199798"/>
                  </a:cubicBezTo>
                  <a:cubicBezTo>
                    <a:pt x="1501928" y="203808"/>
                    <a:pt x="1496489" y="206062"/>
                    <a:pt x="1490816" y="206062"/>
                  </a:cubicBezTo>
                  <a:lnTo>
                    <a:pt x="21387" y="206062"/>
                  </a:lnTo>
                  <a:cubicBezTo>
                    <a:pt x="15715" y="206062"/>
                    <a:pt x="10275" y="203808"/>
                    <a:pt x="6264" y="199798"/>
                  </a:cubicBezTo>
                  <a:cubicBezTo>
                    <a:pt x="2253" y="195787"/>
                    <a:pt x="0" y="190347"/>
                    <a:pt x="0" y="184675"/>
                  </a:cubicBezTo>
                  <a:lnTo>
                    <a:pt x="0" y="21387"/>
                  </a:lnTo>
                  <a:cubicBezTo>
                    <a:pt x="0" y="15715"/>
                    <a:pt x="2253" y="10275"/>
                    <a:pt x="6264" y="6264"/>
                  </a:cubicBezTo>
                  <a:cubicBezTo>
                    <a:pt x="10275" y="2253"/>
                    <a:pt x="15715" y="0"/>
                    <a:pt x="21387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chemeClr val="accent6"/>
              </a:solidFill>
              <a:prstDash val="solid"/>
              <a:round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2104722" y="7297551"/>
            <a:ext cx="253287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Escalabilidad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239965" y="8579196"/>
            <a:ext cx="8325931" cy="1134540"/>
            <a:chOff x="0" y="0"/>
            <a:chExt cx="1512203" cy="20606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512203" cy="206062"/>
            </a:xfrm>
            <a:custGeom>
              <a:avLst/>
              <a:gdLst/>
              <a:ahLst/>
              <a:cxnLst/>
              <a:rect l="l" t="t" r="r" b="b"/>
              <a:pathLst>
                <a:path w="1512203" h="206062">
                  <a:moveTo>
                    <a:pt x="21387" y="0"/>
                  </a:moveTo>
                  <a:lnTo>
                    <a:pt x="1490816" y="0"/>
                  </a:lnTo>
                  <a:cubicBezTo>
                    <a:pt x="1496489" y="0"/>
                    <a:pt x="1501928" y="2253"/>
                    <a:pt x="1505939" y="6264"/>
                  </a:cubicBezTo>
                  <a:cubicBezTo>
                    <a:pt x="1509950" y="10275"/>
                    <a:pt x="1512203" y="15715"/>
                    <a:pt x="1512203" y="21387"/>
                  </a:cubicBezTo>
                  <a:lnTo>
                    <a:pt x="1512203" y="184675"/>
                  </a:lnTo>
                  <a:cubicBezTo>
                    <a:pt x="1512203" y="190347"/>
                    <a:pt x="1509950" y="195787"/>
                    <a:pt x="1505939" y="199798"/>
                  </a:cubicBezTo>
                  <a:cubicBezTo>
                    <a:pt x="1501928" y="203808"/>
                    <a:pt x="1496489" y="206062"/>
                    <a:pt x="1490816" y="206062"/>
                  </a:cubicBezTo>
                  <a:lnTo>
                    <a:pt x="21387" y="206062"/>
                  </a:lnTo>
                  <a:cubicBezTo>
                    <a:pt x="15715" y="206062"/>
                    <a:pt x="10275" y="203808"/>
                    <a:pt x="6264" y="199798"/>
                  </a:cubicBezTo>
                  <a:cubicBezTo>
                    <a:pt x="2253" y="195787"/>
                    <a:pt x="0" y="190347"/>
                    <a:pt x="0" y="184675"/>
                  </a:cubicBezTo>
                  <a:lnTo>
                    <a:pt x="0" y="21387"/>
                  </a:lnTo>
                  <a:cubicBezTo>
                    <a:pt x="0" y="15715"/>
                    <a:pt x="2253" y="10275"/>
                    <a:pt x="6264" y="6264"/>
                  </a:cubicBezTo>
                  <a:cubicBezTo>
                    <a:pt x="10275" y="2253"/>
                    <a:pt x="15715" y="0"/>
                    <a:pt x="21387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chemeClr val="accent6"/>
              </a:solidFill>
              <a:prstDash val="solid"/>
              <a:round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12378659" y="8804988"/>
            <a:ext cx="212403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Usabilidad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028700" y="2364637"/>
            <a:ext cx="8089603" cy="1134540"/>
            <a:chOff x="0" y="0"/>
            <a:chExt cx="1469280" cy="20606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69280" cy="206062"/>
            </a:xfrm>
            <a:custGeom>
              <a:avLst/>
              <a:gdLst/>
              <a:ahLst/>
              <a:cxnLst/>
              <a:rect l="l" t="t" r="r" b="b"/>
              <a:pathLst>
                <a:path w="1469280" h="206062">
                  <a:moveTo>
                    <a:pt x="22011" y="0"/>
                  </a:moveTo>
                  <a:lnTo>
                    <a:pt x="1447269" y="0"/>
                  </a:lnTo>
                  <a:cubicBezTo>
                    <a:pt x="1453106" y="0"/>
                    <a:pt x="1458705" y="2319"/>
                    <a:pt x="1462833" y="6447"/>
                  </a:cubicBezTo>
                  <a:cubicBezTo>
                    <a:pt x="1466961" y="10575"/>
                    <a:pt x="1469280" y="16174"/>
                    <a:pt x="1469280" y="22011"/>
                  </a:cubicBezTo>
                  <a:lnTo>
                    <a:pt x="1469280" y="184050"/>
                  </a:lnTo>
                  <a:cubicBezTo>
                    <a:pt x="1469280" y="189888"/>
                    <a:pt x="1466961" y="195487"/>
                    <a:pt x="1462833" y="199615"/>
                  </a:cubicBezTo>
                  <a:cubicBezTo>
                    <a:pt x="1458705" y="203743"/>
                    <a:pt x="1453106" y="206062"/>
                    <a:pt x="1447269" y="206062"/>
                  </a:cubicBezTo>
                  <a:lnTo>
                    <a:pt x="22011" y="206062"/>
                  </a:lnTo>
                  <a:cubicBezTo>
                    <a:pt x="16174" y="206062"/>
                    <a:pt x="10575" y="203743"/>
                    <a:pt x="6447" y="199615"/>
                  </a:cubicBezTo>
                  <a:cubicBezTo>
                    <a:pt x="2319" y="195487"/>
                    <a:pt x="0" y="189888"/>
                    <a:pt x="0" y="184050"/>
                  </a:cubicBezTo>
                  <a:lnTo>
                    <a:pt x="0" y="22011"/>
                  </a:lnTo>
                  <a:cubicBezTo>
                    <a:pt x="0" y="16174"/>
                    <a:pt x="2319" y="10575"/>
                    <a:pt x="6447" y="6447"/>
                  </a:cubicBezTo>
                  <a:cubicBezTo>
                    <a:pt x="10575" y="2319"/>
                    <a:pt x="16174" y="0"/>
                    <a:pt x="2201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chemeClr val="accent6"/>
              </a:solidFill>
              <a:prstDash val="solid"/>
              <a:round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2924840" y="2636632"/>
            <a:ext cx="435334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Ranking de </a:t>
            </a:r>
            <a:r>
              <a:rPr lang="en-US" sz="3000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productos</a:t>
            </a:r>
            <a:endParaRPr lang="en-US" sz="30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575130" y="4186042"/>
            <a:ext cx="692104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Comparar precio entre proveedores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28700" y="5471917"/>
            <a:ext cx="8089603" cy="1134540"/>
            <a:chOff x="0" y="0"/>
            <a:chExt cx="1469280" cy="20606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69280" cy="206062"/>
            </a:xfrm>
            <a:custGeom>
              <a:avLst/>
              <a:gdLst/>
              <a:ahLst/>
              <a:cxnLst/>
              <a:rect l="l" t="t" r="r" b="b"/>
              <a:pathLst>
                <a:path w="1469280" h="206062">
                  <a:moveTo>
                    <a:pt x="22011" y="0"/>
                  </a:moveTo>
                  <a:lnTo>
                    <a:pt x="1447269" y="0"/>
                  </a:lnTo>
                  <a:cubicBezTo>
                    <a:pt x="1453106" y="0"/>
                    <a:pt x="1458705" y="2319"/>
                    <a:pt x="1462833" y="6447"/>
                  </a:cubicBezTo>
                  <a:cubicBezTo>
                    <a:pt x="1466961" y="10575"/>
                    <a:pt x="1469280" y="16174"/>
                    <a:pt x="1469280" y="22011"/>
                  </a:cubicBezTo>
                  <a:lnTo>
                    <a:pt x="1469280" y="184050"/>
                  </a:lnTo>
                  <a:cubicBezTo>
                    <a:pt x="1469280" y="189888"/>
                    <a:pt x="1466961" y="195487"/>
                    <a:pt x="1462833" y="199615"/>
                  </a:cubicBezTo>
                  <a:cubicBezTo>
                    <a:pt x="1458705" y="203743"/>
                    <a:pt x="1453106" y="206062"/>
                    <a:pt x="1447269" y="206062"/>
                  </a:cubicBezTo>
                  <a:lnTo>
                    <a:pt x="22011" y="206062"/>
                  </a:lnTo>
                  <a:cubicBezTo>
                    <a:pt x="16174" y="206062"/>
                    <a:pt x="10575" y="203743"/>
                    <a:pt x="6447" y="199615"/>
                  </a:cubicBezTo>
                  <a:cubicBezTo>
                    <a:pt x="2319" y="195487"/>
                    <a:pt x="0" y="189888"/>
                    <a:pt x="0" y="184050"/>
                  </a:cubicBezTo>
                  <a:lnTo>
                    <a:pt x="0" y="22011"/>
                  </a:lnTo>
                  <a:cubicBezTo>
                    <a:pt x="0" y="16174"/>
                    <a:pt x="2319" y="10575"/>
                    <a:pt x="6447" y="6447"/>
                  </a:cubicBezTo>
                  <a:cubicBezTo>
                    <a:pt x="10575" y="2319"/>
                    <a:pt x="16174" y="0"/>
                    <a:pt x="2201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chemeClr val="accent6"/>
              </a:solidFill>
              <a:prstDash val="solid"/>
              <a:round/>
            </a:ln>
          </p:spPr>
        </p:sp>
      </p:grpSp>
      <p:sp>
        <p:nvSpPr>
          <p:cNvPr id="28" name="TextBox 28"/>
          <p:cNvSpPr txBox="1"/>
          <p:nvPr/>
        </p:nvSpPr>
        <p:spPr>
          <a:xfrm>
            <a:off x="1306494" y="5748142"/>
            <a:ext cx="759003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Comparar rentabilidad entre sucursales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028700" y="7025556"/>
            <a:ext cx="8089603" cy="1134540"/>
            <a:chOff x="0" y="0"/>
            <a:chExt cx="1469280" cy="20606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469280" cy="206062"/>
            </a:xfrm>
            <a:custGeom>
              <a:avLst/>
              <a:gdLst/>
              <a:ahLst/>
              <a:cxnLst/>
              <a:rect l="l" t="t" r="r" b="b"/>
              <a:pathLst>
                <a:path w="1469280" h="206062">
                  <a:moveTo>
                    <a:pt x="22011" y="0"/>
                  </a:moveTo>
                  <a:lnTo>
                    <a:pt x="1447269" y="0"/>
                  </a:lnTo>
                  <a:cubicBezTo>
                    <a:pt x="1453106" y="0"/>
                    <a:pt x="1458705" y="2319"/>
                    <a:pt x="1462833" y="6447"/>
                  </a:cubicBezTo>
                  <a:cubicBezTo>
                    <a:pt x="1466961" y="10575"/>
                    <a:pt x="1469280" y="16174"/>
                    <a:pt x="1469280" y="22011"/>
                  </a:cubicBezTo>
                  <a:lnTo>
                    <a:pt x="1469280" y="184050"/>
                  </a:lnTo>
                  <a:cubicBezTo>
                    <a:pt x="1469280" y="189888"/>
                    <a:pt x="1466961" y="195487"/>
                    <a:pt x="1462833" y="199615"/>
                  </a:cubicBezTo>
                  <a:cubicBezTo>
                    <a:pt x="1458705" y="203743"/>
                    <a:pt x="1453106" y="206062"/>
                    <a:pt x="1447269" y="206062"/>
                  </a:cubicBezTo>
                  <a:lnTo>
                    <a:pt x="22011" y="206062"/>
                  </a:lnTo>
                  <a:cubicBezTo>
                    <a:pt x="16174" y="206062"/>
                    <a:pt x="10575" y="203743"/>
                    <a:pt x="6447" y="199615"/>
                  </a:cubicBezTo>
                  <a:cubicBezTo>
                    <a:pt x="2319" y="195487"/>
                    <a:pt x="0" y="189888"/>
                    <a:pt x="0" y="184050"/>
                  </a:cubicBezTo>
                  <a:lnTo>
                    <a:pt x="0" y="22011"/>
                  </a:lnTo>
                  <a:cubicBezTo>
                    <a:pt x="0" y="16174"/>
                    <a:pt x="2319" y="10575"/>
                    <a:pt x="6447" y="6447"/>
                  </a:cubicBezTo>
                  <a:cubicBezTo>
                    <a:pt x="10575" y="2319"/>
                    <a:pt x="16174" y="0"/>
                    <a:pt x="2201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chemeClr val="accent6"/>
              </a:solidFill>
              <a:prstDash val="solid"/>
              <a:round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1416746" y="7297551"/>
            <a:ext cx="722764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Inteligencia Artificial básica integrada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90478" y="8579196"/>
            <a:ext cx="8089603" cy="1134540"/>
            <a:chOff x="0" y="0"/>
            <a:chExt cx="1469280" cy="20606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469280" cy="206062"/>
            </a:xfrm>
            <a:custGeom>
              <a:avLst/>
              <a:gdLst/>
              <a:ahLst/>
              <a:cxnLst/>
              <a:rect l="l" t="t" r="r" b="b"/>
              <a:pathLst>
                <a:path w="1469280" h="206062">
                  <a:moveTo>
                    <a:pt x="22011" y="0"/>
                  </a:moveTo>
                  <a:lnTo>
                    <a:pt x="1447269" y="0"/>
                  </a:lnTo>
                  <a:cubicBezTo>
                    <a:pt x="1453106" y="0"/>
                    <a:pt x="1458705" y="2319"/>
                    <a:pt x="1462833" y="6447"/>
                  </a:cubicBezTo>
                  <a:cubicBezTo>
                    <a:pt x="1466961" y="10575"/>
                    <a:pt x="1469280" y="16174"/>
                    <a:pt x="1469280" y="22011"/>
                  </a:cubicBezTo>
                  <a:lnTo>
                    <a:pt x="1469280" y="184050"/>
                  </a:lnTo>
                  <a:cubicBezTo>
                    <a:pt x="1469280" y="189888"/>
                    <a:pt x="1466961" y="195487"/>
                    <a:pt x="1462833" y="199615"/>
                  </a:cubicBezTo>
                  <a:cubicBezTo>
                    <a:pt x="1458705" y="203743"/>
                    <a:pt x="1453106" y="206062"/>
                    <a:pt x="1447269" y="206062"/>
                  </a:cubicBezTo>
                  <a:lnTo>
                    <a:pt x="22011" y="206062"/>
                  </a:lnTo>
                  <a:cubicBezTo>
                    <a:pt x="16174" y="206062"/>
                    <a:pt x="10575" y="203743"/>
                    <a:pt x="6447" y="199615"/>
                  </a:cubicBezTo>
                  <a:cubicBezTo>
                    <a:pt x="2319" y="195487"/>
                    <a:pt x="0" y="189888"/>
                    <a:pt x="0" y="184050"/>
                  </a:cubicBezTo>
                  <a:lnTo>
                    <a:pt x="0" y="22011"/>
                  </a:lnTo>
                  <a:cubicBezTo>
                    <a:pt x="0" y="16174"/>
                    <a:pt x="2319" y="10575"/>
                    <a:pt x="6447" y="6447"/>
                  </a:cubicBezTo>
                  <a:cubicBezTo>
                    <a:pt x="10575" y="2319"/>
                    <a:pt x="16174" y="0"/>
                    <a:pt x="2201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chemeClr val="accent6"/>
              </a:solidFill>
              <a:prstDash val="solid"/>
              <a:round/>
            </a:ln>
          </p:spPr>
        </p:sp>
      </p:grpSp>
      <p:sp>
        <p:nvSpPr>
          <p:cNvPr id="34" name="TextBox 34"/>
          <p:cNvSpPr txBox="1"/>
          <p:nvPr/>
        </p:nvSpPr>
        <p:spPr>
          <a:xfrm>
            <a:off x="2043390" y="8804988"/>
            <a:ext cx="611624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Notificación en forma de alertas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513874" y="1488178"/>
            <a:ext cx="3175273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dirty="0" err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Funcionales</a:t>
            </a:r>
            <a:endParaRPr lang="en-US" sz="3999" b="1" dirty="0">
              <a:solidFill>
                <a:srgbClr val="FF6B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1521522" y="1488178"/>
            <a:ext cx="3841163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 funcionales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-214312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t="-30503" b="-30503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583914" y="1479852"/>
            <a:ext cx="1258584" cy="1258584"/>
            <a:chOff x="0" y="0"/>
            <a:chExt cx="244674" cy="24467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44674" cy="292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583914" y="4268951"/>
            <a:ext cx="1258584" cy="1258584"/>
            <a:chOff x="0" y="0"/>
            <a:chExt cx="244674" cy="24467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44674" cy="292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583914" y="7464946"/>
            <a:ext cx="1258584" cy="1258584"/>
            <a:chOff x="0" y="0"/>
            <a:chExt cx="244674" cy="24467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44674" cy="292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2821162" y="1561786"/>
            <a:ext cx="784089" cy="1094715"/>
          </a:xfrm>
          <a:custGeom>
            <a:avLst/>
            <a:gdLst/>
            <a:ahLst/>
            <a:cxnLst/>
            <a:rect l="l" t="t" r="r" b="b"/>
            <a:pathLst>
              <a:path w="784089" h="1094715">
                <a:moveTo>
                  <a:pt x="0" y="0"/>
                </a:moveTo>
                <a:lnTo>
                  <a:pt x="784089" y="0"/>
                </a:lnTo>
                <a:lnTo>
                  <a:pt x="784089" y="1094715"/>
                </a:lnTo>
                <a:lnTo>
                  <a:pt x="0" y="10947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2821162" y="4432820"/>
            <a:ext cx="832759" cy="879448"/>
          </a:xfrm>
          <a:custGeom>
            <a:avLst/>
            <a:gdLst/>
            <a:ahLst/>
            <a:cxnLst/>
            <a:rect l="l" t="t" r="r" b="b"/>
            <a:pathLst>
              <a:path w="832759" h="879448">
                <a:moveTo>
                  <a:pt x="0" y="0"/>
                </a:moveTo>
                <a:lnTo>
                  <a:pt x="832758" y="0"/>
                </a:lnTo>
                <a:lnTo>
                  <a:pt x="832758" y="879448"/>
                </a:lnTo>
                <a:lnTo>
                  <a:pt x="0" y="8794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821162" y="7628815"/>
            <a:ext cx="857467" cy="857467"/>
          </a:xfrm>
          <a:custGeom>
            <a:avLst/>
            <a:gdLst/>
            <a:ahLst/>
            <a:cxnLst/>
            <a:rect l="l" t="t" r="r" b="b"/>
            <a:pathLst>
              <a:path w="857467" h="857467">
                <a:moveTo>
                  <a:pt x="0" y="0"/>
                </a:moveTo>
                <a:lnTo>
                  <a:pt x="857467" y="0"/>
                </a:lnTo>
                <a:lnTo>
                  <a:pt x="857467" y="857467"/>
                </a:lnTo>
                <a:lnTo>
                  <a:pt x="0" y="8574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79637" y="124616"/>
            <a:ext cx="7398321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Algunas</a:t>
            </a: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épicas...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48719" y="1403652"/>
            <a:ext cx="11255366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Épica 1: Ranking y Análisis de Ventas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448719" y="2166294"/>
            <a:ext cx="9140579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Optimizar decisiones de compra con análisis detallado de rendimiento y rentabilidad de productos por sucursal.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48719" y="4356620"/>
            <a:ext cx="11712566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Épica 2: Gestión de Proveedores y Cotizaciones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448719" y="5215447"/>
            <a:ext cx="9340604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Automatizar y centralizar el proceso de cotización con múltiples proveedores para reducir tiempo y mejorar comparación de precios.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348707" y="7552615"/>
            <a:ext cx="11255366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Épica 3: Inteligencia Artificial para Decisiones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48719" y="8264601"/>
            <a:ext cx="11155354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Sistema da recomendaciones inteligentes sobre los productos en el ranking y sobre los productos ofrecidos por proveedores, para optimizar el stock y mejorar márgenes.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14312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517030" y="96740"/>
            <a:ext cx="7253939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 dirty="0" err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Historias</a:t>
            </a:r>
            <a:r>
              <a:rPr lang="en-US" sz="5592" b="1" dirty="0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de </a:t>
            </a:r>
            <a:r>
              <a:rPr lang="en-US" sz="5592" b="1" dirty="0" err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Usuario</a:t>
            </a:r>
            <a:r>
              <a:rPr lang="en-US" sz="5592" b="1" dirty="0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9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2958026D-C17D-E63F-D621-E954CD4EF4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345145"/>
              </p:ext>
            </p:extLst>
          </p:nvPr>
        </p:nvGraphicFramePr>
        <p:xfrm>
          <a:off x="457200" y="1181100"/>
          <a:ext cx="17602200" cy="8753546"/>
        </p:xfrm>
        <a:graphic>
          <a:graphicData uri="http://schemas.openxmlformats.org/drawingml/2006/table">
            <a:tbl>
              <a:tblPr/>
              <a:tblGrid>
                <a:gridCol w="990599">
                  <a:extLst>
                    <a:ext uri="{9D8B030D-6E8A-4147-A177-3AD203B41FA5}">
                      <a16:colId xmlns:a16="http://schemas.microsoft.com/office/drawing/2014/main" val="89697794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832534905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1183109098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655763528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483905788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89431309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423471248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016889607"/>
                    </a:ext>
                  </a:extLst>
                </a:gridCol>
                <a:gridCol w="990601">
                  <a:extLst>
                    <a:ext uri="{9D8B030D-6E8A-4147-A177-3AD203B41FA5}">
                      <a16:colId xmlns:a16="http://schemas.microsoft.com/office/drawing/2014/main" val="1262390719"/>
                    </a:ext>
                  </a:extLst>
                </a:gridCol>
              </a:tblGrid>
              <a:tr h="132866">
                <a:tc rowSpan="2">
                  <a:txBody>
                    <a:bodyPr/>
                    <a:lstStyle/>
                    <a:p>
                      <a:r>
                        <a:rPr lang="es-ES" sz="1800">
                          <a:solidFill>
                            <a:srgbClr val="FFFFFF"/>
                          </a:solidFill>
                          <a:effectLst/>
                        </a:rPr>
                        <a:t>Identificador (ID) de la Historia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FFFFF"/>
                          </a:solidFill>
                          <a:effectLst/>
                        </a:rPr>
                        <a:t>Enunciado de la Historia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rgbClr val="FFFFFF"/>
                          </a:solidFill>
                          <a:effectLst/>
                        </a:rPr>
                        <a:t>Alias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FFFFF"/>
                          </a:solidFill>
                          <a:effectLst/>
                        </a:rPr>
                        <a:t>Estado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FFFFF"/>
                          </a:solidFill>
                          <a:effectLst/>
                        </a:rPr>
                        <a:t>Dimensión / Esfuerzo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FFFFF"/>
                          </a:solidFill>
                          <a:effectLst/>
                        </a:rPr>
                        <a:t>Iteración (Sprint)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FFFFF"/>
                          </a:solidFill>
                          <a:effectLst/>
                        </a:rPr>
                        <a:t>Prioridad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377345"/>
                  </a:ext>
                </a:extLst>
              </a:tr>
              <a:tr h="247096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FFFFF"/>
                          </a:solidFill>
                          <a:effectLst/>
                        </a:rPr>
                        <a:t>Rol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FFFFF"/>
                          </a:solidFill>
                          <a:effectLst/>
                        </a:rPr>
                        <a:t>Descripcion de Funcionalidad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FFFFF"/>
                          </a:solidFill>
                          <a:effectLst/>
                        </a:rPr>
                        <a:t>Razon / Resultado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325085"/>
                  </a:ext>
                </a:extLst>
              </a:tr>
              <a:tr h="876578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HU-01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effectLst/>
                        </a:rPr>
                        <a:t>Administradora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Como administradora de la farmacia quiero que el sistema se conecte al POS para poder centralizar la información de ventas y abastecimiento de productos.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effectLst/>
                        </a:rPr>
                        <a:t>Permitir la extracción automática de datos de ventas para análisis en tiempo real.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Conexion POS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11734B"/>
                          </a:solidFill>
                          <a:effectLst/>
                        </a:rPr>
                        <a:t>Completada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rgbClr val="DF0704"/>
                          </a:solidFill>
                          <a:effectLst/>
                        </a:rPr>
                        <a:t>Alto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rgbClr val="0A53A8"/>
                          </a:solidFill>
                          <a:effectLst/>
                        </a:rPr>
                        <a:t>Sprint 1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rgbClr val="DF0704"/>
                          </a:solidFill>
                          <a:effectLst/>
                        </a:rPr>
                        <a:t>Alta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781401"/>
                  </a:ext>
                </a:extLst>
              </a:tr>
              <a:tr h="1444563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HU-02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Administradora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Como administradora quiero que el sistema almacene los datos del POS en una base de datos estructurada para asegurar la integridad y eficiencia de las consultas.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Asegurar la integridad y disponibilidad de la información para consultas posteriores.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Base de Datos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11734B"/>
                          </a:solidFill>
                          <a:effectLst/>
                        </a:rPr>
                        <a:t>Completada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DF0704"/>
                          </a:solidFill>
                          <a:effectLst/>
                        </a:rPr>
                        <a:t>Alto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0A53A8"/>
                          </a:solidFill>
                          <a:effectLst/>
                        </a:rPr>
                        <a:t>Sprint 1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DF0704"/>
                          </a:solidFill>
                          <a:effectLst/>
                        </a:rPr>
                        <a:t>Alta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704071"/>
                  </a:ext>
                </a:extLst>
              </a:tr>
              <a:tr h="1159453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HU-03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Administradora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Como administradora quiero visualizar un ranking básico de medicamentos más vendidos para identificar los productos prioritarios.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Identificar los productos prioritarios según frecuencia de venta.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Ranking Basico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11734B"/>
                          </a:solidFill>
                          <a:effectLst/>
                        </a:rPr>
                        <a:t>Completada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473821"/>
                          </a:solidFill>
                          <a:effectLst/>
                        </a:rPr>
                        <a:t>Medio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0A53A8"/>
                          </a:solidFill>
                          <a:effectLst/>
                        </a:rPr>
                        <a:t>Sprint 1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DF0704"/>
                          </a:solidFill>
                          <a:effectLst/>
                        </a:rPr>
                        <a:t>Alta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791727"/>
                  </a:ext>
                </a:extLst>
              </a:tr>
              <a:tr h="1273498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HU-04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Administradora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Como administradora quiero exportar reportes de ventas en formato CSV/Excel para analizarlos o compartirlos con terceros.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Facilitar el análisis externo o la entrega de información a terceros.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Exportar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11734B"/>
                          </a:solidFill>
                          <a:effectLst/>
                        </a:rPr>
                        <a:t>Completada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00BF63"/>
                          </a:solidFill>
                          <a:effectLst/>
                        </a:rPr>
                        <a:t>Bajo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0A53A8"/>
                          </a:solidFill>
                          <a:effectLst/>
                        </a:rPr>
                        <a:t>Sprint 1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DF0704"/>
                          </a:solidFill>
                          <a:effectLst/>
                        </a:rPr>
                        <a:t>Alta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431434"/>
                  </a:ext>
                </a:extLst>
              </a:tr>
              <a:tr h="1273498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HU-05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Administradora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Como administradora quiero aplicar filtros por categoría o sucursal en el ranking para obtener información más detallada y segmentada.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Obtener información más detallada y segmentada.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Filtros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11734B"/>
                          </a:solidFill>
                          <a:effectLst/>
                        </a:rPr>
                        <a:t>Completada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DF0704"/>
                          </a:solidFill>
                          <a:effectLst/>
                        </a:rPr>
                        <a:t>Alto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0A53A8"/>
                          </a:solidFill>
                          <a:effectLst/>
                        </a:rPr>
                        <a:t>Sprint 1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473821"/>
                          </a:solidFill>
                          <a:effectLst/>
                        </a:rPr>
                        <a:t>Media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074086"/>
                  </a:ext>
                </a:extLst>
              </a:tr>
              <a:tr h="1387542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HU-06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Administradora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Como administradora quiero contar con un dashboard avanzado con gráficos y KPIs para tener una visión global y visual del desempeño del negocio.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Tener una visión global y visual del desempeño del negocio.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Dashboard Avanzado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11734B"/>
                          </a:solidFill>
                          <a:effectLst/>
                        </a:rPr>
                        <a:t>Completada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DF0704"/>
                          </a:solidFill>
                          <a:effectLst/>
                        </a:rPr>
                        <a:t>Alto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0A53A8"/>
                          </a:solidFill>
                          <a:effectLst/>
                        </a:rPr>
                        <a:t>Sprint 1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rgbClr val="473821"/>
                          </a:solidFill>
                          <a:effectLst/>
                        </a:rPr>
                        <a:t>Media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194543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0F982618-4C47-3E5F-F9C2-FBE980D95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4334415" y="1600199"/>
            <a:ext cx="321291802" cy="47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14312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10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3862F82E-63D5-6B6E-E945-324940AB6C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100271"/>
              </p:ext>
            </p:extLst>
          </p:nvPr>
        </p:nvGraphicFramePr>
        <p:xfrm>
          <a:off x="307909" y="190500"/>
          <a:ext cx="17672181" cy="9906002"/>
        </p:xfrm>
        <a:graphic>
          <a:graphicData uri="http://schemas.openxmlformats.org/drawingml/2006/table">
            <a:tbl>
              <a:tblPr/>
              <a:tblGrid>
                <a:gridCol w="1095132">
                  <a:extLst>
                    <a:ext uri="{9D8B030D-6E8A-4147-A177-3AD203B41FA5}">
                      <a16:colId xmlns:a16="http://schemas.microsoft.com/office/drawing/2014/main" val="3766823926"/>
                    </a:ext>
                  </a:extLst>
                </a:gridCol>
                <a:gridCol w="1564475">
                  <a:extLst>
                    <a:ext uri="{9D8B030D-6E8A-4147-A177-3AD203B41FA5}">
                      <a16:colId xmlns:a16="http://schemas.microsoft.com/office/drawing/2014/main" val="577483215"/>
                    </a:ext>
                  </a:extLst>
                </a:gridCol>
                <a:gridCol w="5553886">
                  <a:extLst>
                    <a:ext uri="{9D8B030D-6E8A-4147-A177-3AD203B41FA5}">
                      <a16:colId xmlns:a16="http://schemas.microsoft.com/office/drawing/2014/main" val="2430266372"/>
                    </a:ext>
                  </a:extLst>
                </a:gridCol>
                <a:gridCol w="3207173">
                  <a:extLst>
                    <a:ext uri="{9D8B030D-6E8A-4147-A177-3AD203B41FA5}">
                      <a16:colId xmlns:a16="http://schemas.microsoft.com/office/drawing/2014/main" val="126670095"/>
                    </a:ext>
                  </a:extLst>
                </a:gridCol>
                <a:gridCol w="1720922">
                  <a:extLst>
                    <a:ext uri="{9D8B030D-6E8A-4147-A177-3AD203B41FA5}">
                      <a16:colId xmlns:a16="http://schemas.microsoft.com/office/drawing/2014/main" val="1295779051"/>
                    </a:ext>
                  </a:extLst>
                </a:gridCol>
                <a:gridCol w="1329804">
                  <a:extLst>
                    <a:ext uri="{9D8B030D-6E8A-4147-A177-3AD203B41FA5}">
                      <a16:colId xmlns:a16="http://schemas.microsoft.com/office/drawing/2014/main" val="727188638"/>
                    </a:ext>
                  </a:extLst>
                </a:gridCol>
                <a:gridCol w="1173356">
                  <a:extLst>
                    <a:ext uri="{9D8B030D-6E8A-4147-A177-3AD203B41FA5}">
                      <a16:colId xmlns:a16="http://schemas.microsoft.com/office/drawing/2014/main" val="3999988250"/>
                    </a:ext>
                  </a:extLst>
                </a:gridCol>
                <a:gridCol w="1088751">
                  <a:extLst>
                    <a:ext uri="{9D8B030D-6E8A-4147-A177-3AD203B41FA5}">
                      <a16:colId xmlns:a16="http://schemas.microsoft.com/office/drawing/2014/main" val="3864949765"/>
                    </a:ext>
                  </a:extLst>
                </a:gridCol>
                <a:gridCol w="938682">
                  <a:extLst>
                    <a:ext uri="{9D8B030D-6E8A-4147-A177-3AD203B41FA5}">
                      <a16:colId xmlns:a16="http://schemas.microsoft.com/office/drawing/2014/main" val="2274981430"/>
                    </a:ext>
                  </a:extLst>
                </a:gridCol>
              </a:tblGrid>
              <a:tr h="289048">
                <a:tc rowSpan="2">
                  <a:txBody>
                    <a:bodyPr/>
                    <a:lstStyle/>
                    <a:p>
                      <a:r>
                        <a:rPr lang="es-ES" sz="1800">
                          <a:solidFill>
                            <a:srgbClr val="FFFFFF"/>
                          </a:solidFill>
                          <a:effectLst/>
                        </a:rPr>
                        <a:t>Identificador (ID) de la Historia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rgbClr val="FFFFFF"/>
                          </a:solidFill>
                          <a:effectLst/>
                        </a:rPr>
                        <a:t>Enunciado de la Historia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FFFFF"/>
                          </a:solidFill>
                          <a:effectLst/>
                        </a:rPr>
                        <a:t>Alias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FFFFF"/>
                          </a:solidFill>
                          <a:effectLst/>
                        </a:rPr>
                        <a:t>Estado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rgbClr val="FFFFFF"/>
                          </a:solidFill>
                          <a:effectLst/>
                        </a:rPr>
                        <a:t>Dimensión / Esfuerzo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FFFFF"/>
                          </a:solidFill>
                          <a:effectLst/>
                        </a:rPr>
                        <a:t>Iteración (Sprint)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rgbClr val="FFFFFF"/>
                          </a:solidFill>
                          <a:effectLst/>
                        </a:rPr>
                        <a:t>Prioridad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19980"/>
                  </a:ext>
                </a:extLst>
              </a:tr>
              <a:tr h="563058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FFFFF"/>
                          </a:solidFill>
                          <a:effectLst/>
                        </a:rPr>
                        <a:t>Rol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FFFFF"/>
                          </a:solidFill>
                          <a:effectLst/>
                        </a:rPr>
                        <a:t>Descripcion de Funcionalidad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rgbClr val="FFFFFF"/>
                          </a:solidFill>
                          <a:effectLst/>
                        </a:rPr>
                        <a:t>Razón / Resultado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942637"/>
                  </a:ext>
                </a:extLst>
              </a:tr>
              <a:tr h="1034997">
                <a:tc>
                  <a:txBody>
                    <a:bodyPr/>
                    <a:lstStyle/>
                    <a:p>
                      <a:r>
                        <a:rPr lang="es-CL" sz="1800" dirty="0">
                          <a:effectLst/>
                        </a:rPr>
                        <a:t>HU-07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Administradora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effectLst/>
                        </a:rPr>
                        <a:t>Como administradora quiero visualizar los productos más vendidos con mayor margen de ganancia y crecimiento mensual para detectar oportunidades y optimizar el stock.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Detectar oportunidades de venta y optimizar decisiones de compra.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effectLst/>
                        </a:rPr>
                        <a:t>Ranking con Margen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rgbClr val="11734B"/>
                          </a:solidFill>
                          <a:effectLst/>
                        </a:rPr>
                        <a:t>Completada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rgbClr val="F13223"/>
                          </a:solidFill>
                          <a:effectLst/>
                        </a:rPr>
                        <a:t>Alto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rgbClr val="0A53A8"/>
                          </a:solidFill>
                          <a:effectLst/>
                        </a:rPr>
                        <a:t>Sprint 1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rgbClr val="F13223"/>
                          </a:solidFill>
                          <a:effectLst/>
                        </a:rPr>
                        <a:t>Alta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043029"/>
                  </a:ext>
                </a:extLst>
              </a:tr>
              <a:tr h="1292029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HU-08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Administradora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Como administradora quiero comparar los precios de los productos entre distintos proveedores para identificar las mejores opciones de compra.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Optimizar los costos de abastecimiento al visualizar en un solo lugar las cotizaciones actualizadas de cada proveedor.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Comparador de precios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11734B"/>
                          </a:solidFill>
                          <a:effectLst/>
                        </a:rPr>
                        <a:t>Completada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13223"/>
                          </a:solidFill>
                          <a:effectLst/>
                        </a:rPr>
                        <a:t>Alto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B10202"/>
                          </a:solidFill>
                          <a:effectLst/>
                        </a:rPr>
                        <a:t>Sprint 2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13223"/>
                          </a:solidFill>
                          <a:effectLst/>
                        </a:rPr>
                        <a:t>Alta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375181"/>
                  </a:ext>
                </a:extLst>
              </a:tr>
              <a:tr h="1034997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HU-09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Administradora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Como administradora quiero que el sistema integre una IA básica que analice los datos de ventas y proveedores para obtener insights del ranking de productos.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Mejorar la toma de decisiones mediante análisis automático de ventas y tendencias.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IA básica en ranking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11734B"/>
                          </a:solidFill>
                          <a:effectLst/>
                        </a:rPr>
                        <a:t>Completada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473821"/>
                          </a:solidFill>
                          <a:effectLst/>
                        </a:rPr>
                        <a:t>Medio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B10202"/>
                          </a:solidFill>
                          <a:effectLst/>
                        </a:rPr>
                        <a:t>Sprint 2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13223"/>
                          </a:solidFill>
                          <a:effectLst/>
                        </a:rPr>
                        <a:t>Alta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4290600"/>
                  </a:ext>
                </a:extLst>
              </a:tr>
              <a:tr h="1073079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HU - 13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Administradora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Como administradora, quiero mandar y que me manden mensajes dentro del sistema, para compartir información importante y que esta pueda ser almacenada y revisada.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Mejorar la comunicación con el equipo de trabajo.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Mensajeria Interna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11734B"/>
                          </a:solidFill>
                          <a:effectLst/>
                        </a:rPr>
                        <a:t>Completada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473821"/>
                          </a:solidFill>
                          <a:effectLst/>
                        </a:rPr>
                        <a:t>Medio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B10202"/>
                          </a:solidFill>
                          <a:effectLst/>
                        </a:rPr>
                        <a:t>Sprint 2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00BF63"/>
                          </a:solidFill>
                          <a:effectLst/>
                        </a:rPr>
                        <a:t>Baja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211486"/>
                  </a:ext>
                </a:extLst>
              </a:tr>
              <a:tr h="1034997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HU-10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Administradora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Como administradora quiero realizar cotizaciones avanzadas de todos los proveedores, con filtros y análisis basados en IA, para evaluar tendencias y oportunidades.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Obtener una visión más completa y predictiva de las condiciones de compra y disponibilidad.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Cotización avanzada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11734B"/>
                          </a:solidFill>
                          <a:effectLst/>
                        </a:rPr>
                        <a:t>Completada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13223"/>
                          </a:solidFill>
                          <a:effectLst/>
                        </a:rPr>
                        <a:t>Alto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5A3286"/>
                          </a:solidFill>
                          <a:effectLst/>
                        </a:rPr>
                        <a:t>Sprint 3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13223"/>
                          </a:solidFill>
                          <a:effectLst/>
                        </a:rPr>
                        <a:t>Alta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903770"/>
                  </a:ext>
                </a:extLst>
              </a:tr>
              <a:tr h="1034997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HU-11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Administradora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Como administradora quiero recibir alertas automáticas de productos con bajo stock o problemas de abastecimiento.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Evitar quiebres de stock y anticipar pedidos para mantener la disponibilidad de productos.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Alertas de stock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11734B"/>
                          </a:solidFill>
                          <a:effectLst/>
                        </a:rPr>
                        <a:t>Completada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rgbClr val="473821"/>
                          </a:solidFill>
                          <a:effectLst/>
                        </a:rPr>
                        <a:t>Medio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5A3286"/>
                          </a:solidFill>
                          <a:effectLst/>
                        </a:rPr>
                        <a:t>Sprint 3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473821"/>
                          </a:solidFill>
                          <a:effectLst/>
                        </a:rPr>
                        <a:t>Media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777335"/>
                  </a:ext>
                </a:extLst>
              </a:tr>
              <a:tr h="1133636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HU-12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Administradora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Como administradora quiero disponer de documentación, tutoriales y capacitación del sistema para facilitar su uso por el equipo.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Asegurar una adopción efectiva del sistema por parte de todos los usuarios y garantizar su operación en producción.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Capacitación y despliegue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11734B"/>
                          </a:solidFill>
                          <a:effectLst/>
                        </a:rPr>
                        <a:t>Completada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00BF63"/>
                          </a:solidFill>
                          <a:effectLst/>
                        </a:rPr>
                        <a:t>Bajo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5A3286"/>
                          </a:solidFill>
                          <a:effectLst/>
                        </a:rPr>
                        <a:t>Sprint 3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00BF63"/>
                          </a:solidFill>
                          <a:effectLst/>
                        </a:rPr>
                        <a:t>Baja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90010"/>
                  </a:ext>
                </a:extLst>
              </a:tr>
              <a:tr h="1415164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HU-13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Administradora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effectLst/>
                        </a:rPr>
                        <a:t>Como administradora quiero acceder de forma segura a la plataforma web en línea para poder gestionar el sistema sin riesgo de vulneraciones o accesos no autorizados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effectLst/>
                        </a:rPr>
                        <a:t>Garantizar la protección de los datos y la integrad del sistema mediante autenticación segura, validación de sesiones y cifrado de información.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effectLst/>
                        </a:rPr>
                        <a:t>Acceso Seguro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rgbClr val="11734B"/>
                          </a:solidFill>
                          <a:effectLst/>
                        </a:rPr>
                        <a:t>Completada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00BF63"/>
                          </a:solidFill>
                          <a:effectLst/>
                        </a:rPr>
                        <a:t>Bajo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5A3286"/>
                          </a:solidFill>
                          <a:effectLst/>
                        </a:rPr>
                        <a:t>Sprint 3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rgbClr val="00BF63"/>
                          </a:solidFill>
                          <a:effectLst/>
                        </a:rPr>
                        <a:t>Baja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612088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C24E2701-EC3C-F441-FE2C-B995F0C82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8051939" y="1600199"/>
            <a:ext cx="473376204" cy="47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758824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636717"/>
            <a:ext cx="18288000" cy="9650283"/>
          </a:xfrm>
          <a:custGeom>
            <a:avLst/>
            <a:gdLst/>
            <a:ahLst/>
            <a:cxnLst/>
            <a:rect l="l" t="t" r="r" b="b"/>
            <a:pathLst>
              <a:path w="18288000" h="9650283">
                <a:moveTo>
                  <a:pt x="0" y="0"/>
                </a:moveTo>
                <a:lnTo>
                  <a:pt x="18288000" y="0"/>
                </a:lnTo>
                <a:lnTo>
                  <a:pt x="18288000" y="9650283"/>
                </a:lnTo>
                <a:lnTo>
                  <a:pt x="0" y="96502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327" b="-95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92687" y="-10178"/>
            <a:ext cx="6794547" cy="646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4"/>
              </a:lnSpc>
              <a:spcBef>
                <a:spcPct val="0"/>
              </a:spcBef>
            </a:pPr>
            <a:r>
              <a:rPr lang="en-US" sz="3781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Arquitectura: </a:t>
            </a:r>
            <a:r>
              <a:rPr lang="en-US" sz="3781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 Capas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12</a:t>
            </a:r>
          </a:p>
        </p:txBody>
      </p:sp>
      <p:sp>
        <p:nvSpPr>
          <p:cNvPr id="3" name="Freeform 3"/>
          <p:cNvSpPr/>
          <p:nvPr/>
        </p:nvSpPr>
        <p:spPr>
          <a:xfrm>
            <a:off x="2317103" y="351369"/>
            <a:ext cx="12986248" cy="9755919"/>
          </a:xfrm>
          <a:custGeom>
            <a:avLst/>
            <a:gdLst/>
            <a:ahLst/>
            <a:cxnLst/>
            <a:rect l="l" t="t" r="r" b="b"/>
            <a:pathLst>
              <a:path w="12986248" h="9755919">
                <a:moveTo>
                  <a:pt x="0" y="0"/>
                </a:moveTo>
                <a:lnTo>
                  <a:pt x="12986248" y="0"/>
                </a:lnTo>
                <a:lnTo>
                  <a:pt x="12986248" y="9755919"/>
                </a:lnTo>
                <a:lnTo>
                  <a:pt x="0" y="97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92687" y="-10178"/>
            <a:ext cx="4441523" cy="646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4"/>
              </a:lnSpc>
              <a:spcBef>
                <a:spcPct val="0"/>
              </a:spcBef>
            </a:pPr>
            <a:r>
              <a:rPr lang="en-US" sz="3781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Modelo de</a:t>
            </a:r>
            <a:r>
              <a:rPr lang="en-US" sz="3781" b="1">
                <a:solidFill>
                  <a:srgbClr val="D42E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781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14312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11189" y="1450828"/>
            <a:ext cx="15865622" cy="8353527"/>
          </a:xfrm>
          <a:custGeom>
            <a:avLst/>
            <a:gdLst/>
            <a:ahLst/>
            <a:cxnLst/>
            <a:rect l="l" t="t" r="r" b="b"/>
            <a:pathLst>
              <a:path w="15865622" h="8353527">
                <a:moveTo>
                  <a:pt x="0" y="0"/>
                </a:moveTo>
                <a:lnTo>
                  <a:pt x="15865622" y="0"/>
                </a:lnTo>
                <a:lnTo>
                  <a:pt x="15865622" y="8353527"/>
                </a:lnTo>
                <a:lnTo>
                  <a:pt x="0" y="8353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60" t="-8099" r="-12447" b="-4158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87350" y="292431"/>
            <a:ext cx="8756650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Metodologia </a:t>
            </a: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Scrum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57175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449118" y="1290076"/>
            <a:ext cx="2925352" cy="3616450"/>
            <a:chOff x="0" y="0"/>
            <a:chExt cx="3900470" cy="4821934"/>
          </a:xfrm>
        </p:grpSpPr>
        <p:grpSp>
          <p:nvGrpSpPr>
            <p:cNvPr id="4" name="Group 4"/>
            <p:cNvGrpSpPr/>
            <p:nvPr/>
          </p:nvGrpSpPr>
          <p:grpSpPr>
            <a:xfrm>
              <a:off x="362474" y="188402"/>
              <a:ext cx="2937733" cy="2937733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53355" t="-76973" r="-50450" b="-94767"/>
                </a:stretch>
              </a:blipFill>
              <a:ln w="76200" cap="sq">
                <a:solidFill>
                  <a:srgbClr val="FF6B00"/>
                </a:solidFill>
                <a:prstDash val="solid"/>
                <a:miter/>
              </a:ln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3153529" y="0"/>
              <a:ext cx="746941" cy="746941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0" y="3486316"/>
              <a:ext cx="3900470" cy="6447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r>
                <a:rPr lang="en-US" sz="2899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Yovanna Maira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4350128"/>
              <a:ext cx="390047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Product Owner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560079" y="5402009"/>
            <a:ext cx="2980442" cy="3616450"/>
            <a:chOff x="0" y="0"/>
            <a:chExt cx="3973923" cy="4821934"/>
          </a:xfrm>
        </p:grpSpPr>
        <p:grpSp>
          <p:nvGrpSpPr>
            <p:cNvPr id="12" name="Group 12"/>
            <p:cNvGrpSpPr/>
            <p:nvPr/>
          </p:nvGrpSpPr>
          <p:grpSpPr>
            <a:xfrm>
              <a:off x="481368" y="188402"/>
              <a:ext cx="2937733" cy="2937733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 w="762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id="14" name="Group 14"/>
            <p:cNvGrpSpPr/>
            <p:nvPr/>
          </p:nvGrpSpPr>
          <p:grpSpPr>
            <a:xfrm>
              <a:off x="3226982" y="0"/>
              <a:ext cx="746941" cy="746941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13223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0" y="3486316"/>
              <a:ext cx="3900470" cy="6447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r>
                <a:rPr lang="en-US" sz="2899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Jaziel Aguilera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4350128"/>
              <a:ext cx="390047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Scrum Team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747478" y="5380681"/>
            <a:ext cx="2925226" cy="4173456"/>
            <a:chOff x="0" y="0"/>
            <a:chExt cx="3900301" cy="5564607"/>
          </a:xfrm>
        </p:grpSpPr>
        <p:grpSp>
          <p:nvGrpSpPr>
            <p:cNvPr id="20" name="Group 20"/>
            <p:cNvGrpSpPr/>
            <p:nvPr/>
          </p:nvGrpSpPr>
          <p:grpSpPr>
            <a:xfrm>
              <a:off x="362458" y="239516"/>
              <a:ext cx="2937606" cy="2937733"/>
              <a:chOff x="0" y="0"/>
              <a:chExt cx="812765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76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765" h="812800">
                    <a:moveTo>
                      <a:pt x="406382" y="0"/>
                    </a:moveTo>
                    <a:cubicBezTo>
                      <a:pt x="181944" y="0"/>
                      <a:pt x="0" y="181951"/>
                      <a:pt x="0" y="406400"/>
                    </a:cubicBezTo>
                    <a:cubicBezTo>
                      <a:pt x="0" y="630849"/>
                      <a:pt x="181944" y="812800"/>
                      <a:pt x="406382" y="812800"/>
                    </a:cubicBezTo>
                    <a:cubicBezTo>
                      <a:pt x="630821" y="812800"/>
                      <a:pt x="812765" y="630849"/>
                      <a:pt x="812765" y="406400"/>
                    </a:cubicBezTo>
                    <a:cubicBezTo>
                      <a:pt x="812765" y="181951"/>
                      <a:pt x="630821" y="0"/>
                      <a:pt x="406382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t="-26919" b="-26919"/>
                </a:stretch>
              </a:blipFill>
              <a:ln w="762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3153393" y="0"/>
              <a:ext cx="746908" cy="746941"/>
              <a:chOff x="0" y="0"/>
              <a:chExt cx="812765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76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765" h="812800">
                    <a:moveTo>
                      <a:pt x="406382" y="0"/>
                    </a:moveTo>
                    <a:cubicBezTo>
                      <a:pt x="181944" y="0"/>
                      <a:pt x="0" y="181951"/>
                      <a:pt x="0" y="406400"/>
                    </a:cubicBezTo>
                    <a:cubicBezTo>
                      <a:pt x="0" y="630849"/>
                      <a:pt x="181944" y="812800"/>
                      <a:pt x="406382" y="812800"/>
                    </a:cubicBezTo>
                    <a:cubicBezTo>
                      <a:pt x="630821" y="812800"/>
                      <a:pt x="812765" y="630849"/>
                      <a:pt x="812765" y="406400"/>
                    </a:cubicBezTo>
                    <a:cubicBezTo>
                      <a:pt x="812765" y="181951"/>
                      <a:pt x="630821" y="0"/>
                      <a:pt x="406382" y="0"/>
                    </a:cubicBezTo>
                    <a:close/>
                  </a:path>
                </a:pathLst>
              </a:custGeom>
              <a:solidFill>
                <a:srgbClr val="F13223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197" y="38100"/>
                <a:ext cx="660371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0" y="3539199"/>
              <a:ext cx="3900301" cy="13305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r>
                <a:rPr lang="en-US" sz="2899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Sebastián Morales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5092802"/>
              <a:ext cx="3900301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Scrum Team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53779" y="5372884"/>
            <a:ext cx="2925352" cy="3674699"/>
            <a:chOff x="0" y="0"/>
            <a:chExt cx="3900470" cy="4899599"/>
          </a:xfrm>
        </p:grpSpPr>
        <p:grpSp>
          <p:nvGrpSpPr>
            <p:cNvPr id="28" name="Group 28"/>
            <p:cNvGrpSpPr/>
            <p:nvPr/>
          </p:nvGrpSpPr>
          <p:grpSpPr>
            <a:xfrm>
              <a:off x="481368" y="260307"/>
              <a:ext cx="2937733" cy="2937733"/>
              <a:chOff x="0" y="0"/>
              <a:chExt cx="812800" cy="812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-5923" r="-5923"/>
                </a:stretch>
              </a:blipFill>
              <a:ln w="76200" cap="sq">
                <a:solidFill>
                  <a:srgbClr val="FF6B00"/>
                </a:solidFill>
                <a:prstDash val="solid"/>
                <a:miter/>
              </a:ln>
            </p:spPr>
          </p:sp>
        </p:grpSp>
        <p:grpSp>
          <p:nvGrpSpPr>
            <p:cNvPr id="30" name="Group 30"/>
            <p:cNvGrpSpPr/>
            <p:nvPr/>
          </p:nvGrpSpPr>
          <p:grpSpPr>
            <a:xfrm>
              <a:off x="3093595" y="0"/>
              <a:ext cx="746941" cy="746941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0" y="3559991"/>
              <a:ext cx="3900470" cy="6447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r>
                <a:rPr lang="en-US" sz="2899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Thomas Rojas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4427793"/>
              <a:ext cx="390047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Scrum Master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623326" y="222250"/>
            <a:ext cx="7153926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99"/>
              </a:lnSpc>
              <a:spcBef>
                <a:spcPct val="0"/>
              </a:spcBef>
            </a:pPr>
            <a:r>
              <a:rPr lang="en-US" sz="84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Roles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560891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602143" y="4694651"/>
            <a:ext cx="1405542" cy="1436058"/>
          </a:xfrm>
          <a:custGeom>
            <a:avLst/>
            <a:gdLst/>
            <a:ahLst/>
            <a:cxnLst/>
            <a:rect l="l" t="t" r="r" b="b"/>
            <a:pathLst>
              <a:path w="1405542" h="1436058">
                <a:moveTo>
                  <a:pt x="0" y="0"/>
                </a:moveTo>
                <a:lnTo>
                  <a:pt x="1405542" y="0"/>
                </a:lnTo>
                <a:lnTo>
                  <a:pt x="1405542" y="1436059"/>
                </a:lnTo>
                <a:lnTo>
                  <a:pt x="0" y="14360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09011" y="129866"/>
            <a:ext cx="11809291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Evidencias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776126" y="2774779"/>
            <a:ext cx="1914026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Arquitectura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36304" y="4329541"/>
            <a:ext cx="927049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Épicas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58638" y="7575581"/>
            <a:ext cx="2193469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Daily Meetings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03415" y="5705773"/>
            <a:ext cx="1853426" cy="811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Historias de </a:t>
            </a:r>
          </a:p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usuario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77086" y="2268972"/>
            <a:ext cx="1741018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Carta Gantt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52107" y="8409687"/>
            <a:ext cx="1884229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Incrementos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614103" y="2566472"/>
            <a:ext cx="1250448" cy="811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Product </a:t>
            </a:r>
          </a:p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Backlog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43519" y="1578492"/>
            <a:ext cx="795783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Roles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43519" y="8289696"/>
            <a:ext cx="2141996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Sprint Backlog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842309" y="4329541"/>
            <a:ext cx="2044486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Sprint Review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696776" y="5620351"/>
            <a:ext cx="2588810" cy="1228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Retrospectiva del</a:t>
            </a:r>
          </a:p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proyecto</a:t>
            </a:r>
          </a:p>
          <a:p>
            <a:pPr algn="ctr">
              <a:lnSpc>
                <a:spcPts val="3282"/>
              </a:lnSpc>
            </a:pPr>
            <a:endParaRPr lang="en-US" sz="2344" b="1">
              <a:solidFill>
                <a:srgbClr val="1A1A1A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429586" y="7575581"/>
            <a:ext cx="2457209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Burndown Chart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602143" y="8766744"/>
            <a:ext cx="1137302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Kanban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818104" y="1578492"/>
            <a:ext cx="2426003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Impediment Log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87077" y="3552160"/>
            <a:ext cx="3943122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Plan de Gestion de Riesgos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814517" y="2268972"/>
            <a:ext cx="983756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Costos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15</a:t>
            </a:r>
          </a:p>
        </p:txBody>
      </p:sp>
      <p:sp>
        <p:nvSpPr>
          <p:cNvPr id="23" name="AutoShape 23"/>
          <p:cNvSpPr/>
          <p:nvPr/>
        </p:nvSpPr>
        <p:spPr>
          <a:xfrm>
            <a:off x="5341153" y="4457501"/>
            <a:ext cx="2106137" cy="672328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24" name="AutoShape 24"/>
          <p:cNvSpPr/>
          <p:nvPr/>
        </p:nvSpPr>
        <p:spPr>
          <a:xfrm flipV="1">
            <a:off x="5264876" y="5858288"/>
            <a:ext cx="2064647" cy="790615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25" name="AutoShape 25"/>
          <p:cNvSpPr/>
          <p:nvPr/>
        </p:nvSpPr>
        <p:spPr>
          <a:xfrm flipV="1">
            <a:off x="6613657" y="6722737"/>
            <a:ext cx="1431733" cy="123357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26" name="AutoShape 26"/>
          <p:cNvSpPr/>
          <p:nvPr/>
        </p:nvSpPr>
        <p:spPr>
          <a:xfrm flipH="1" flipV="1">
            <a:off x="10704664" y="6783441"/>
            <a:ext cx="1407074" cy="131079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27" name="AutoShape 27"/>
          <p:cNvSpPr/>
          <p:nvPr/>
        </p:nvSpPr>
        <p:spPr>
          <a:xfrm flipH="1" flipV="1">
            <a:off x="11468063" y="5760698"/>
            <a:ext cx="1952588" cy="1036938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28" name="AutoShape 28"/>
          <p:cNvSpPr/>
          <p:nvPr/>
        </p:nvSpPr>
        <p:spPr>
          <a:xfrm flipH="1">
            <a:off x="11410360" y="4066593"/>
            <a:ext cx="2067995" cy="781817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29" name="AutoShape 29"/>
          <p:cNvSpPr/>
          <p:nvPr/>
        </p:nvSpPr>
        <p:spPr>
          <a:xfrm flipH="1">
            <a:off x="10374204" y="3147682"/>
            <a:ext cx="2067995" cy="781817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30" name="AutoShape 30"/>
          <p:cNvSpPr/>
          <p:nvPr/>
        </p:nvSpPr>
        <p:spPr>
          <a:xfrm>
            <a:off x="9405223" y="2139271"/>
            <a:ext cx="33856" cy="1704275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31" name="AutoShape 31"/>
          <p:cNvSpPr/>
          <p:nvPr/>
        </p:nvSpPr>
        <p:spPr>
          <a:xfrm>
            <a:off x="6857130" y="3058953"/>
            <a:ext cx="1332874" cy="1062613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32" name="AutoShape 32"/>
          <p:cNvSpPr/>
          <p:nvPr/>
        </p:nvSpPr>
        <p:spPr>
          <a:xfrm flipV="1">
            <a:off x="9307830" y="6783441"/>
            <a:ext cx="0" cy="1704611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57175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36419" y="-5176"/>
            <a:ext cx="15677578" cy="1953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Los</a:t>
            </a: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sprints: </a:t>
            </a: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Como se previeron, y como se desarrollaron.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604924"/>
            <a:ext cx="2872744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36281" y="4908550"/>
            <a:ext cx="180118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 Semana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15744" y="4604924"/>
            <a:ext cx="286706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779512" y="3084501"/>
            <a:ext cx="8230556" cy="4117998"/>
            <a:chOff x="0" y="0"/>
            <a:chExt cx="10974075" cy="5490664"/>
          </a:xfrm>
        </p:grpSpPr>
        <p:sp>
          <p:nvSpPr>
            <p:cNvPr id="9" name="TextBox 9"/>
            <p:cNvSpPr txBox="1"/>
            <p:nvPr/>
          </p:nvSpPr>
          <p:spPr>
            <a:xfrm>
              <a:off x="0" y="-66675"/>
              <a:ext cx="725932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Configuración de GitHub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746125"/>
              <a:ext cx="760222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Setup de entornos locales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558925"/>
              <a:ext cx="965962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Instalación de dependencias base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2370119"/>
              <a:ext cx="965962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Ping Api Cliente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3182919"/>
              <a:ext cx="1097407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Login, Registro, Autenticación por correo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4001589"/>
              <a:ext cx="965962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Creación de roles con permisos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4814389"/>
              <a:ext cx="965962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Backend inicial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507603" y="8803005"/>
            <a:ext cx="3272794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Ceremonias Scrum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57175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4604924"/>
            <a:ext cx="2872744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736650" y="2587512"/>
            <a:ext cx="570166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Integración básica del POS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36281" y="4908550"/>
            <a:ext cx="180118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 Semana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15744" y="4604924"/>
            <a:ext cx="286706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36650" y="3221513"/>
            <a:ext cx="627316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Creación de tablas iniciales.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36650" y="3877032"/>
            <a:ext cx="787336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Definición inicial de modelos en Prisma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36650" y="4500920"/>
            <a:ext cx="724471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Ranking básico de productos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36650" y="5124807"/>
            <a:ext cx="724471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Dashboard básico del ranking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36650" y="5778533"/>
            <a:ext cx="724471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Diseño de interfaz del sistema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07603" y="8803005"/>
            <a:ext cx="3272794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Ceremonias Scrum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36650" y="6425670"/>
            <a:ext cx="627316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Ranking avanzado con filtros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36650" y="7072808"/>
            <a:ext cx="827341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Funcionalidad de generación de reportes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36650" y="7798996"/>
            <a:ext cx="827341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Dashboard Avanzado del ranking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36419" y="-5176"/>
            <a:ext cx="15677578" cy="1953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Los</a:t>
            </a: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sprints: </a:t>
            </a: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Como se previeron, y como se desarrollaron.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380896" y="73261"/>
            <a:ext cx="9602407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</a:t>
            </a:r>
            <a:r>
              <a:rPr lang="en-US" sz="5600" b="1" dirty="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Backlog - </a:t>
            </a:r>
            <a:r>
              <a:rPr lang="en-US" sz="56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</a:t>
            </a:r>
            <a:r>
              <a:rPr lang="en-US" sz="5600" b="1" dirty="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18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4B8E4505-B48E-227B-4F23-6E15C1A59A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001366"/>
              </p:ext>
            </p:extLst>
          </p:nvPr>
        </p:nvGraphicFramePr>
        <p:xfrm>
          <a:off x="533400" y="1333500"/>
          <a:ext cx="17297400" cy="84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2175">
                  <a:extLst>
                    <a:ext uri="{9D8B030D-6E8A-4147-A177-3AD203B41FA5}">
                      <a16:colId xmlns:a16="http://schemas.microsoft.com/office/drawing/2014/main" val="3036647114"/>
                    </a:ext>
                  </a:extLst>
                </a:gridCol>
                <a:gridCol w="2162175">
                  <a:extLst>
                    <a:ext uri="{9D8B030D-6E8A-4147-A177-3AD203B41FA5}">
                      <a16:colId xmlns:a16="http://schemas.microsoft.com/office/drawing/2014/main" val="3514855843"/>
                    </a:ext>
                  </a:extLst>
                </a:gridCol>
                <a:gridCol w="2162175">
                  <a:extLst>
                    <a:ext uri="{9D8B030D-6E8A-4147-A177-3AD203B41FA5}">
                      <a16:colId xmlns:a16="http://schemas.microsoft.com/office/drawing/2014/main" val="2441720835"/>
                    </a:ext>
                  </a:extLst>
                </a:gridCol>
                <a:gridCol w="2162175">
                  <a:extLst>
                    <a:ext uri="{9D8B030D-6E8A-4147-A177-3AD203B41FA5}">
                      <a16:colId xmlns:a16="http://schemas.microsoft.com/office/drawing/2014/main" val="830367853"/>
                    </a:ext>
                  </a:extLst>
                </a:gridCol>
                <a:gridCol w="2162175">
                  <a:extLst>
                    <a:ext uri="{9D8B030D-6E8A-4147-A177-3AD203B41FA5}">
                      <a16:colId xmlns:a16="http://schemas.microsoft.com/office/drawing/2014/main" val="369654015"/>
                    </a:ext>
                  </a:extLst>
                </a:gridCol>
                <a:gridCol w="2162175">
                  <a:extLst>
                    <a:ext uri="{9D8B030D-6E8A-4147-A177-3AD203B41FA5}">
                      <a16:colId xmlns:a16="http://schemas.microsoft.com/office/drawing/2014/main" val="1595647990"/>
                    </a:ext>
                  </a:extLst>
                </a:gridCol>
                <a:gridCol w="2162175">
                  <a:extLst>
                    <a:ext uri="{9D8B030D-6E8A-4147-A177-3AD203B41FA5}">
                      <a16:colId xmlns:a16="http://schemas.microsoft.com/office/drawing/2014/main" val="66562683"/>
                    </a:ext>
                  </a:extLst>
                </a:gridCol>
                <a:gridCol w="2162175">
                  <a:extLst>
                    <a:ext uri="{9D8B030D-6E8A-4147-A177-3AD203B41FA5}">
                      <a16:colId xmlns:a16="http://schemas.microsoft.com/office/drawing/2014/main" val="425513153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lang="es-ES" dirty="0"/>
                        <a:t>ID Tarea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Historia de usuario asociada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Descripción de la Tarea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Responsable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Estado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Prioridad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Duración estimada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Observaciones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976304"/>
                  </a:ext>
                </a:extLst>
              </a:tr>
              <a:tr h="1356206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MAD-10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HU-01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Conectar el sistema al POS y validar credenciales para la obtención de datos.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Alta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2 días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Se probó la conexión con datos reales.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645048"/>
                  </a:ext>
                </a:extLst>
              </a:tr>
              <a:tr h="2045547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MAD-13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HU-02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Crear tablas base en la base de datos y definir relaciones principales.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Alta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3 días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Estructura creada en </a:t>
                      </a:r>
                      <a:r>
                        <a:rPr lang="es-CL" b="0" i="0" dirty="0" err="1">
                          <a:effectLst/>
                        </a:rPr>
                        <a:t>Supabase</a:t>
                      </a:r>
                      <a:r>
                        <a:rPr lang="es-CL" b="0" i="0" dirty="0">
                          <a:effectLst/>
                        </a:rPr>
                        <a:t>.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53788"/>
                  </a:ext>
                </a:extLst>
              </a:tr>
              <a:tr h="2045547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MAD-14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HU-02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Definir modelos ORM para sincronizar la base de datos con el </a:t>
                      </a:r>
                      <a:r>
                        <a:rPr lang="es-ES" b="0" i="0" dirty="0" err="1">
                          <a:effectLst/>
                        </a:rPr>
                        <a:t>backend</a:t>
                      </a:r>
                      <a:r>
                        <a:rPr lang="es-ES" b="0" i="0" dirty="0">
                          <a:effectLst/>
                        </a:rPr>
                        <a:t>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Media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2 días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ORM configurado correctamente.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759064"/>
                  </a:ext>
                </a:extLst>
              </a:tr>
              <a:tr h="1208732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MAD-16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HU-02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Implementar ingesta mínima del catálogo POS y pruebas iniciales.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Media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2 días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Datos cargados correctamente.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167579"/>
                  </a:ext>
                </a:extLst>
              </a:tr>
              <a:tr h="929794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MAD-18</a:t>
                      </a:r>
                      <a:endParaRPr lang="es-CL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HU-03</a:t>
                      </a:r>
                      <a:endParaRPr lang="es-CL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Desarrollar servicio de ranking básico de medicamentos más vendidos.</a:t>
                      </a:r>
                      <a:endParaRPr lang="es-CL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Alta</a:t>
                      </a:r>
                      <a:endParaRPr lang="es-CL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3 días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Ranking funcional y validado.</a:t>
                      </a:r>
                      <a:endParaRPr lang="es-CL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805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733800" y="-94432"/>
            <a:ext cx="9602407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</a:t>
            </a:r>
            <a:r>
              <a:rPr lang="en-US" sz="5600" b="1" dirty="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Backlog - </a:t>
            </a:r>
            <a:r>
              <a:rPr lang="en-US" sz="56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</a:t>
            </a:r>
            <a:r>
              <a:rPr lang="en-US" sz="5600" b="1" dirty="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19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5803D908-1A26-7C29-92D5-BB433C2544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483814"/>
              </p:ext>
            </p:extLst>
          </p:nvPr>
        </p:nvGraphicFramePr>
        <p:xfrm>
          <a:off x="190496" y="1333500"/>
          <a:ext cx="17907008" cy="8260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376">
                  <a:extLst>
                    <a:ext uri="{9D8B030D-6E8A-4147-A177-3AD203B41FA5}">
                      <a16:colId xmlns:a16="http://schemas.microsoft.com/office/drawing/2014/main" val="3036647114"/>
                    </a:ext>
                  </a:extLst>
                </a:gridCol>
                <a:gridCol w="2238376">
                  <a:extLst>
                    <a:ext uri="{9D8B030D-6E8A-4147-A177-3AD203B41FA5}">
                      <a16:colId xmlns:a16="http://schemas.microsoft.com/office/drawing/2014/main" val="3514855843"/>
                    </a:ext>
                  </a:extLst>
                </a:gridCol>
                <a:gridCol w="2238376">
                  <a:extLst>
                    <a:ext uri="{9D8B030D-6E8A-4147-A177-3AD203B41FA5}">
                      <a16:colId xmlns:a16="http://schemas.microsoft.com/office/drawing/2014/main" val="2441720835"/>
                    </a:ext>
                  </a:extLst>
                </a:gridCol>
                <a:gridCol w="2238376">
                  <a:extLst>
                    <a:ext uri="{9D8B030D-6E8A-4147-A177-3AD203B41FA5}">
                      <a16:colId xmlns:a16="http://schemas.microsoft.com/office/drawing/2014/main" val="830367853"/>
                    </a:ext>
                  </a:extLst>
                </a:gridCol>
                <a:gridCol w="2238376">
                  <a:extLst>
                    <a:ext uri="{9D8B030D-6E8A-4147-A177-3AD203B41FA5}">
                      <a16:colId xmlns:a16="http://schemas.microsoft.com/office/drawing/2014/main" val="369654015"/>
                    </a:ext>
                  </a:extLst>
                </a:gridCol>
                <a:gridCol w="2238376">
                  <a:extLst>
                    <a:ext uri="{9D8B030D-6E8A-4147-A177-3AD203B41FA5}">
                      <a16:colId xmlns:a16="http://schemas.microsoft.com/office/drawing/2014/main" val="1595647990"/>
                    </a:ext>
                  </a:extLst>
                </a:gridCol>
                <a:gridCol w="2238376">
                  <a:extLst>
                    <a:ext uri="{9D8B030D-6E8A-4147-A177-3AD203B41FA5}">
                      <a16:colId xmlns:a16="http://schemas.microsoft.com/office/drawing/2014/main" val="66562683"/>
                    </a:ext>
                  </a:extLst>
                </a:gridCol>
                <a:gridCol w="2238376">
                  <a:extLst>
                    <a:ext uri="{9D8B030D-6E8A-4147-A177-3AD203B41FA5}">
                      <a16:colId xmlns:a16="http://schemas.microsoft.com/office/drawing/2014/main" val="4255131531"/>
                    </a:ext>
                  </a:extLst>
                </a:gridCol>
              </a:tblGrid>
              <a:tr h="717014">
                <a:tc>
                  <a:txBody>
                    <a:bodyPr/>
                    <a:lstStyle/>
                    <a:p>
                      <a:r>
                        <a:rPr lang="es-ES" dirty="0"/>
                        <a:t>ID Tarea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Historia de usuario asociada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Descripción de la Tarea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Responsable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Estado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Prioridad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Duración estimada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Observaciones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976304"/>
                  </a:ext>
                </a:extLst>
              </a:tr>
              <a:tr h="1456148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MAD-21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HU-03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Crear API para el ranking de productos con </a:t>
                      </a:r>
                      <a:r>
                        <a:rPr lang="es-ES" b="0" i="0" dirty="0" err="1">
                          <a:effectLst/>
                        </a:rPr>
                        <a:t>endpoints</a:t>
                      </a:r>
                      <a:r>
                        <a:rPr lang="es-ES" b="0" i="0" dirty="0">
                          <a:effectLst/>
                        </a:rPr>
                        <a:t> documentados.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Media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2 días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--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645048"/>
                  </a:ext>
                </a:extLst>
              </a:tr>
              <a:tr h="1360814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MAD-23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HU-06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Diseñar interfaz base del sistema y estructura general de navegación.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Media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2 días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Estructura creada en </a:t>
                      </a:r>
                      <a:r>
                        <a:rPr lang="es-CL" b="0" i="0" dirty="0" err="1">
                          <a:effectLst/>
                        </a:rPr>
                        <a:t>Supabase</a:t>
                      </a:r>
                      <a:r>
                        <a:rPr lang="es-CL" b="0" i="0" dirty="0">
                          <a:effectLst/>
                        </a:rPr>
                        <a:t>.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53788"/>
                  </a:ext>
                </a:extLst>
              </a:tr>
              <a:tr h="1127780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MAD-24</a:t>
                      </a:r>
                      <a:endParaRPr lang="es-CL" dirty="0"/>
                    </a:p>
                  </a:txBody>
                  <a:tcP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HU-06</a:t>
                      </a:r>
                      <a:endParaRPr lang="es-CL" dirty="0"/>
                    </a:p>
                  </a:txBody>
                  <a:tcP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Desarrollar </a:t>
                      </a:r>
                      <a:r>
                        <a:rPr lang="es-ES" b="0" i="0" dirty="0" err="1">
                          <a:effectLst/>
                        </a:rPr>
                        <a:t>dashboard</a:t>
                      </a:r>
                      <a:r>
                        <a:rPr lang="es-ES" b="0" i="0" dirty="0">
                          <a:effectLst/>
                        </a:rPr>
                        <a:t> básico con </a:t>
                      </a:r>
                      <a:r>
                        <a:rPr lang="es-ES" b="0" i="0" dirty="0" err="1">
                          <a:effectLst/>
                        </a:rPr>
                        <a:t>KPIs</a:t>
                      </a:r>
                      <a:r>
                        <a:rPr lang="es-ES" b="0" i="0" dirty="0">
                          <a:effectLst/>
                        </a:rPr>
                        <a:t> iniciales.</a:t>
                      </a:r>
                      <a:endParaRPr lang="es-CL" dirty="0"/>
                    </a:p>
                  </a:txBody>
                  <a:tcP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Alta</a:t>
                      </a:r>
                      <a:endParaRPr lang="es-CL" dirty="0"/>
                    </a:p>
                  </a:txBody>
                  <a:tcP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3 días</a:t>
                      </a:r>
                      <a:endParaRPr lang="es-CL" dirty="0"/>
                    </a:p>
                  </a:txBody>
                  <a:tcP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 err="1">
                          <a:effectLst/>
                        </a:rPr>
                        <a:t>Dashboard</a:t>
                      </a:r>
                      <a:r>
                        <a:rPr lang="es-ES" b="0" i="0" dirty="0">
                          <a:effectLst/>
                        </a:rPr>
                        <a:t> funcional en entorno de pruebas.</a:t>
                      </a:r>
                      <a:endParaRPr lang="es-CL" dirty="0"/>
                    </a:p>
                  </a:txBody>
                  <a:tcPr>
                    <a:solidFill>
                      <a:srgbClr val="55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759064"/>
                  </a:ext>
                </a:extLst>
              </a:tr>
              <a:tr h="1297806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MAD-27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HU-04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Implementar función de exportar reportes PDF/Excel.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Media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2 días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Validado correctamente.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167579"/>
                  </a:ext>
                </a:extLst>
              </a:tr>
              <a:tr h="1276320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MAD-29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HU-05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Aplicar filtros por categoría o sucursal al ranking.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Media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2 días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Filtros funcionando correctamente.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80566"/>
                  </a:ext>
                </a:extLst>
              </a:tr>
              <a:tr h="1024306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MAD-30</a:t>
                      </a:r>
                      <a:endParaRPr lang="es-CL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HU-06</a:t>
                      </a:r>
                      <a:endParaRPr lang="es-CL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Crear </a:t>
                      </a:r>
                      <a:r>
                        <a:rPr lang="es-ES" b="0" i="0" dirty="0" err="1">
                          <a:effectLst/>
                        </a:rPr>
                        <a:t>dashboard</a:t>
                      </a:r>
                      <a:r>
                        <a:rPr lang="es-ES" b="0" i="0" dirty="0">
                          <a:effectLst/>
                        </a:rPr>
                        <a:t> avanzado con </a:t>
                      </a:r>
                      <a:r>
                        <a:rPr lang="es-ES" b="0" i="0" dirty="0" err="1">
                          <a:effectLst/>
                        </a:rPr>
                        <a:t>KPIs</a:t>
                      </a:r>
                      <a:r>
                        <a:rPr lang="es-ES" b="0" i="0" dirty="0">
                          <a:effectLst/>
                        </a:rPr>
                        <a:t> y gráficos interactivos.</a:t>
                      </a:r>
                      <a:endParaRPr lang="es-CL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Alta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3 días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 err="1">
                          <a:effectLst/>
                        </a:rPr>
                        <a:t>Dashboard</a:t>
                      </a:r>
                      <a:r>
                        <a:rPr lang="es-CL" b="0" i="0" dirty="0">
                          <a:effectLst/>
                        </a:rPr>
                        <a:t> final aprobado.</a:t>
                      </a:r>
                      <a:endParaRPr lang="es-CL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2462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794510"/>
            <a:ext cx="18288000" cy="6697980"/>
          </a:xfrm>
          <a:custGeom>
            <a:avLst/>
            <a:gdLst/>
            <a:ahLst/>
            <a:cxnLst/>
            <a:rect l="l" t="t" r="r" b="b"/>
            <a:pathLst>
              <a:path w="18288000" h="6697980">
                <a:moveTo>
                  <a:pt x="0" y="0"/>
                </a:moveTo>
                <a:lnTo>
                  <a:pt x="18288000" y="0"/>
                </a:lnTo>
                <a:lnTo>
                  <a:pt x="18288000" y="6697980"/>
                </a:lnTo>
                <a:lnTo>
                  <a:pt x="0" y="66979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994749" y="435261"/>
            <a:ext cx="8298502" cy="818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75"/>
              </a:lnSpc>
              <a:spcBef>
                <a:spcPct val="0"/>
              </a:spcBef>
            </a:pPr>
            <a:r>
              <a:rPr lang="en-US" sz="483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BurnDown </a:t>
            </a:r>
            <a:r>
              <a:rPr lang="en-US" sz="4839" b="1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Chart - </a:t>
            </a:r>
            <a:r>
              <a:rPr lang="en-US" sz="483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</a:t>
            </a:r>
            <a:r>
              <a:rPr lang="en-US" sz="4839" b="1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20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16276" y="2620868"/>
            <a:ext cx="891373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15 de septiembre 2025 </a:t>
            </a:r>
            <a:r>
              <a:rPr lang="en-US" sz="3000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06 de octubre 2025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621098" y="8734425"/>
            <a:ext cx="450908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56 puntos de historia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0" y="66040"/>
            <a:ext cx="9602407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Impediment </a:t>
            </a:r>
            <a:r>
              <a:rPr lang="en-US" sz="5600" b="1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Log - </a:t>
            </a:r>
            <a:r>
              <a:rPr lang="en-US" sz="56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</a:t>
            </a:r>
            <a:r>
              <a:rPr lang="en-US" sz="5600" b="1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21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0667A774-1D6A-425F-300C-3E479FF140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827593"/>
              </p:ext>
            </p:extLst>
          </p:nvPr>
        </p:nvGraphicFramePr>
        <p:xfrm>
          <a:off x="152400" y="1714500"/>
          <a:ext cx="17830800" cy="740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7165">
                  <a:extLst>
                    <a:ext uri="{9D8B030D-6E8A-4147-A177-3AD203B41FA5}">
                      <a16:colId xmlns:a16="http://schemas.microsoft.com/office/drawing/2014/main" val="3036647114"/>
                    </a:ext>
                  </a:extLst>
                </a:gridCol>
                <a:gridCol w="1477165">
                  <a:extLst>
                    <a:ext uri="{9D8B030D-6E8A-4147-A177-3AD203B41FA5}">
                      <a16:colId xmlns:a16="http://schemas.microsoft.com/office/drawing/2014/main" val="3514855843"/>
                    </a:ext>
                  </a:extLst>
                </a:gridCol>
                <a:gridCol w="922290">
                  <a:extLst>
                    <a:ext uri="{9D8B030D-6E8A-4147-A177-3AD203B41FA5}">
                      <a16:colId xmlns:a16="http://schemas.microsoft.com/office/drawing/2014/main" val="2441720835"/>
                    </a:ext>
                  </a:extLst>
                </a:gridCol>
                <a:gridCol w="929634">
                  <a:extLst>
                    <a:ext uri="{9D8B030D-6E8A-4147-A177-3AD203B41FA5}">
                      <a16:colId xmlns:a16="http://schemas.microsoft.com/office/drawing/2014/main" val="830367853"/>
                    </a:ext>
                  </a:extLst>
                </a:gridCol>
                <a:gridCol w="2661346">
                  <a:extLst>
                    <a:ext uri="{9D8B030D-6E8A-4147-A177-3AD203B41FA5}">
                      <a16:colId xmlns:a16="http://schemas.microsoft.com/office/drawing/2014/main" val="369654015"/>
                    </a:ext>
                  </a:extLst>
                </a:gridCol>
                <a:gridCol w="1500210">
                  <a:extLst>
                    <a:ext uri="{9D8B030D-6E8A-4147-A177-3AD203B41FA5}">
                      <a16:colId xmlns:a16="http://schemas.microsoft.com/office/drawing/2014/main" val="1595647990"/>
                    </a:ext>
                  </a:extLst>
                </a:gridCol>
                <a:gridCol w="1477165">
                  <a:extLst>
                    <a:ext uri="{9D8B030D-6E8A-4147-A177-3AD203B41FA5}">
                      <a16:colId xmlns:a16="http://schemas.microsoft.com/office/drawing/2014/main" val="2865372672"/>
                    </a:ext>
                  </a:extLst>
                </a:gridCol>
                <a:gridCol w="1477165">
                  <a:extLst>
                    <a:ext uri="{9D8B030D-6E8A-4147-A177-3AD203B41FA5}">
                      <a16:colId xmlns:a16="http://schemas.microsoft.com/office/drawing/2014/main" val="66562683"/>
                    </a:ext>
                  </a:extLst>
                </a:gridCol>
                <a:gridCol w="1477165">
                  <a:extLst>
                    <a:ext uri="{9D8B030D-6E8A-4147-A177-3AD203B41FA5}">
                      <a16:colId xmlns:a16="http://schemas.microsoft.com/office/drawing/2014/main" val="4255131531"/>
                    </a:ext>
                  </a:extLst>
                </a:gridCol>
                <a:gridCol w="1477165">
                  <a:extLst>
                    <a:ext uri="{9D8B030D-6E8A-4147-A177-3AD203B41FA5}">
                      <a16:colId xmlns:a16="http://schemas.microsoft.com/office/drawing/2014/main" val="3309430199"/>
                    </a:ext>
                  </a:extLst>
                </a:gridCol>
                <a:gridCol w="1477165">
                  <a:extLst>
                    <a:ext uri="{9D8B030D-6E8A-4147-A177-3AD203B41FA5}">
                      <a16:colId xmlns:a16="http://schemas.microsoft.com/office/drawing/2014/main" val="2054309593"/>
                    </a:ext>
                  </a:extLst>
                </a:gridCol>
                <a:gridCol w="1477165">
                  <a:extLst>
                    <a:ext uri="{9D8B030D-6E8A-4147-A177-3AD203B41FA5}">
                      <a16:colId xmlns:a16="http://schemas.microsoft.com/office/drawing/2014/main" val="297634481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ID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Fecha detectada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Sprint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Origen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Descripción del impedimento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Impacto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Estado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Responsable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 err="1">
                          <a:effectLst/>
                        </a:rPr>
                        <a:t>Accion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Fecha Compromiso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Fecha </a:t>
                      </a:r>
                      <a:r>
                        <a:rPr lang="es-CL" b="0" i="0" dirty="0" err="1">
                          <a:effectLst/>
                        </a:rPr>
                        <a:t>Resolucion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Comentario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976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IMP-01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23-09-2025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Sprint 1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Datos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No hay acceso a los productos de los proveedores web (token/</a:t>
                      </a:r>
                      <a:r>
                        <a:rPr lang="es-ES" b="0" i="0" dirty="0" err="1">
                          <a:effectLst/>
                        </a:rPr>
                        <a:t>login</a:t>
                      </a:r>
                      <a:r>
                        <a:rPr lang="es-ES" b="0" i="0" dirty="0">
                          <a:effectLst/>
                        </a:rPr>
                        <a:t> rechazado, bloqueo </a:t>
                      </a:r>
                      <a:r>
                        <a:rPr lang="es-ES" b="0" i="0" dirty="0" err="1">
                          <a:effectLst/>
                        </a:rPr>
                        <a:t>anti-bot</a:t>
                      </a:r>
                      <a:r>
                        <a:rPr lang="es-ES" b="0" i="0" dirty="0">
                          <a:effectLst/>
                        </a:rPr>
                        <a:t> o </a:t>
                      </a:r>
                      <a:r>
                        <a:rPr lang="es-ES" b="0" i="0" dirty="0" err="1">
                          <a:effectLst/>
                        </a:rPr>
                        <a:t>endpoint</a:t>
                      </a:r>
                      <a:r>
                        <a:rPr lang="es-ES" b="0" i="0" dirty="0">
                          <a:effectLst/>
                        </a:rPr>
                        <a:t> inaccesible). Sin datos para cotizaciones.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Alto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Cerrado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Dev </a:t>
                      </a:r>
                      <a:r>
                        <a:rPr lang="es-ES" dirty="0" err="1"/>
                        <a:t>Team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Solicitar/renovar credenciales y </a:t>
                      </a:r>
                      <a:r>
                        <a:rPr lang="es-ES" b="0" i="0" dirty="0" err="1">
                          <a:effectLst/>
                        </a:rPr>
                        <a:t>whitelist</a:t>
                      </a:r>
                      <a:r>
                        <a:rPr lang="es-ES" b="0" i="0" dirty="0">
                          <a:effectLst/>
                        </a:rPr>
                        <a:t>; confirmar </a:t>
                      </a:r>
                      <a:r>
                        <a:rPr lang="es-ES" b="0" i="0" dirty="0" err="1">
                          <a:effectLst/>
                        </a:rPr>
                        <a:t>ToS</a:t>
                      </a:r>
                      <a:r>
                        <a:rPr lang="es-ES" b="0" i="0" dirty="0">
                          <a:effectLst/>
                        </a:rPr>
                        <a:t>; habilitar plan B de carga CSV/Excel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24-09-2025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25-09-2025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Ticket Enviado a PO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645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IMP-02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11/10/2025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Sprint 1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Datos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Inicialmente se planificó consumir la API del sistema POS para obtener las boletas, pero surgieron limitaciones de acceso y tiempos de respuesta inestables. Esto obligó a cambiar la estrategia y descargar todas las boletas de forma masiva para cargarlas en la base de datos y consumirlas localmente.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Medio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Cerrado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Dev </a:t>
                      </a:r>
                      <a:r>
                        <a:rPr lang="es-ES" dirty="0" err="1"/>
                        <a:t>Team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Se modificó el flujo ETL para incluir una etapa de descarga y carga local de boletas. Esto permitió mantener el rendimiento del sistema y garantizar la disponibilidad de los datos.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12/10/2025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13-10-2025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Cambio de enfoque permitió mantener continuidad del proyecto sin afectar los objetivos del sprint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537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0" y="66040"/>
            <a:ext cx="11540873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Evidencias Pruebas</a:t>
            </a:r>
            <a:r>
              <a:rPr lang="en-US" sz="5600" b="1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- Sprint 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22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0174E6D7-C729-94B1-DB5E-06F48CFC60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826916"/>
              </p:ext>
            </p:extLst>
          </p:nvPr>
        </p:nvGraphicFramePr>
        <p:xfrm>
          <a:off x="762000" y="1981200"/>
          <a:ext cx="17145001" cy="632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744">
                  <a:extLst>
                    <a:ext uri="{9D8B030D-6E8A-4147-A177-3AD203B41FA5}">
                      <a16:colId xmlns:a16="http://schemas.microsoft.com/office/drawing/2014/main" val="3036647114"/>
                    </a:ext>
                  </a:extLst>
                </a:gridCol>
                <a:gridCol w="1009042">
                  <a:extLst>
                    <a:ext uri="{9D8B030D-6E8A-4147-A177-3AD203B41FA5}">
                      <a16:colId xmlns:a16="http://schemas.microsoft.com/office/drawing/2014/main" val="3514855843"/>
                    </a:ext>
                  </a:extLst>
                </a:gridCol>
                <a:gridCol w="2594679">
                  <a:extLst>
                    <a:ext uri="{9D8B030D-6E8A-4147-A177-3AD203B41FA5}">
                      <a16:colId xmlns:a16="http://schemas.microsoft.com/office/drawing/2014/main" val="2441720835"/>
                    </a:ext>
                  </a:extLst>
                </a:gridCol>
                <a:gridCol w="4315756">
                  <a:extLst>
                    <a:ext uri="{9D8B030D-6E8A-4147-A177-3AD203B41FA5}">
                      <a16:colId xmlns:a16="http://schemas.microsoft.com/office/drawing/2014/main" val="830367853"/>
                    </a:ext>
                  </a:extLst>
                </a:gridCol>
                <a:gridCol w="2126195">
                  <a:extLst>
                    <a:ext uri="{9D8B030D-6E8A-4147-A177-3AD203B41FA5}">
                      <a16:colId xmlns:a16="http://schemas.microsoft.com/office/drawing/2014/main" val="369654015"/>
                    </a:ext>
                  </a:extLst>
                </a:gridCol>
                <a:gridCol w="2126195">
                  <a:extLst>
                    <a:ext uri="{9D8B030D-6E8A-4147-A177-3AD203B41FA5}">
                      <a16:colId xmlns:a16="http://schemas.microsoft.com/office/drawing/2014/main" val="1595647990"/>
                    </a:ext>
                  </a:extLst>
                </a:gridCol>
                <a:gridCol w="2126195">
                  <a:extLst>
                    <a:ext uri="{9D8B030D-6E8A-4147-A177-3AD203B41FA5}">
                      <a16:colId xmlns:a16="http://schemas.microsoft.com/office/drawing/2014/main" val="66562683"/>
                    </a:ext>
                  </a:extLst>
                </a:gridCol>
                <a:gridCol w="2126195">
                  <a:extLst>
                    <a:ext uri="{9D8B030D-6E8A-4147-A177-3AD203B41FA5}">
                      <a16:colId xmlns:a16="http://schemas.microsoft.com/office/drawing/2014/main" val="4255131531"/>
                    </a:ext>
                  </a:extLst>
                </a:gridCol>
              </a:tblGrid>
              <a:tr h="1054100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ID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Historia de Usuario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Descripción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Datos de entrada o procedimiento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Criterio de aceptación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Resultado obtenido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Duración estimada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Observaciones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976304"/>
                  </a:ext>
                </a:extLst>
              </a:tr>
              <a:tr h="2319020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TP-01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HU-03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Como administradora quiero visualizar un ranking básico de medicamentos más vendidos para identificar los productos prioritarios.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s-CL" b="0" i="0" dirty="0">
                          <a:effectLst/>
                        </a:rPr>
                        <a:t>Ingreso a la página.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ES" b="0" i="0" dirty="0">
                          <a:effectLst/>
                        </a:rPr>
                        <a:t>Ingreso los datos de prueba “admin@example.com” password123.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ES" b="0" i="0" dirty="0">
                          <a:effectLst/>
                        </a:rPr>
                        <a:t>ingreso a la opción de “</a:t>
                      </a:r>
                      <a:r>
                        <a:rPr lang="es-ES" b="0" i="0" dirty="0" err="1">
                          <a:effectLst/>
                        </a:rPr>
                        <a:t>dashboard</a:t>
                      </a:r>
                      <a:r>
                        <a:rPr lang="es-ES" b="0" i="0" dirty="0">
                          <a:effectLst/>
                        </a:rPr>
                        <a:t>”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ES" b="0" i="0" dirty="0">
                          <a:effectLst/>
                        </a:rPr>
                        <a:t>Visualizo el </a:t>
                      </a:r>
                      <a:r>
                        <a:rPr lang="es-ES" b="0" i="0" dirty="0" err="1">
                          <a:effectLst/>
                        </a:rPr>
                        <a:t>dashboard</a:t>
                      </a:r>
                      <a:r>
                        <a:rPr lang="es-ES" b="0" i="0" dirty="0">
                          <a:effectLst/>
                        </a:rPr>
                        <a:t>, junto a los 10 productos más vendidos.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Visualizar correctamente un </a:t>
                      </a:r>
                      <a:r>
                        <a:rPr lang="es-ES" b="0" i="0" dirty="0" err="1">
                          <a:effectLst/>
                        </a:rPr>
                        <a:t>dashboard</a:t>
                      </a:r>
                      <a:r>
                        <a:rPr lang="es-ES" b="0" i="0" dirty="0">
                          <a:effectLst/>
                        </a:rPr>
                        <a:t> y los 10 productos más vendidos para tener una visión informada global.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Visualizo correctamente el ranking básico de medicamentos más vendidos en base al filtro aplicado.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Aprobado.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-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645048"/>
                  </a:ext>
                </a:extLst>
              </a:tr>
              <a:tr h="2951480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TP-02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HU-07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Como administradora quiero visualizar los productos más vendidos con mayor margen de ganancia y crecimiento mensual para detectar oportunidades y optimizar el stock.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s-CL" b="0" i="0" dirty="0">
                          <a:effectLst/>
                        </a:rPr>
                        <a:t>Ingreso a la página.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ES" b="0" i="0" dirty="0">
                          <a:effectLst/>
                        </a:rPr>
                        <a:t>Ingreso los datos de prueba “admin@example.com” password123.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CL" b="0" i="0" dirty="0">
                          <a:effectLst/>
                        </a:rPr>
                        <a:t>Ingreso a “Ranking”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ES" b="0" i="0" dirty="0">
                          <a:effectLst/>
                        </a:rPr>
                        <a:t>Visualizo un top 100 de productos dividido por margen, ventas, frecuencia de aparición en boletas y por crecimiento en relación a un periodo filtrado.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Visualizar productos más vendidos y con más margen de crecimiento para poder tomar mejores decisiones para comprar o no productos.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Ranking de productos correctamente visualizado.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Aprobado.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-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537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57175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4604924"/>
            <a:ext cx="2872744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132166" y="1575255"/>
            <a:ext cx="945928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Integración IA Básica para Insights en el ranking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36281" y="4908550"/>
            <a:ext cx="180118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 Semana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15744" y="4604924"/>
            <a:ext cx="286706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32166" y="2203905"/>
            <a:ext cx="972060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Integración Proveedores Excel.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32166" y="2851605"/>
            <a:ext cx="9459281" cy="492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Diseño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interfaz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cotización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Proveedores</a:t>
            </a:r>
            <a:endParaRPr lang="en-US" sz="3000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132166" y="7671974"/>
            <a:ext cx="724471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Cotización de 2 proveedores (Min.)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32166" y="4157249"/>
            <a:ext cx="9559294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Integración modulo Drag &amp; Drop para Proveedores Excel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32166" y="3499305"/>
            <a:ext cx="925925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UI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Comparador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precio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entre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Proveedores</a:t>
            </a:r>
            <a:endParaRPr lang="en-US" sz="3000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132166" y="5347874"/>
            <a:ext cx="9359269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Parser Excel para agregarlo al comparador de precios.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07603" y="8938462"/>
            <a:ext cx="3272794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Ceremonias Scrum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21841" y="9763326"/>
            <a:ext cx="4044319" cy="429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Correcciones del cliente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043509" y="9346131"/>
            <a:ext cx="20098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132166" y="6509924"/>
            <a:ext cx="8073261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Alertas por Antigüedad de Excel de proveedor.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24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36419" y="-5176"/>
            <a:ext cx="15677578" cy="1953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Los</a:t>
            </a: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sprints: </a:t>
            </a: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Como se previeron, y como se desarrollaron.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342796" y="-38637"/>
            <a:ext cx="9602407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</a:t>
            </a:r>
            <a:r>
              <a:rPr lang="en-US" sz="5600" b="1" dirty="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Backlog - </a:t>
            </a:r>
            <a:r>
              <a:rPr lang="en-US" sz="56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</a:t>
            </a:r>
            <a:r>
              <a:rPr lang="en-US" sz="5600" b="1" dirty="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25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94FF6521-D2EC-716B-25DF-02158A7459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005814"/>
              </p:ext>
            </p:extLst>
          </p:nvPr>
        </p:nvGraphicFramePr>
        <p:xfrm>
          <a:off x="342900" y="1035676"/>
          <a:ext cx="17602200" cy="8774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303664711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514855843"/>
                    </a:ext>
                  </a:extLst>
                </a:gridCol>
                <a:gridCol w="4391025">
                  <a:extLst>
                    <a:ext uri="{9D8B030D-6E8A-4147-A177-3AD203B41FA5}">
                      <a16:colId xmlns:a16="http://schemas.microsoft.com/office/drawing/2014/main" val="2441720835"/>
                    </a:ext>
                  </a:extLst>
                </a:gridCol>
                <a:gridCol w="2200275">
                  <a:extLst>
                    <a:ext uri="{9D8B030D-6E8A-4147-A177-3AD203B41FA5}">
                      <a16:colId xmlns:a16="http://schemas.microsoft.com/office/drawing/2014/main" val="830367853"/>
                    </a:ext>
                  </a:extLst>
                </a:gridCol>
                <a:gridCol w="2200275">
                  <a:extLst>
                    <a:ext uri="{9D8B030D-6E8A-4147-A177-3AD203B41FA5}">
                      <a16:colId xmlns:a16="http://schemas.microsoft.com/office/drawing/2014/main" val="369654015"/>
                    </a:ext>
                  </a:extLst>
                </a:gridCol>
                <a:gridCol w="2200275">
                  <a:extLst>
                    <a:ext uri="{9D8B030D-6E8A-4147-A177-3AD203B41FA5}">
                      <a16:colId xmlns:a16="http://schemas.microsoft.com/office/drawing/2014/main" val="1595647990"/>
                    </a:ext>
                  </a:extLst>
                </a:gridCol>
                <a:gridCol w="2200275">
                  <a:extLst>
                    <a:ext uri="{9D8B030D-6E8A-4147-A177-3AD203B41FA5}">
                      <a16:colId xmlns:a16="http://schemas.microsoft.com/office/drawing/2014/main" val="66562683"/>
                    </a:ext>
                  </a:extLst>
                </a:gridCol>
                <a:gridCol w="2200275">
                  <a:extLst>
                    <a:ext uri="{9D8B030D-6E8A-4147-A177-3AD203B41FA5}">
                      <a16:colId xmlns:a16="http://schemas.microsoft.com/office/drawing/2014/main" val="425513153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lang="es-ES" dirty="0"/>
                        <a:t>ID Tarea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Historia de usuario asociada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Descripción de la Tarea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Responsable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Estado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Prioridad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Duración estimada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Observaciones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976304"/>
                  </a:ext>
                </a:extLst>
              </a:tr>
              <a:tr h="1356206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MAD-3 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HU-09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Integrar IA básica para generar </a:t>
                      </a:r>
                      <a:r>
                        <a:rPr lang="es-ES" b="0" i="0" dirty="0" err="1">
                          <a:effectLst/>
                        </a:rPr>
                        <a:t>insights</a:t>
                      </a:r>
                      <a:r>
                        <a:rPr lang="es-ES" b="0" i="0" dirty="0">
                          <a:effectLst/>
                        </a:rPr>
                        <a:t> automáticos en el ranking de productos, analizando datos de ventas y proveedores.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Alta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3 días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Se configuró el modelo inicial de IA con resultados satisfactorios.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645048"/>
                  </a:ext>
                </a:extLst>
              </a:tr>
              <a:tr h="2045547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MAD-4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HU-08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Generar apartado para </a:t>
                      </a:r>
                      <a:r>
                        <a:rPr lang="es-ES" b="0" i="0" dirty="0" err="1">
                          <a:effectLst/>
                        </a:rPr>
                        <a:t>excel</a:t>
                      </a:r>
                      <a:r>
                        <a:rPr lang="es-ES" b="0" i="0" dirty="0">
                          <a:effectLst/>
                        </a:rPr>
                        <a:t> en la pagina y </a:t>
                      </a:r>
                      <a:r>
                        <a:rPr lang="es-ES" b="0" i="0" dirty="0" err="1">
                          <a:effectLst/>
                        </a:rPr>
                        <a:t>asi</a:t>
                      </a:r>
                      <a:r>
                        <a:rPr lang="es-ES" b="0" i="0" dirty="0">
                          <a:effectLst/>
                        </a:rPr>
                        <a:t> obtener precios actualizados de los proveedores.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Alta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2 días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Apartado generado correctamente y funcional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53788"/>
                  </a:ext>
                </a:extLst>
              </a:tr>
              <a:tr h="2045547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MAD-6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HU-08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Diseñar la interfaz para la sección de cotización de proveedores, permitiendo visualización clara de precios y productos.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Media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2 días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Interfaz validada por la clienta, diseño responsivo.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759064"/>
                  </a:ext>
                </a:extLst>
              </a:tr>
              <a:tr h="1208732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MAD-7</a:t>
                      </a:r>
                      <a:endParaRPr lang="es-CL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HU-08</a:t>
                      </a:r>
                      <a:endParaRPr lang="es-CL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Implementar la interfaz del comparador de precios entre proveedores con indicadores de mejor opción.</a:t>
                      </a:r>
                      <a:endParaRPr lang="es-CL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Alta</a:t>
                      </a:r>
                      <a:endParaRPr lang="es-CL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3 días</a:t>
                      </a:r>
                      <a:endParaRPr lang="es-CL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Incluye indicador visual de ahorro por proveedor.</a:t>
                      </a:r>
                      <a:endParaRPr lang="es-CL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167579"/>
                  </a:ext>
                </a:extLst>
              </a:tr>
              <a:tr h="929794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MAD-8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HU-08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Desarrollar módulo Drag &amp; </a:t>
                      </a:r>
                      <a:r>
                        <a:rPr lang="es-CL" b="0" i="0" dirty="0" err="1">
                          <a:effectLst/>
                        </a:rPr>
                        <a:t>Drop</a:t>
                      </a:r>
                      <a:r>
                        <a:rPr lang="es-CL" b="0" i="0" dirty="0">
                          <a:effectLst/>
                        </a:rPr>
                        <a:t> para cargar catálogos de proveedores en formato Excel.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Media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1 día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Funcionalidad probada y validada con archivos reales.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805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419600" y="0"/>
            <a:ext cx="9602407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</a:t>
            </a:r>
            <a:r>
              <a:rPr lang="en-US" sz="5600" b="1" dirty="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Backlog - </a:t>
            </a:r>
            <a:r>
              <a:rPr lang="en-US" sz="56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</a:t>
            </a:r>
            <a:r>
              <a:rPr lang="en-US" sz="5600" b="1" dirty="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26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D6671F2B-FFE4-02CD-7B89-943D0CAB27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521828"/>
              </p:ext>
            </p:extLst>
          </p:nvPr>
        </p:nvGraphicFramePr>
        <p:xfrm>
          <a:off x="342900" y="1035676"/>
          <a:ext cx="17602200" cy="7844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303664711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514855843"/>
                    </a:ext>
                  </a:extLst>
                </a:gridCol>
                <a:gridCol w="4391025">
                  <a:extLst>
                    <a:ext uri="{9D8B030D-6E8A-4147-A177-3AD203B41FA5}">
                      <a16:colId xmlns:a16="http://schemas.microsoft.com/office/drawing/2014/main" val="2441720835"/>
                    </a:ext>
                  </a:extLst>
                </a:gridCol>
                <a:gridCol w="2200275">
                  <a:extLst>
                    <a:ext uri="{9D8B030D-6E8A-4147-A177-3AD203B41FA5}">
                      <a16:colId xmlns:a16="http://schemas.microsoft.com/office/drawing/2014/main" val="830367853"/>
                    </a:ext>
                  </a:extLst>
                </a:gridCol>
                <a:gridCol w="2200275">
                  <a:extLst>
                    <a:ext uri="{9D8B030D-6E8A-4147-A177-3AD203B41FA5}">
                      <a16:colId xmlns:a16="http://schemas.microsoft.com/office/drawing/2014/main" val="369654015"/>
                    </a:ext>
                  </a:extLst>
                </a:gridCol>
                <a:gridCol w="2200275">
                  <a:extLst>
                    <a:ext uri="{9D8B030D-6E8A-4147-A177-3AD203B41FA5}">
                      <a16:colId xmlns:a16="http://schemas.microsoft.com/office/drawing/2014/main" val="1595647990"/>
                    </a:ext>
                  </a:extLst>
                </a:gridCol>
                <a:gridCol w="2200275">
                  <a:extLst>
                    <a:ext uri="{9D8B030D-6E8A-4147-A177-3AD203B41FA5}">
                      <a16:colId xmlns:a16="http://schemas.microsoft.com/office/drawing/2014/main" val="66562683"/>
                    </a:ext>
                  </a:extLst>
                </a:gridCol>
                <a:gridCol w="2200275">
                  <a:extLst>
                    <a:ext uri="{9D8B030D-6E8A-4147-A177-3AD203B41FA5}">
                      <a16:colId xmlns:a16="http://schemas.microsoft.com/office/drawing/2014/main" val="425513153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lang="es-ES" dirty="0"/>
                        <a:t>ID Tarea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Historia de usuario asociada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Descripción de la Tarea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Responsable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Estado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Prioridad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Duración estimada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Observaciones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976304"/>
                  </a:ext>
                </a:extLst>
              </a:tr>
              <a:tr h="1356206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MAD-9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HU-08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Implementar </a:t>
                      </a:r>
                      <a:r>
                        <a:rPr lang="es-CL" b="0" i="0" dirty="0" err="1">
                          <a:effectLst/>
                        </a:rPr>
                        <a:t>parser</a:t>
                      </a:r>
                      <a:r>
                        <a:rPr lang="es-CL" b="0" i="0" dirty="0">
                          <a:effectLst/>
                        </a:rPr>
                        <a:t> de archivos Excel para procesar y almacenar automáticamente los catálogos de precios.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Alta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3 días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Validación automática de columnas implementada.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645048"/>
                  </a:ext>
                </a:extLst>
              </a:tr>
              <a:tr h="2045547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MAD-11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HU-11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Implementar alertas automáticas por antigüedad de catálogos Excel de proveedores.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Alta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2 días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Notificaciones generadas correctamente al superar umbral.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53788"/>
                  </a:ext>
                </a:extLst>
              </a:tr>
              <a:tr h="2045547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MAD-12</a:t>
                      </a:r>
                      <a:endParaRPr lang="es-CL" dirty="0"/>
                    </a:p>
                  </a:txBody>
                  <a:tcP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HU-08</a:t>
                      </a:r>
                      <a:endParaRPr lang="es-CL" dirty="0"/>
                    </a:p>
                  </a:txBody>
                  <a:tcP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Crear proceso de cotización entre al menos dos proveedores con resultados comparativos.</a:t>
                      </a:r>
                      <a:endParaRPr lang="es-CL" dirty="0"/>
                    </a:p>
                  </a:txBody>
                  <a:tcP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Media</a:t>
                      </a:r>
                      <a:endParaRPr lang="es-CL" dirty="0"/>
                    </a:p>
                  </a:txBody>
                  <a:tcP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2 días</a:t>
                      </a:r>
                      <a:endParaRPr lang="es-CL" dirty="0"/>
                    </a:p>
                  </a:txBody>
                  <a:tcP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Cotización mínima funcional verificada.</a:t>
                      </a:r>
                      <a:endParaRPr lang="es-CL" dirty="0"/>
                    </a:p>
                  </a:txBody>
                  <a:tcPr>
                    <a:solidFill>
                      <a:srgbClr val="55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759064"/>
                  </a:ext>
                </a:extLst>
              </a:tr>
              <a:tr h="1208732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MAD-53</a:t>
                      </a:r>
                      <a:endParaRPr lang="es-CL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HU-13</a:t>
                      </a:r>
                      <a:endParaRPr lang="es-CL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Implementar sistema de mensajería interna entre usuarios del sistema para comunicación directa.</a:t>
                      </a:r>
                      <a:endParaRPr lang="es-CL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Alta</a:t>
                      </a:r>
                      <a:endParaRPr lang="es-CL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3 días</a:t>
                      </a:r>
                      <a:endParaRPr lang="es-CL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Sistema funcional con envío, lectura y archivado de mensajes.</a:t>
                      </a:r>
                      <a:endParaRPr lang="es-CL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1675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904454"/>
            <a:ext cx="18288000" cy="6697980"/>
          </a:xfrm>
          <a:custGeom>
            <a:avLst/>
            <a:gdLst/>
            <a:ahLst/>
            <a:cxnLst/>
            <a:rect l="l" t="t" r="r" b="b"/>
            <a:pathLst>
              <a:path w="18288000" h="6697980">
                <a:moveTo>
                  <a:pt x="0" y="0"/>
                </a:moveTo>
                <a:lnTo>
                  <a:pt x="18288000" y="0"/>
                </a:lnTo>
                <a:lnTo>
                  <a:pt x="18288000" y="6697980"/>
                </a:lnTo>
                <a:lnTo>
                  <a:pt x="0" y="66979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342797" y="490220"/>
            <a:ext cx="9602407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BurnDown </a:t>
            </a:r>
            <a:r>
              <a:rPr lang="en-US" sz="5600" b="1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Chart - </a:t>
            </a:r>
            <a:r>
              <a:rPr lang="en-US" sz="56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</a:t>
            </a:r>
            <a:r>
              <a:rPr lang="en-US" sz="5600" b="1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27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391035" y="2620868"/>
            <a:ext cx="813897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6 de octubre 2025 </a:t>
            </a:r>
            <a:r>
              <a:rPr lang="en-US" sz="3000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27 de octubre 2025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621098" y="8734425"/>
            <a:ext cx="450908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71 puntos de historia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0" y="66040"/>
            <a:ext cx="11540873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Evidencias Pruebas</a:t>
            </a:r>
            <a:r>
              <a:rPr lang="en-US" sz="5600" b="1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- Sprint 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28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18F52726-911A-7D01-61AA-295D9BBA5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760125"/>
              </p:ext>
            </p:extLst>
          </p:nvPr>
        </p:nvGraphicFramePr>
        <p:xfrm>
          <a:off x="762000" y="1981200"/>
          <a:ext cx="17145001" cy="529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744">
                  <a:extLst>
                    <a:ext uri="{9D8B030D-6E8A-4147-A177-3AD203B41FA5}">
                      <a16:colId xmlns:a16="http://schemas.microsoft.com/office/drawing/2014/main" val="3036647114"/>
                    </a:ext>
                  </a:extLst>
                </a:gridCol>
                <a:gridCol w="1009042">
                  <a:extLst>
                    <a:ext uri="{9D8B030D-6E8A-4147-A177-3AD203B41FA5}">
                      <a16:colId xmlns:a16="http://schemas.microsoft.com/office/drawing/2014/main" val="3514855843"/>
                    </a:ext>
                  </a:extLst>
                </a:gridCol>
                <a:gridCol w="2594679">
                  <a:extLst>
                    <a:ext uri="{9D8B030D-6E8A-4147-A177-3AD203B41FA5}">
                      <a16:colId xmlns:a16="http://schemas.microsoft.com/office/drawing/2014/main" val="2441720835"/>
                    </a:ext>
                  </a:extLst>
                </a:gridCol>
                <a:gridCol w="4315756">
                  <a:extLst>
                    <a:ext uri="{9D8B030D-6E8A-4147-A177-3AD203B41FA5}">
                      <a16:colId xmlns:a16="http://schemas.microsoft.com/office/drawing/2014/main" val="830367853"/>
                    </a:ext>
                  </a:extLst>
                </a:gridCol>
                <a:gridCol w="2126195">
                  <a:extLst>
                    <a:ext uri="{9D8B030D-6E8A-4147-A177-3AD203B41FA5}">
                      <a16:colId xmlns:a16="http://schemas.microsoft.com/office/drawing/2014/main" val="369654015"/>
                    </a:ext>
                  </a:extLst>
                </a:gridCol>
                <a:gridCol w="2126195">
                  <a:extLst>
                    <a:ext uri="{9D8B030D-6E8A-4147-A177-3AD203B41FA5}">
                      <a16:colId xmlns:a16="http://schemas.microsoft.com/office/drawing/2014/main" val="1595647990"/>
                    </a:ext>
                  </a:extLst>
                </a:gridCol>
                <a:gridCol w="2126195">
                  <a:extLst>
                    <a:ext uri="{9D8B030D-6E8A-4147-A177-3AD203B41FA5}">
                      <a16:colId xmlns:a16="http://schemas.microsoft.com/office/drawing/2014/main" val="66562683"/>
                    </a:ext>
                  </a:extLst>
                </a:gridCol>
                <a:gridCol w="2126195">
                  <a:extLst>
                    <a:ext uri="{9D8B030D-6E8A-4147-A177-3AD203B41FA5}">
                      <a16:colId xmlns:a16="http://schemas.microsoft.com/office/drawing/2014/main" val="4255131531"/>
                    </a:ext>
                  </a:extLst>
                </a:gridCol>
              </a:tblGrid>
              <a:tr h="1544482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ID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Historia de Usuario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Descripción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Datos de entrada o procedimiento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Criterio de aceptación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Resultado obtenido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Duración estimada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Observaciones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976304"/>
                  </a:ext>
                </a:extLst>
              </a:tr>
              <a:tr h="3751418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TP-03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HU-08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Como administradora quiero comparar los precios de los productos entre distintos proveedores para identificar las mejores opciones de compra.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s-CL" b="0" i="0" dirty="0">
                          <a:effectLst/>
                        </a:rPr>
                        <a:t>Ingreso a la página.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ES" b="0" i="0" dirty="0">
                          <a:effectLst/>
                        </a:rPr>
                        <a:t>Ingreso los datos de prueba “admin@example.com” password123.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ES" b="0" i="0" dirty="0">
                          <a:effectLst/>
                        </a:rPr>
                        <a:t>ingreso a la opción de “proveedores”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ES" b="0" i="0" dirty="0">
                          <a:effectLst/>
                        </a:rPr>
                        <a:t>Visualizo el listado con los proveedores.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ES" b="0" i="0" dirty="0">
                          <a:effectLst/>
                        </a:rPr>
                        <a:t>Selecciono la casilla “Mostrar los productos con múltiples proveedores”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ES" b="0" i="0" dirty="0">
                          <a:effectLst/>
                        </a:rPr>
                        <a:t>Visualizo la comparación entre precios correctamente.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Visualizar correctamente una interfaz que permita comparar el precio del mismo productos entre proveedores para seleccionar el más económico.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Visualizo correctamente la interfaz y comparo los precios entre los proveedores.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Aprobado.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-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6450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57175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4604924"/>
            <a:ext cx="2872744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436612" y="2238776"/>
            <a:ext cx="778764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Cotización de todos los proveedores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36281" y="4908550"/>
            <a:ext cx="180118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 Semana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15744" y="4604924"/>
            <a:ext cx="286706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36612" y="5049151"/>
            <a:ext cx="738795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IA da insights de los proveedores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36612" y="2976763"/>
            <a:ext cx="787336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Filtro avanzado de Proveedores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21350" y="9556778"/>
            <a:ext cx="4044319" cy="429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Correcciones del cliente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36612" y="3710188"/>
            <a:ext cx="795909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Documentación SwaggerUI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07113" y="8731913"/>
            <a:ext cx="3272794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Ceremonias Scrum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43019" y="9139583"/>
            <a:ext cx="20098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36612" y="6449326"/>
            <a:ext cx="7387950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Integración de la IA en la interfaz de proveedores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36612" y="4379670"/>
            <a:ext cx="738795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IA da insights avanzados en Ranking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36612" y="5715901"/>
            <a:ext cx="807326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Alertas stock bajo.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29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36419" y="-5176"/>
            <a:ext cx="15677578" cy="1953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Los</a:t>
            </a: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sprints: </a:t>
            </a: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Como se previeron, y como se desarrollaron.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57175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4604924"/>
            <a:ext cx="2872744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779512" y="2453329"/>
            <a:ext cx="778764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Manual de Usuario para Cliente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36281" y="4908550"/>
            <a:ext cx="180118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 Semana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15744" y="4604924"/>
            <a:ext cx="286706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79512" y="3128215"/>
            <a:ext cx="738795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Documentacion Final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79512" y="3831861"/>
            <a:ext cx="787336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Generar video tutorial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79512" y="4484323"/>
            <a:ext cx="8073261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Driver JS para guiar al usuario en el sistema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79512" y="5785638"/>
            <a:ext cx="807326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Mejoras en Seguridad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79512" y="6576213"/>
            <a:ext cx="724471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Despliegue en Producción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07603" y="8803005"/>
            <a:ext cx="3272794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Ceremonias Scrum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71772" y="9556778"/>
            <a:ext cx="5144456" cy="429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Correcciones finales del cliente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943019" y="9139583"/>
            <a:ext cx="20098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79512" y="7272963"/>
            <a:ext cx="778764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Capacitación del cliente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30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36419" y="-5176"/>
            <a:ext cx="15677578" cy="1953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Los</a:t>
            </a: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sprints: </a:t>
            </a: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Como se previeron, y como se desarrollaron.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384752" y="933612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31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42796" y="0"/>
            <a:ext cx="9602407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</a:t>
            </a:r>
            <a:r>
              <a:rPr lang="en-US" sz="5600" b="1" dirty="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Backlog - </a:t>
            </a:r>
            <a:r>
              <a:rPr lang="en-US" sz="56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</a:t>
            </a:r>
            <a:r>
              <a:rPr lang="en-US" sz="5600" b="1" dirty="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3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E6098E04-3176-B827-A7E5-175B86E95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868564"/>
              </p:ext>
            </p:extLst>
          </p:nvPr>
        </p:nvGraphicFramePr>
        <p:xfrm>
          <a:off x="1495424" y="1181100"/>
          <a:ext cx="15297150" cy="8670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948">
                  <a:extLst>
                    <a:ext uri="{9D8B030D-6E8A-4147-A177-3AD203B41FA5}">
                      <a16:colId xmlns:a16="http://schemas.microsoft.com/office/drawing/2014/main" val="3036647114"/>
                    </a:ext>
                  </a:extLst>
                </a:gridCol>
                <a:gridCol w="1973243">
                  <a:extLst>
                    <a:ext uri="{9D8B030D-6E8A-4147-A177-3AD203B41FA5}">
                      <a16:colId xmlns:a16="http://schemas.microsoft.com/office/drawing/2014/main" val="3514855843"/>
                    </a:ext>
                  </a:extLst>
                </a:gridCol>
                <a:gridCol w="2302116">
                  <a:extLst>
                    <a:ext uri="{9D8B030D-6E8A-4147-A177-3AD203B41FA5}">
                      <a16:colId xmlns:a16="http://schemas.microsoft.com/office/drawing/2014/main" val="2441720835"/>
                    </a:ext>
                  </a:extLst>
                </a:gridCol>
                <a:gridCol w="2548772">
                  <a:extLst>
                    <a:ext uri="{9D8B030D-6E8A-4147-A177-3AD203B41FA5}">
                      <a16:colId xmlns:a16="http://schemas.microsoft.com/office/drawing/2014/main" val="830367853"/>
                    </a:ext>
                  </a:extLst>
                </a:gridCol>
                <a:gridCol w="1562150">
                  <a:extLst>
                    <a:ext uri="{9D8B030D-6E8A-4147-A177-3AD203B41FA5}">
                      <a16:colId xmlns:a16="http://schemas.microsoft.com/office/drawing/2014/main" val="369654015"/>
                    </a:ext>
                  </a:extLst>
                </a:gridCol>
                <a:gridCol w="1197649">
                  <a:extLst>
                    <a:ext uri="{9D8B030D-6E8A-4147-A177-3AD203B41FA5}">
                      <a16:colId xmlns:a16="http://schemas.microsoft.com/office/drawing/2014/main" val="1595647990"/>
                    </a:ext>
                  </a:extLst>
                </a:gridCol>
                <a:gridCol w="2167551">
                  <a:extLst>
                    <a:ext uri="{9D8B030D-6E8A-4147-A177-3AD203B41FA5}">
                      <a16:colId xmlns:a16="http://schemas.microsoft.com/office/drawing/2014/main" val="66562683"/>
                    </a:ext>
                  </a:extLst>
                </a:gridCol>
                <a:gridCol w="2435721">
                  <a:extLst>
                    <a:ext uri="{9D8B030D-6E8A-4147-A177-3AD203B41FA5}">
                      <a16:colId xmlns:a16="http://schemas.microsoft.com/office/drawing/2014/main" val="4255131531"/>
                    </a:ext>
                  </a:extLst>
                </a:gridCol>
              </a:tblGrid>
              <a:tr h="580699">
                <a:tc>
                  <a:txBody>
                    <a:bodyPr/>
                    <a:lstStyle/>
                    <a:p>
                      <a:r>
                        <a:rPr lang="es-ES" dirty="0"/>
                        <a:t>ID Tarea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Historia de usuario asociada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Descripción de la Tarea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Responsable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Estado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Prioridad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Duración estimada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Observaciones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976304"/>
                  </a:ext>
                </a:extLst>
              </a:tr>
              <a:tr h="1122283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MAD-15</a:t>
                      </a:r>
                      <a:endParaRPr lang="es-CL" dirty="0"/>
                    </a:p>
                  </a:txBody>
                  <a:tcP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HU-08</a:t>
                      </a:r>
                      <a:endParaRPr lang="es-CL" dirty="0"/>
                    </a:p>
                  </a:txBody>
                  <a:tcP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Cotización de todos los proveedores</a:t>
                      </a:r>
                      <a:endParaRPr lang="es-CL" dirty="0"/>
                    </a:p>
                  </a:txBody>
                  <a:tcP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Alta</a:t>
                      </a:r>
                      <a:endParaRPr lang="es-CL" dirty="0"/>
                    </a:p>
                  </a:txBody>
                  <a:tcP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3 días</a:t>
                      </a:r>
                      <a:endParaRPr lang="es-CL" dirty="0"/>
                    </a:p>
                  </a:txBody>
                  <a:tcP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Compara precios entre proveedores</a:t>
                      </a:r>
                      <a:endParaRPr lang="es-CL" dirty="0"/>
                    </a:p>
                  </a:txBody>
                  <a:tcPr>
                    <a:solidFill>
                      <a:srgbClr val="55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645048"/>
                  </a:ext>
                </a:extLst>
              </a:tr>
              <a:tr h="1692724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MAD-22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HU-10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IA da </a:t>
                      </a:r>
                      <a:r>
                        <a:rPr lang="es-CL" b="0" i="0" dirty="0" err="1">
                          <a:effectLst/>
                        </a:rPr>
                        <a:t>insights</a:t>
                      </a:r>
                      <a:r>
                        <a:rPr lang="es-CL" b="0" i="0" dirty="0">
                          <a:effectLst/>
                        </a:rPr>
                        <a:t> avanzados en Ranking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Alta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3 días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Entrega resultados clave.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53788"/>
                  </a:ext>
                </a:extLst>
              </a:tr>
              <a:tr h="1692724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MAD-17</a:t>
                      </a:r>
                      <a:endParaRPr lang="es-CL" dirty="0"/>
                    </a:p>
                  </a:txBody>
                  <a:tcP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HU-05</a:t>
                      </a:r>
                      <a:endParaRPr lang="es-CL" dirty="0"/>
                    </a:p>
                  </a:txBody>
                  <a:tcP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Filtro avanzado de Proveedores</a:t>
                      </a:r>
                      <a:endParaRPr lang="es-CL" dirty="0"/>
                    </a:p>
                  </a:txBody>
                  <a:tcP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Media</a:t>
                      </a:r>
                      <a:endParaRPr lang="es-CL" dirty="0"/>
                    </a:p>
                  </a:txBody>
                  <a:tcP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2 días</a:t>
                      </a:r>
                      <a:endParaRPr lang="es-CL" dirty="0"/>
                    </a:p>
                  </a:txBody>
                  <a:tcP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Filtrado de proveedores correcto.</a:t>
                      </a:r>
                      <a:endParaRPr lang="es-CL" dirty="0"/>
                    </a:p>
                  </a:txBody>
                  <a:tcPr>
                    <a:solidFill>
                      <a:srgbClr val="55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759064"/>
                  </a:ext>
                </a:extLst>
              </a:tr>
              <a:tr h="1000246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MAD-20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HU-12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Documentación </a:t>
                      </a:r>
                      <a:r>
                        <a:rPr lang="es-CL" b="0" i="0" dirty="0" err="1">
                          <a:effectLst/>
                        </a:rPr>
                        <a:t>SwaggerUI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Baja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1 días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 err="1">
                          <a:effectLst/>
                        </a:rPr>
                        <a:t>API’s</a:t>
                      </a:r>
                      <a:r>
                        <a:rPr lang="es-CL" b="0" i="0" dirty="0">
                          <a:effectLst/>
                        </a:rPr>
                        <a:t> del sistema.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167579"/>
                  </a:ext>
                </a:extLst>
              </a:tr>
              <a:tr h="983685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MAD-25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HU-10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b="0" i="0" dirty="0">
                          <a:effectLst/>
                        </a:rPr>
                        <a:t>IA da insights de </a:t>
                      </a:r>
                      <a:r>
                        <a:rPr lang="pt-BR" b="0" i="0" dirty="0" err="1">
                          <a:effectLst/>
                        </a:rPr>
                        <a:t>los</a:t>
                      </a:r>
                      <a:r>
                        <a:rPr lang="pt-BR" b="0" i="0" dirty="0">
                          <a:effectLst/>
                        </a:rPr>
                        <a:t> </a:t>
                      </a:r>
                      <a:r>
                        <a:rPr lang="pt-BR" b="0" i="0" dirty="0" err="1">
                          <a:effectLst/>
                        </a:rPr>
                        <a:t>proveedores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Alta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3 días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Analiza comparaciones clave de productos.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80566"/>
                  </a:ext>
                </a:extLst>
              </a:tr>
              <a:tr h="769419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MAD-31</a:t>
                      </a:r>
                      <a:endParaRPr lang="es-CL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HU-12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Manual de Usuario para Cliente</a:t>
                      </a:r>
                      <a:endParaRPr lang="es-CL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Baja</a:t>
                      </a:r>
                      <a:endParaRPr lang="es-CL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1 días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Manual del sistema.</a:t>
                      </a:r>
                      <a:endParaRPr lang="es-CL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593449"/>
                  </a:ext>
                </a:extLst>
              </a:tr>
              <a:tr h="769419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MAD-26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HU-11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Alertas stock bajo.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Alta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3 días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Notificación de alerta.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5398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7384752" y="933612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32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42796" y="0"/>
            <a:ext cx="9602407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</a:t>
            </a:r>
            <a:r>
              <a:rPr lang="en-US" sz="5600" b="1" dirty="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Backlog - </a:t>
            </a:r>
            <a:r>
              <a:rPr lang="en-US" sz="56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</a:t>
            </a:r>
            <a:r>
              <a:rPr lang="en-US" sz="5600" b="1" dirty="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3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535ABC71-A260-CED9-6F9D-25C5CC69D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047070"/>
              </p:ext>
            </p:extLst>
          </p:nvPr>
        </p:nvGraphicFramePr>
        <p:xfrm>
          <a:off x="1495424" y="1181100"/>
          <a:ext cx="15297150" cy="8670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948">
                  <a:extLst>
                    <a:ext uri="{9D8B030D-6E8A-4147-A177-3AD203B41FA5}">
                      <a16:colId xmlns:a16="http://schemas.microsoft.com/office/drawing/2014/main" val="3036647114"/>
                    </a:ext>
                  </a:extLst>
                </a:gridCol>
                <a:gridCol w="1973243">
                  <a:extLst>
                    <a:ext uri="{9D8B030D-6E8A-4147-A177-3AD203B41FA5}">
                      <a16:colId xmlns:a16="http://schemas.microsoft.com/office/drawing/2014/main" val="3514855843"/>
                    </a:ext>
                  </a:extLst>
                </a:gridCol>
                <a:gridCol w="2302116">
                  <a:extLst>
                    <a:ext uri="{9D8B030D-6E8A-4147-A177-3AD203B41FA5}">
                      <a16:colId xmlns:a16="http://schemas.microsoft.com/office/drawing/2014/main" val="2441720835"/>
                    </a:ext>
                  </a:extLst>
                </a:gridCol>
                <a:gridCol w="2548772">
                  <a:extLst>
                    <a:ext uri="{9D8B030D-6E8A-4147-A177-3AD203B41FA5}">
                      <a16:colId xmlns:a16="http://schemas.microsoft.com/office/drawing/2014/main" val="830367853"/>
                    </a:ext>
                  </a:extLst>
                </a:gridCol>
                <a:gridCol w="1562150">
                  <a:extLst>
                    <a:ext uri="{9D8B030D-6E8A-4147-A177-3AD203B41FA5}">
                      <a16:colId xmlns:a16="http://schemas.microsoft.com/office/drawing/2014/main" val="369654015"/>
                    </a:ext>
                  </a:extLst>
                </a:gridCol>
                <a:gridCol w="1197649">
                  <a:extLst>
                    <a:ext uri="{9D8B030D-6E8A-4147-A177-3AD203B41FA5}">
                      <a16:colId xmlns:a16="http://schemas.microsoft.com/office/drawing/2014/main" val="1595647990"/>
                    </a:ext>
                  </a:extLst>
                </a:gridCol>
                <a:gridCol w="2167551">
                  <a:extLst>
                    <a:ext uri="{9D8B030D-6E8A-4147-A177-3AD203B41FA5}">
                      <a16:colId xmlns:a16="http://schemas.microsoft.com/office/drawing/2014/main" val="66562683"/>
                    </a:ext>
                  </a:extLst>
                </a:gridCol>
                <a:gridCol w="2435721">
                  <a:extLst>
                    <a:ext uri="{9D8B030D-6E8A-4147-A177-3AD203B41FA5}">
                      <a16:colId xmlns:a16="http://schemas.microsoft.com/office/drawing/2014/main" val="4255131531"/>
                    </a:ext>
                  </a:extLst>
                </a:gridCol>
              </a:tblGrid>
              <a:tr h="580699">
                <a:tc>
                  <a:txBody>
                    <a:bodyPr/>
                    <a:lstStyle/>
                    <a:p>
                      <a:r>
                        <a:rPr lang="es-ES" dirty="0"/>
                        <a:t>ID Tarea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Historia de usuario asociada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Descripción de la Tarea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Responsable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Estado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Prioridad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Duración estimada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Observaciones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976304"/>
                  </a:ext>
                </a:extLst>
              </a:tr>
              <a:tr h="1122283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MAD-28</a:t>
                      </a:r>
                      <a:endParaRPr lang="es-CL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HU-09</a:t>
                      </a:r>
                      <a:endParaRPr lang="es-CL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Integración de la IA en la interfaz de proveedores</a:t>
                      </a:r>
                      <a:endParaRPr lang="es-CL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Alta</a:t>
                      </a:r>
                      <a:endParaRPr lang="es-CL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3 días</a:t>
                      </a:r>
                      <a:endParaRPr lang="es-CL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Compara precios de productos de proveedores.</a:t>
                      </a:r>
                      <a:endParaRPr lang="es-CL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645048"/>
                  </a:ext>
                </a:extLst>
              </a:tr>
              <a:tr h="1692724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MAD-32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HU-12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Documentación Final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Baja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1 días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Informativo del sistema.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53788"/>
                  </a:ext>
                </a:extLst>
              </a:tr>
              <a:tr h="1692724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MAD-33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HU-12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Generar video tutorial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Baja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1 días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Tutorial del sistema.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759064"/>
                  </a:ext>
                </a:extLst>
              </a:tr>
              <a:tr h="1000246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MAD-35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HU-12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Driver JS para guiar al usuario en el sistema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Media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2 días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Guía interactiva dentro del sistema.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167579"/>
                  </a:ext>
                </a:extLst>
              </a:tr>
              <a:tr h="983685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MAD-36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HU-13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Mejoras en Seguridad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Media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2 días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Revisión de seguridad.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80566"/>
                  </a:ext>
                </a:extLst>
              </a:tr>
              <a:tr h="769419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MAD-37</a:t>
                      </a:r>
                      <a:endParaRPr lang="es-CL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HU-13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Despliegue en Producción</a:t>
                      </a:r>
                      <a:endParaRPr lang="es-CL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Baja</a:t>
                      </a:r>
                      <a:endParaRPr lang="es-CL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1 días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.</a:t>
                      </a:r>
                      <a:endParaRPr lang="es-CL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593449"/>
                  </a:ext>
                </a:extLst>
              </a:tr>
              <a:tr h="769419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MAD-38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HU-12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Capacitación del cliente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Baja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1 días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.</a:t>
                      </a:r>
                      <a:endParaRPr lang="es-CL" dirty="0"/>
                    </a:p>
                  </a:txBody>
                  <a:tcP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5398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103120"/>
            <a:ext cx="18288000" cy="6697980"/>
          </a:xfrm>
          <a:custGeom>
            <a:avLst/>
            <a:gdLst/>
            <a:ahLst/>
            <a:cxnLst/>
            <a:rect l="l" t="t" r="r" b="b"/>
            <a:pathLst>
              <a:path w="18288000" h="6697980">
                <a:moveTo>
                  <a:pt x="0" y="0"/>
                </a:moveTo>
                <a:lnTo>
                  <a:pt x="18288000" y="0"/>
                </a:lnTo>
                <a:lnTo>
                  <a:pt x="18288000" y="6697980"/>
                </a:lnTo>
                <a:lnTo>
                  <a:pt x="0" y="66979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342797" y="490220"/>
            <a:ext cx="9602407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BurnDown </a:t>
            </a:r>
            <a:r>
              <a:rPr lang="en-US" sz="5600" b="1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Chart - </a:t>
            </a:r>
            <a:r>
              <a:rPr lang="en-US" sz="56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</a:t>
            </a:r>
            <a:r>
              <a:rPr lang="en-US" sz="5600" b="1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33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391035" y="2620868"/>
            <a:ext cx="844026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27 de octubre 2025 </a:t>
            </a:r>
            <a:r>
              <a:rPr lang="en-US" sz="3000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24 de noviembre 2025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611169" y="8963025"/>
            <a:ext cx="450908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108 puntos de historia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0" y="66040"/>
            <a:ext cx="11540873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Evidencias Pruebas</a:t>
            </a:r>
            <a:r>
              <a:rPr lang="en-US" sz="5600" b="1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- Sprint 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34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EC989090-49BF-4753-E90B-04970ACEE7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466660"/>
              </p:ext>
            </p:extLst>
          </p:nvPr>
        </p:nvGraphicFramePr>
        <p:xfrm>
          <a:off x="762000" y="1981200"/>
          <a:ext cx="17145001" cy="529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744">
                  <a:extLst>
                    <a:ext uri="{9D8B030D-6E8A-4147-A177-3AD203B41FA5}">
                      <a16:colId xmlns:a16="http://schemas.microsoft.com/office/drawing/2014/main" val="3036647114"/>
                    </a:ext>
                  </a:extLst>
                </a:gridCol>
                <a:gridCol w="1009042">
                  <a:extLst>
                    <a:ext uri="{9D8B030D-6E8A-4147-A177-3AD203B41FA5}">
                      <a16:colId xmlns:a16="http://schemas.microsoft.com/office/drawing/2014/main" val="3514855843"/>
                    </a:ext>
                  </a:extLst>
                </a:gridCol>
                <a:gridCol w="2594679">
                  <a:extLst>
                    <a:ext uri="{9D8B030D-6E8A-4147-A177-3AD203B41FA5}">
                      <a16:colId xmlns:a16="http://schemas.microsoft.com/office/drawing/2014/main" val="2441720835"/>
                    </a:ext>
                  </a:extLst>
                </a:gridCol>
                <a:gridCol w="4315756">
                  <a:extLst>
                    <a:ext uri="{9D8B030D-6E8A-4147-A177-3AD203B41FA5}">
                      <a16:colId xmlns:a16="http://schemas.microsoft.com/office/drawing/2014/main" val="830367853"/>
                    </a:ext>
                  </a:extLst>
                </a:gridCol>
                <a:gridCol w="2126195">
                  <a:extLst>
                    <a:ext uri="{9D8B030D-6E8A-4147-A177-3AD203B41FA5}">
                      <a16:colId xmlns:a16="http://schemas.microsoft.com/office/drawing/2014/main" val="369654015"/>
                    </a:ext>
                  </a:extLst>
                </a:gridCol>
                <a:gridCol w="2126195">
                  <a:extLst>
                    <a:ext uri="{9D8B030D-6E8A-4147-A177-3AD203B41FA5}">
                      <a16:colId xmlns:a16="http://schemas.microsoft.com/office/drawing/2014/main" val="1595647990"/>
                    </a:ext>
                  </a:extLst>
                </a:gridCol>
                <a:gridCol w="2126195">
                  <a:extLst>
                    <a:ext uri="{9D8B030D-6E8A-4147-A177-3AD203B41FA5}">
                      <a16:colId xmlns:a16="http://schemas.microsoft.com/office/drawing/2014/main" val="66562683"/>
                    </a:ext>
                  </a:extLst>
                </a:gridCol>
                <a:gridCol w="2126195">
                  <a:extLst>
                    <a:ext uri="{9D8B030D-6E8A-4147-A177-3AD203B41FA5}">
                      <a16:colId xmlns:a16="http://schemas.microsoft.com/office/drawing/2014/main" val="4255131531"/>
                    </a:ext>
                  </a:extLst>
                </a:gridCol>
              </a:tblGrid>
              <a:tr h="1544482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ID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Historia de Usuario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Descripción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Datos de entrada o procedimiento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Criterio de aceptación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Resultado obtenido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Duración estimada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Observaciones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976304"/>
                  </a:ext>
                </a:extLst>
              </a:tr>
              <a:tr h="3751418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TP-04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HU-10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Como administradora quiero realizar cotizaciones avanzadas de todos los proveedores, con filtros y análisis basados en IA, para evaluar tendencias y oportunidades.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s-CL" b="0" i="0" dirty="0">
                          <a:effectLst/>
                        </a:rPr>
                        <a:t>Ingreso a la página.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ES" b="0" i="0" dirty="0">
                          <a:effectLst/>
                        </a:rPr>
                        <a:t>Ingreso los datos de prueba “admin@example.com” password123.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ES" b="0" i="0" dirty="0">
                          <a:effectLst/>
                        </a:rPr>
                        <a:t>ingreso a la opción de “proveedores”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ES" b="0" i="0" dirty="0">
                          <a:effectLst/>
                        </a:rPr>
                        <a:t>Visualizo el listado con los proveedores.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ES" b="0" i="0" dirty="0">
                          <a:effectLst/>
                        </a:rPr>
                        <a:t>Selecciono la opción “Análisis con IA”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CL" b="0" i="0" dirty="0">
                          <a:effectLst/>
                        </a:rPr>
                        <a:t>Visualizo el chat con IA que me permite consultar análisis basados en IA. 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Visualizar correctamente una interfaz que permita realizar análisis avanzados de los proveedores usando inteligencia artificial.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Visualizo correctamente la interfaz y uso correctamente la funcionalidad de IA, permitiendo la consulta de productos, tendencias e información enriquecida por IA.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Aprobado.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-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6450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03283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87350" y="65849"/>
            <a:ext cx="8756650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Gestión de </a:t>
            </a: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riesgos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35</a:t>
            </a: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D435AB97-965A-E81A-8ABE-8790D58592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943414"/>
              </p:ext>
            </p:extLst>
          </p:nvPr>
        </p:nvGraphicFramePr>
        <p:xfrm>
          <a:off x="908338" y="1397832"/>
          <a:ext cx="16628816" cy="7936667"/>
        </p:xfrm>
        <a:graphic>
          <a:graphicData uri="http://schemas.openxmlformats.org/drawingml/2006/table">
            <a:tbl>
              <a:tblPr/>
              <a:tblGrid>
                <a:gridCol w="2078602">
                  <a:extLst>
                    <a:ext uri="{9D8B030D-6E8A-4147-A177-3AD203B41FA5}">
                      <a16:colId xmlns:a16="http://schemas.microsoft.com/office/drawing/2014/main" val="1495780781"/>
                    </a:ext>
                  </a:extLst>
                </a:gridCol>
                <a:gridCol w="2078602">
                  <a:extLst>
                    <a:ext uri="{9D8B030D-6E8A-4147-A177-3AD203B41FA5}">
                      <a16:colId xmlns:a16="http://schemas.microsoft.com/office/drawing/2014/main" val="1496691406"/>
                    </a:ext>
                  </a:extLst>
                </a:gridCol>
                <a:gridCol w="2078602">
                  <a:extLst>
                    <a:ext uri="{9D8B030D-6E8A-4147-A177-3AD203B41FA5}">
                      <a16:colId xmlns:a16="http://schemas.microsoft.com/office/drawing/2014/main" val="389903382"/>
                    </a:ext>
                  </a:extLst>
                </a:gridCol>
                <a:gridCol w="2078602">
                  <a:extLst>
                    <a:ext uri="{9D8B030D-6E8A-4147-A177-3AD203B41FA5}">
                      <a16:colId xmlns:a16="http://schemas.microsoft.com/office/drawing/2014/main" val="855568621"/>
                    </a:ext>
                  </a:extLst>
                </a:gridCol>
                <a:gridCol w="2078602">
                  <a:extLst>
                    <a:ext uri="{9D8B030D-6E8A-4147-A177-3AD203B41FA5}">
                      <a16:colId xmlns:a16="http://schemas.microsoft.com/office/drawing/2014/main" val="2434898837"/>
                    </a:ext>
                  </a:extLst>
                </a:gridCol>
                <a:gridCol w="2078602">
                  <a:extLst>
                    <a:ext uri="{9D8B030D-6E8A-4147-A177-3AD203B41FA5}">
                      <a16:colId xmlns:a16="http://schemas.microsoft.com/office/drawing/2014/main" val="2225273522"/>
                    </a:ext>
                  </a:extLst>
                </a:gridCol>
                <a:gridCol w="2078602">
                  <a:extLst>
                    <a:ext uri="{9D8B030D-6E8A-4147-A177-3AD203B41FA5}">
                      <a16:colId xmlns:a16="http://schemas.microsoft.com/office/drawing/2014/main" val="1721310227"/>
                    </a:ext>
                  </a:extLst>
                </a:gridCol>
                <a:gridCol w="2078602">
                  <a:extLst>
                    <a:ext uri="{9D8B030D-6E8A-4147-A177-3AD203B41FA5}">
                      <a16:colId xmlns:a16="http://schemas.microsoft.com/office/drawing/2014/main" val="732321149"/>
                    </a:ext>
                  </a:extLst>
                </a:gridCol>
              </a:tblGrid>
              <a:tr h="1308924">
                <a:tc>
                  <a:txBody>
                    <a:bodyPr/>
                    <a:lstStyle/>
                    <a:p>
                      <a:r>
                        <a:rPr lang="es-CL" sz="1800" b="1" dirty="0">
                          <a:solidFill>
                            <a:srgbClr val="FFFFFF"/>
                          </a:solidFill>
                          <a:effectLst/>
                        </a:rPr>
                        <a:t>ID de REFERENCIA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b="1">
                          <a:solidFill>
                            <a:srgbClr val="FFFFFF"/>
                          </a:solidFill>
                          <a:effectLst/>
                        </a:rPr>
                        <a:t>RIESGO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b="1">
                          <a:solidFill>
                            <a:srgbClr val="FFFFFF"/>
                          </a:solidFill>
                          <a:effectLst/>
                        </a:rPr>
                        <a:t>DESENCADENANTE DE RIESGOS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b="1">
                          <a:solidFill>
                            <a:srgbClr val="FFFFFF"/>
                          </a:solidFill>
                          <a:effectLst/>
                        </a:rPr>
                        <a:t>CATEGORÍA DE RIESGO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s-CL" sz="1800" b="1" i="0">
                          <a:solidFill>
                            <a:srgbClr val="FFFFFF"/>
                          </a:solidFill>
                          <a:effectLst/>
                        </a:rPr>
                        <a:t>PROBABILIDAD</a:t>
                      </a:r>
                      <a:endParaRPr lang="es-CL" sz="1800" b="1">
                        <a:solidFill>
                          <a:srgbClr val="FFFFFF"/>
                        </a:solidFill>
                        <a:effectLst/>
                      </a:endParaRPr>
                    </a:p>
                    <a:p>
                      <a:pPr algn="l" rtl="0"/>
                      <a:r>
                        <a:rPr lang="es-CL" sz="1800" b="1" i="0">
                          <a:solidFill>
                            <a:srgbClr val="FFFFFF"/>
                          </a:solidFill>
                          <a:effectLst/>
                        </a:rPr>
                        <a:t>1 – 3</a:t>
                      </a:r>
                      <a:endParaRPr lang="es-CL" sz="1800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s-CL" sz="1800" b="1" i="0">
                          <a:solidFill>
                            <a:srgbClr val="FFFFFF"/>
                          </a:solidFill>
                          <a:effectLst/>
                        </a:rPr>
                        <a:t>IMPACTO</a:t>
                      </a:r>
                      <a:endParaRPr lang="es-CL" sz="1800" b="1">
                        <a:solidFill>
                          <a:srgbClr val="FFFFFF"/>
                        </a:solidFill>
                        <a:effectLst/>
                      </a:endParaRPr>
                    </a:p>
                    <a:p>
                      <a:pPr algn="l" rtl="0"/>
                      <a:r>
                        <a:rPr lang="es-CL" sz="1800" b="1" i="0">
                          <a:solidFill>
                            <a:srgbClr val="FFFFFF"/>
                          </a:solidFill>
                          <a:effectLst/>
                        </a:rPr>
                        <a:t>1 – 3</a:t>
                      </a:r>
                      <a:endParaRPr lang="es-CL" sz="1800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s-ES" sz="1800" b="1" i="0">
                          <a:solidFill>
                            <a:srgbClr val="FFFFFF"/>
                          </a:solidFill>
                          <a:effectLst/>
                        </a:rPr>
                        <a:t>PUNTUACIÓN PI</a:t>
                      </a:r>
                      <a:endParaRPr lang="es-ES" sz="1800" b="1">
                        <a:solidFill>
                          <a:srgbClr val="FFFFFF"/>
                        </a:solidFill>
                        <a:effectLst/>
                      </a:endParaRPr>
                    </a:p>
                    <a:p>
                      <a:pPr algn="l" rtl="0"/>
                      <a:r>
                        <a:rPr lang="es-ES" sz="1800" b="1" i="0">
                          <a:solidFill>
                            <a:srgbClr val="FFFFFF"/>
                          </a:solidFill>
                          <a:effectLst/>
                        </a:rPr>
                        <a:t>Prob x Impacto</a:t>
                      </a:r>
                      <a:endParaRPr lang="es-ES" sz="1800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b="1" dirty="0">
                          <a:solidFill>
                            <a:srgbClr val="FFFFFF"/>
                          </a:solidFill>
                          <a:effectLst/>
                        </a:rPr>
                        <a:t>Resultado esperado | SIN ACCIÓN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24567"/>
                  </a:ext>
                </a:extLst>
              </a:tr>
              <a:tr h="1464640">
                <a:tc>
                  <a:txBody>
                    <a:bodyPr/>
                    <a:lstStyle/>
                    <a:p>
                      <a:r>
                        <a:rPr lang="es-CL" sz="1800" dirty="0">
                          <a:effectLst/>
                        </a:rPr>
                        <a:t>RI-001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effectLst/>
                        </a:rPr>
                        <a:t>Retraso en credenciales del POS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Cliente demora entrega o revoca acceso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Integraciones y Accesos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 dirty="0">
                          <a:effectLst/>
                        </a:rPr>
                        <a:t>2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 dirty="0">
                          <a:solidFill>
                            <a:srgbClr val="FFFFFF"/>
                          </a:solidFill>
                          <a:effectLst/>
                        </a:rPr>
                        <a:t>3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 b="1" dirty="0">
                          <a:effectLst/>
                        </a:rPr>
                        <a:t>6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Bloqueo de ingesta y atraso del sprint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217780"/>
                  </a:ext>
                </a:extLst>
              </a:tr>
              <a:tr h="1464640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RI-003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effectLst/>
                        </a:rPr>
                        <a:t>Cambios en </a:t>
                      </a:r>
                      <a:r>
                        <a:rPr lang="es-ES" sz="1800" dirty="0" err="1">
                          <a:effectLst/>
                        </a:rPr>
                        <a:t>endpoint</a:t>
                      </a:r>
                      <a:r>
                        <a:rPr lang="es-ES" sz="1800" dirty="0">
                          <a:effectLst/>
                        </a:rPr>
                        <a:t>/esquema POS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Actualización del POS rompe contratos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effectLst/>
                        </a:rPr>
                        <a:t>Integraciones y Accesos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>
                          <a:effectLst/>
                        </a:rPr>
                        <a:t>2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>
                          <a:solidFill>
                            <a:srgbClr val="FFFFFF"/>
                          </a:solidFill>
                          <a:effectLst/>
                        </a:rPr>
                        <a:t>3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 b="1" dirty="0">
                          <a:effectLst/>
                        </a:rPr>
                        <a:t>6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Errores en servicios y ETL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83060"/>
                  </a:ext>
                </a:extLst>
              </a:tr>
              <a:tr h="1232821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RI-004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Límite de tasa en API externa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Proveedor impone throttling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Integraciones y accesos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>
                          <a:effectLst/>
                        </a:rPr>
                        <a:t>3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>
                          <a:effectLst/>
                        </a:rPr>
                        <a:t>3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 b="1" dirty="0">
                          <a:solidFill>
                            <a:srgbClr val="FFFFFF"/>
                          </a:solidFill>
                          <a:effectLst/>
                        </a:rPr>
                        <a:t>9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Respuestas lentas/fallos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149039"/>
                  </a:ext>
                </a:extLst>
              </a:tr>
              <a:tr h="1232821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RI-008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Calidad de datos baja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Nombres duplicados/erróneos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Datos y calidad de datos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>
                          <a:solidFill>
                            <a:srgbClr val="FFFFFF"/>
                          </a:solidFill>
                          <a:effectLst/>
                        </a:rPr>
                        <a:t>2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>
                          <a:solidFill>
                            <a:srgbClr val="FFFFFF"/>
                          </a:solidFill>
                          <a:effectLst/>
                        </a:rPr>
                        <a:t>2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 b="1" dirty="0">
                          <a:effectLst/>
                        </a:rPr>
                        <a:t>4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KPIs/comparaciones incorrectas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431296"/>
                  </a:ext>
                </a:extLst>
              </a:tr>
              <a:tr h="1232821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RI-013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Dashboards lentos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Consultas pesadas/sin índices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Rendimiento y disponibilidad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>
                          <a:effectLst/>
                        </a:rPr>
                        <a:t>2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>
                          <a:effectLst/>
                        </a:rPr>
                        <a:t>2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 b="1" dirty="0">
                          <a:effectLst/>
                        </a:rPr>
                        <a:t>4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effectLst/>
                        </a:rPr>
                        <a:t>Mala experiencia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614978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35D92354-630C-20B5-94DD-71DB26A4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8262" y="1514474"/>
            <a:ext cx="68828058" cy="54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87350" y="65849"/>
            <a:ext cx="8756650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Costo y </a:t>
            </a: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Presupuesto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36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F1F25D69-8B8E-F3AC-17D1-5F60B814A5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444271"/>
              </p:ext>
            </p:extLst>
          </p:nvPr>
        </p:nvGraphicFramePr>
        <p:xfrm>
          <a:off x="756424" y="1314759"/>
          <a:ext cx="16998177" cy="8262180"/>
        </p:xfrm>
        <a:graphic>
          <a:graphicData uri="http://schemas.openxmlformats.org/drawingml/2006/table">
            <a:tbl>
              <a:tblPr/>
              <a:tblGrid>
                <a:gridCol w="5666059">
                  <a:extLst>
                    <a:ext uri="{9D8B030D-6E8A-4147-A177-3AD203B41FA5}">
                      <a16:colId xmlns:a16="http://schemas.microsoft.com/office/drawing/2014/main" val="1160390125"/>
                    </a:ext>
                  </a:extLst>
                </a:gridCol>
                <a:gridCol w="5666059">
                  <a:extLst>
                    <a:ext uri="{9D8B030D-6E8A-4147-A177-3AD203B41FA5}">
                      <a16:colId xmlns:a16="http://schemas.microsoft.com/office/drawing/2014/main" val="1511159453"/>
                    </a:ext>
                  </a:extLst>
                </a:gridCol>
                <a:gridCol w="5666059">
                  <a:extLst>
                    <a:ext uri="{9D8B030D-6E8A-4147-A177-3AD203B41FA5}">
                      <a16:colId xmlns:a16="http://schemas.microsoft.com/office/drawing/2014/main" val="3164345194"/>
                    </a:ext>
                  </a:extLst>
                </a:gridCol>
              </a:tblGrid>
              <a:tr h="1116417">
                <a:tc gridSpan="2">
                  <a:txBody>
                    <a:bodyPr/>
                    <a:lstStyle/>
                    <a:p>
                      <a:r>
                        <a:rPr lang="es-CL" sz="1800" b="1" dirty="0">
                          <a:solidFill>
                            <a:srgbClr val="FFFFFF"/>
                          </a:solidFill>
                          <a:effectLst/>
                        </a:rPr>
                        <a:t>DETALLES</a:t>
                      </a:r>
                    </a:p>
                  </a:txBody>
                  <a:tcPr marL="48094" marR="48094" marT="24047" marB="24047" anchor="ctr">
                    <a:lnL w="190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A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s-CL" sz="1800" b="1">
                          <a:solidFill>
                            <a:srgbClr val="FFFFFF"/>
                          </a:solidFill>
                          <a:effectLst/>
                        </a:rPr>
                        <a:t>INFORMACIÓN ADICIONAL/NOTAS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853917"/>
                  </a:ext>
                </a:extLst>
              </a:tr>
              <a:tr h="502524">
                <a:tc>
                  <a:txBody>
                    <a:bodyPr/>
                    <a:lstStyle/>
                    <a:p>
                      <a:r>
                        <a:rPr lang="es-CL" sz="1800" b="1">
                          <a:solidFill>
                            <a:srgbClr val="FFFFFF"/>
                          </a:solidFill>
                          <a:effectLst/>
                        </a:rPr>
                        <a:t>DESCRIPCIÓN DEL ARTÍCULO/TAREA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b="1">
                          <a:effectLst/>
                        </a:rPr>
                        <a:t>LO MÁS PROBABLE / REALISTA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28296"/>
                  </a:ext>
                </a:extLst>
              </a:tr>
              <a:tr h="996368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Full Stack Developer (Sebastian)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>
                          <a:effectLst/>
                        </a:rPr>
                        <a:t>24 UF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Sueldo estimado por mes. 24 Hrs Por semana (264 hrs en total)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755936"/>
                  </a:ext>
                </a:extLst>
              </a:tr>
              <a:tr h="996368">
                <a:tc>
                  <a:txBody>
                    <a:bodyPr/>
                    <a:lstStyle/>
                    <a:p>
                      <a:r>
                        <a:rPr lang="es-CL" sz="1800" dirty="0">
                          <a:effectLst/>
                        </a:rPr>
                        <a:t>Full </a:t>
                      </a:r>
                      <a:r>
                        <a:rPr lang="es-CL" sz="1800" dirty="0" err="1">
                          <a:effectLst/>
                        </a:rPr>
                        <a:t>Stack</a:t>
                      </a:r>
                      <a:r>
                        <a:rPr lang="es-CL" sz="1800" dirty="0">
                          <a:effectLst/>
                        </a:rPr>
                        <a:t> </a:t>
                      </a:r>
                      <a:r>
                        <a:rPr lang="es-CL" sz="1800" dirty="0" err="1">
                          <a:effectLst/>
                        </a:rPr>
                        <a:t>Developer</a:t>
                      </a:r>
                      <a:r>
                        <a:rPr lang="es-CL" sz="1800" dirty="0">
                          <a:effectLst/>
                        </a:rPr>
                        <a:t> (Jaziel)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 dirty="0">
                          <a:effectLst/>
                        </a:rPr>
                        <a:t>24 UF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Sueldo estimado por mes. 24 Hrs Por semana (264 hrs en total)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737075"/>
                  </a:ext>
                </a:extLst>
              </a:tr>
              <a:tr h="996368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Full Stack Developer (Thomas)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>
                          <a:effectLst/>
                        </a:rPr>
                        <a:t>24 UF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Sueldo estimado por mes. 24 Hrs Por semana (264 hrs en total)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838793"/>
                  </a:ext>
                </a:extLst>
              </a:tr>
              <a:tr h="921973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Hosting BD Supabase Plan PRO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>
                          <a:effectLst/>
                        </a:rPr>
                        <a:t>0,63 UF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Valor mensual por el plan PRO en Supabase.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51669"/>
                  </a:ext>
                </a:extLst>
              </a:tr>
              <a:tr h="867897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Hosting FrontEnd Vercel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>
                          <a:effectLst/>
                        </a:rPr>
                        <a:t>0,50 UF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Valor mensual por plan PRO en Vercel.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280159"/>
                  </a:ext>
                </a:extLst>
              </a:tr>
              <a:tr h="867897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Dominio web .cl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>
                          <a:effectLst/>
                        </a:rPr>
                        <a:t>0,30 UF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DEPENDE DEL NOMBRE, Valor anual.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015142"/>
                  </a:ext>
                </a:extLst>
              </a:tr>
              <a:tr h="996368">
                <a:tc>
                  <a:txBody>
                    <a:bodyPr/>
                    <a:lstStyle/>
                    <a:p>
                      <a:r>
                        <a:rPr lang="fi-FI" sz="1800">
                          <a:effectLst/>
                        </a:rPr>
                        <a:t>API Ollama 3.3 80b (GROQ)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 dirty="0">
                          <a:effectLst/>
                        </a:rPr>
                        <a:t>0 UF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effectLst/>
                        </a:rPr>
                        <a:t>Consultas limitadas (Depende de los recursos disponibles)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896569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002571D7-9F67-A32F-AEF0-8B78D4BD3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849" y="1567016"/>
            <a:ext cx="62266112" cy="5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72839" y="887567"/>
            <a:ext cx="5724612" cy="9239724"/>
          </a:xfrm>
          <a:custGeom>
            <a:avLst/>
            <a:gdLst/>
            <a:ahLst/>
            <a:cxnLst/>
            <a:rect l="l" t="t" r="r" b="b"/>
            <a:pathLst>
              <a:path w="5724612" h="9239724">
                <a:moveTo>
                  <a:pt x="0" y="0"/>
                </a:moveTo>
                <a:lnTo>
                  <a:pt x="5724612" y="0"/>
                </a:lnTo>
                <a:lnTo>
                  <a:pt x="5724612" y="9239724"/>
                </a:lnTo>
                <a:lnTo>
                  <a:pt x="0" y="92397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075" t="-6334" r="-19336" b="-10289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11241" y="-114300"/>
            <a:ext cx="8756650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</a:t>
            </a: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Reviews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37</a:t>
            </a:r>
          </a:p>
        </p:txBody>
      </p:sp>
      <p:sp>
        <p:nvSpPr>
          <p:cNvPr id="6" name="Freeform 6"/>
          <p:cNvSpPr/>
          <p:nvPr/>
        </p:nvSpPr>
        <p:spPr>
          <a:xfrm>
            <a:off x="6249755" y="612665"/>
            <a:ext cx="5836272" cy="9420156"/>
          </a:xfrm>
          <a:custGeom>
            <a:avLst/>
            <a:gdLst/>
            <a:ahLst/>
            <a:cxnLst/>
            <a:rect l="l" t="t" r="r" b="b"/>
            <a:pathLst>
              <a:path w="5836272" h="9420156">
                <a:moveTo>
                  <a:pt x="0" y="0"/>
                </a:moveTo>
                <a:lnTo>
                  <a:pt x="5836272" y="0"/>
                </a:lnTo>
                <a:lnTo>
                  <a:pt x="5836272" y="9420156"/>
                </a:lnTo>
                <a:lnTo>
                  <a:pt x="0" y="94201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409" r="-14425" b="-232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238427" y="736754"/>
            <a:ext cx="5782001" cy="9363813"/>
          </a:xfrm>
          <a:custGeom>
            <a:avLst/>
            <a:gdLst/>
            <a:ahLst/>
            <a:cxnLst/>
            <a:rect l="l" t="t" r="r" b="b"/>
            <a:pathLst>
              <a:path w="5782001" h="9363813">
                <a:moveTo>
                  <a:pt x="0" y="0"/>
                </a:moveTo>
                <a:lnTo>
                  <a:pt x="5782001" y="0"/>
                </a:lnTo>
                <a:lnTo>
                  <a:pt x="5782001" y="9363814"/>
                </a:lnTo>
                <a:lnTo>
                  <a:pt x="0" y="93638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110" r="-14010" b="-4012"/>
            </a:stretch>
          </a:blipFill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130" y="-952500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57533" y="56891"/>
            <a:ext cx="8756650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 dirty="0" err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Cronologia</a:t>
            </a:r>
            <a:r>
              <a:rPr lang="en-US" sz="5592" b="1" dirty="0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5592" b="1" dirty="0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Carta Gantt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38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6D374B37-621D-504F-9BE0-64F30133A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435508"/>
              </p:ext>
            </p:extLst>
          </p:nvPr>
        </p:nvGraphicFramePr>
        <p:xfrm>
          <a:off x="228601" y="1049897"/>
          <a:ext cx="17183105" cy="8099133"/>
        </p:xfrm>
        <a:graphic>
          <a:graphicData uri="http://schemas.openxmlformats.org/drawingml/2006/table">
            <a:tbl>
              <a:tblPr/>
              <a:tblGrid>
                <a:gridCol w="1252062">
                  <a:extLst>
                    <a:ext uri="{9D8B030D-6E8A-4147-A177-3AD203B41FA5}">
                      <a16:colId xmlns:a16="http://schemas.microsoft.com/office/drawing/2014/main" val="1284875166"/>
                    </a:ext>
                  </a:extLst>
                </a:gridCol>
                <a:gridCol w="729137">
                  <a:extLst>
                    <a:ext uri="{9D8B030D-6E8A-4147-A177-3AD203B41FA5}">
                      <a16:colId xmlns:a16="http://schemas.microsoft.com/office/drawing/2014/main" val="3089319282"/>
                    </a:ext>
                  </a:extLst>
                </a:gridCol>
                <a:gridCol w="731922">
                  <a:extLst>
                    <a:ext uri="{9D8B030D-6E8A-4147-A177-3AD203B41FA5}">
                      <a16:colId xmlns:a16="http://schemas.microsoft.com/office/drawing/2014/main" val="2248437680"/>
                    </a:ext>
                  </a:extLst>
                </a:gridCol>
                <a:gridCol w="904374">
                  <a:extLst>
                    <a:ext uri="{9D8B030D-6E8A-4147-A177-3AD203B41FA5}">
                      <a16:colId xmlns:a16="http://schemas.microsoft.com/office/drawing/2014/main" val="600102345"/>
                    </a:ext>
                  </a:extLst>
                </a:gridCol>
                <a:gridCol w="904374">
                  <a:extLst>
                    <a:ext uri="{9D8B030D-6E8A-4147-A177-3AD203B41FA5}">
                      <a16:colId xmlns:a16="http://schemas.microsoft.com/office/drawing/2014/main" val="2931577714"/>
                    </a:ext>
                  </a:extLst>
                </a:gridCol>
                <a:gridCol w="904374">
                  <a:extLst>
                    <a:ext uri="{9D8B030D-6E8A-4147-A177-3AD203B41FA5}">
                      <a16:colId xmlns:a16="http://schemas.microsoft.com/office/drawing/2014/main" val="2186335093"/>
                    </a:ext>
                  </a:extLst>
                </a:gridCol>
                <a:gridCol w="904374">
                  <a:extLst>
                    <a:ext uri="{9D8B030D-6E8A-4147-A177-3AD203B41FA5}">
                      <a16:colId xmlns:a16="http://schemas.microsoft.com/office/drawing/2014/main" val="3016538981"/>
                    </a:ext>
                  </a:extLst>
                </a:gridCol>
                <a:gridCol w="904374">
                  <a:extLst>
                    <a:ext uri="{9D8B030D-6E8A-4147-A177-3AD203B41FA5}">
                      <a16:colId xmlns:a16="http://schemas.microsoft.com/office/drawing/2014/main" val="1084388975"/>
                    </a:ext>
                  </a:extLst>
                </a:gridCol>
                <a:gridCol w="904374">
                  <a:extLst>
                    <a:ext uri="{9D8B030D-6E8A-4147-A177-3AD203B41FA5}">
                      <a16:colId xmlns:a16="http://schemas.microsoft.com/office/drawing/2014/main" val="2454486430"/>
                    </a:ext>
                  </a:extLst>
                </a:gridCol>
                <a:gridCol w="904374">
                  <a:extLst>
                    <a:ext uri="{9D8B030D-6E8A-4147-A177-3AD203B41FA5}">
                      <a16:colId xmlns:a16="http://schemas.microsoft.com/office/drawing/2014/main" val="2378780652"/>
                    </a:ext>
                  </a:extLst>
                </a:gridCol>
                <a:gridCol w="904374">
                  <a:extLst>
                    <a:ext uri="{9D8B030D-6E8A-4147-A177-3AD203B41FA5}">
                      <a16:colId xmlns:a16="http://schemas.microsoft.com/office/drawing/2014/main" val="3586706840"/>
                    </a:ext>
                  </a:extLst>
                </a:gridCol>
                <a:gridCol w="904374">
                  <a:extLst>
                    <a:ext uri="{9D8B030D-6E8A-4147-A177-3AD203B41FA5}">
                      <a16:colId xmlns:a16="http://schemas.microsoft.com/office/drawing/2014/main" val="2937987961"/>
                    </a:ext>
                  </a:extLst>
                </a:gridCol>
                <a:gridCol w="904374">
                  <a:extLst>
                    <a:ext uri="{9D8B030D-6E8A-4147-A177-3AD203B41FA5}">
                      <a16:colId xmlns:a16="http://schemas.microsoft.com/office/drawing/2014/main" val="3872892095"/>
                    </a:ext>
                  </a:extLst>
                </a:gridCol>
                <a:gridCol w="904374">
                  <a:extLst>
                    <a:ext uri="{9D8B030D-6E8A-4147-A177-3AD203B41FA5}">
                      <a16:colId xmlns:a16="http://schemas.microsoft.com/office/drawing/2014/main" val="2977240778"/>
                    </a:ext>
                  </a:extLst>
                </a:gridCol>
                <a:gridCol w="904374">
                  <a:extLst>
                    <a:ext uri="{9D8B030D-6E8A-4147-A177-3AD203B41FA5}">
                      <a16:colId xmlns:a16="http://schemas.microsoft.com/office/drawing/2014/main" val="25323994"/>
                    </a:ext>
                  </a:extLst>
                </a:gridCol>
                <a:gridCol w="904374">
                  <a:extLst>
                    <a:ext uri="{9D8B030D-6E8A-4147-A177-3AD203B41FA5}">
                      <a16:colId xmlns:a16="http://schemas.microsoft.com/office/drawing/2014/main" val="1361672806"/>
                    </a:ext>
                  </a:extLst>
                </a:gridCol>
                <a:gridCol w="904374">
                  <a:extLst>
                    <a:ext uri="{9D8B030D-6E8A-4147-A177-3AD203B41FA5}">
                      <a16:colId xmlns:a16="http://schemas.microsoft.com/office/drawing/2014/main" val="3305999539"/>
                    </a:ext>
                  </a:extLst>
                </a:gridCol>
                <a:gridCol w="904374">
                  <a:extLst>
                    <a:ext uri="{9D8B030D-6E8A-4147-A177-3AD203B41FA5}">
                      <a16:colId xmlns:a16="http://schemas.microsoft.com/office/drawing/2014/main" val="1416249418"/>
                    </a:ext>
                  </a:extLst>
                </a:gridCol>
                <a:gridCol w="904374">
                  <a:extLst>
                    <a:ext uri="{9D8B030D-6E8A-4147-A177-3AD203B41FA5}">
                      <a16:colId xmlns:a16="http://schemas.microsoft.com/office/drawing/2014/main" val="1996030112"/>
                    </a:ext>
                  </a:extLst>
                </a:gridCol>
              </a:tblGrid>
              <a:tr h="412458">
                <a:tc rowSpan="2">
                  <a:txBody>
                    <a:bodyPr/>
                    <a:lstStyle/>
                    <a:p>
                      <a:r>
                        <a:rPr lang="es-CL" sz="1800" dirty="0">
                          <a:effectLst/>
                        </a:rPr>
                        <a:t>Actividad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Fase 1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11">
                  <a:txBody>
                    <a:bodyPr/>
                    <a:lstStyle/>
                    <a:p>
                      <a:r>
                        <a:rPr lang="es-CL" sz="2000" b="1" dirty="0">
                          <a:effectLst/>
                        </a:rPr>
                        <a:t>Fase 2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B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s-CL" sz="2000" b="1" dirty="0">
                          <a:effectLst/>
                        </a:rPr>
                        <a:t>Fase 3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7899156"/>
                  </a:ext>
                </a:extLst>
              </a:tr>
              <a:tr h="251088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2000" b="1" dirty="0">
                          <a:effectLst/>
                        </a:rPr>
                        <a:t>S1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S2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S3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S4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S5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S6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S7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S8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S9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S10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S11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S12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S13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S14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S15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S16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S17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 dirty="0">
                          <a:effectLst/>
                        </a:rPr>
                        <a:t>S18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163646"/>
                  </a:ext>
                </a:extLst>
              </a:tr>
              <a:tr h="1259072">
                <a:tc>
                  <a:txBody>
                    <a:bodyPr/>
                    <a:lstStyle/>
                    <a:p>
                      <a:r>
                        <a:rPr lang="es-ES" sz="1600" dirty="0">
                          <a:effectLst/>
                        </a:rPr>
                        <a:t>Definición y Planificación del Proyecto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229896"/>
                  </a:ext>
                </a:extLst>
              </a:tr>
              <a:tr h="637608">
                <a:tc>
                  <a:txBody>
                    <a:bodyPr/>
                    <a:lstStyle/>
                    <a:p>
                      <a:r>
                        <a:rPr lang="es-CL" sz="1600">
                          <a:effectLst/>
                        </a:rPr>
                        <a:t>Definicion de Roles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 dirty="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31655"/>
                  </a:ext>
                </a:extLst>
              </a:tr>
              <a:tr h="920091">
                <a:tc>
                  <a:txBody>
                    <a:bodyPr/>
                    <a:lstStyle/>
                    <a:p>
                      <a:r>
                        <a:rPr lang="es-ES" sz="1600">
                          <a:effectLst/>
                        </a:rPr>
                        <a:t>Historias de Usuario y Epicas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 dirty="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432673"/>
                  </a:ext>
                </a:extLst>
              </a:tr>
              <a:tr h="581111">
                <a:tc>
                  <a:txBody>
                    <a:bodyPr/>
                    <a:lstStyle/>
                    <a:p>
                      <a:r>
                        <a:rPr lang="es-CL" sz="1600">
                          <a:effectLst/>
                        </a:rPr>
                        <a:t>Product Backlog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701119"/>
                  </a:ext>
                </a:extLst>
              </a:tr>
              <a:tr h="411621">
                <a:tc>
                  <a:txBody>
                    <a:bodyPr/>
                    <a:lstStyle/>
                    <a:p>
                      <a:r>
                        <a:rPr lang="es-CL" sz="1600">
                          <a:effectLst/>
                        </a:rPr>
                        <a:t>Arquitectura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478867"/>
                  </a:ext>
                </a:extLst>
              </a:tr>
              <a:tr h="411621">
                <a:tc>
                  <a:txBody>
                    <a:bodyPr/>
                    <a:lstStyle/>
                    <a:p>
                      <a:r>
                        <a:rPr lang="es-CL" sz="1600">
                          <a:effectLst/>
                        </a:rPr>
                        <a:t>Prototipado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642487"/>
                  </a:ext>
                </a:extLst>
              </a:tr>
              <a:tr h="298628">
                <a:tc>
                  <a:txBody>
                    <a:bodyPr/>
                    <a:lstStyle/>
                    <a:p>
                      <a:r>
                        <a:rPr lang="es-CL" sz="1600">
                          <a:effectLst/>
                        </a:rPr>
                        <a:t>Sprint 0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517354"/>
                  </a:ext>
                </a:extLst>
              </a:tr>
              <a:tr h="298628">
                <a:tc>
                  <a:txBody>
                    <a:bodyPr/>
                    <a:lstStyle/>
                    <a:p>
                      <a:r>
                        <a:rPr lang="es-CL" sz="1600">
                          <a:effectLst/>
                        </a:rPr>
                        <a:t>Sprint 1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318619"/>
                  </a:ext>
                </a:extLst>
              </a:tr>
              <a:tr h="298628">
                <a:tc>
                  <a:txBody>
                    <a:bodyPr/>
                    <a:lstStyle/>
                    <a:p>
                      <a:r>
                        <a:rPr lang="es-CL" sz="1600">
                          <a:effectLst/>
                        </a:rPr>
                        <a:t>Sprint 2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888889"/>
                  </a:ext>
                </a:extLst>
              </a:tr>
              <a:tr h="298628">
                <a:tc>
                  <a:txBody>
                    <a:bodyPr/>
                    <a:lstStyle/>
                    <a:p>
                      <a:r>
                        <a:rPr lang="es-CL" sz="1600">
                          <a:effectLst/>
                        </a:rPr>
                        <a:t>Sprint 3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85572"/>
                  </a:ext>
                </a:extLst>
              </a:tr>
              <a:tr h="1033084">
                <a:tc>
                  <a:txBody>
                    <a:bodyPr/>
                    <a:lstStyle/>
                    <a:p>
                      <a:r>
                        <a:rPr lang="es-ES" sz="1600">
                          <a:effectLst/>
                        </a:rPr>
                        <a:t>Cierre y Retrospectiva del Proyecto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079303"/>
                  </a:ext>
                </a:extLst>
              </a:tr>
              <a:tr h="920091">
                <a:tc>
                  <a:txBody>
                    <a:bodyPr/>
                    <a:lstStyle/>
                    <a:p>
                      <a:r>
                        <a:rPr lang="es-CL" sz="1600" dirty="0">
                          <a:effectLst/>
                        </a:rPr>
                        <a:t>Hito 3: Fase 3 Presentación Final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 dirty="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 dirty="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 dirty="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 dirty="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555762"/>
                  </a:ext>
                </a:extLst>
              </a:tr>
            </a:tbl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93CBB3DA-811B-EC98-F57A-DDE27AC11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761014" y="738187"/>
            <a:ext cx="224181881" cy="50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13716000" y="6362700"/>
            <a:ext cx="1321957" cy="1201329"/>
          </a:xfrm>
          <a:custGeom>
            <a:avLst/>
            <a:gdLst/>
            <a:ahLst/>
            <a:cxnLst/>
            <a:rect l="l" t="t" r="r" b="b"/>
            <a:pathLst>
              <a:path w="1321957" h="1201329">
                <a:moveTo>
                  <a:pt x="0" y="0"/>
                </a:moveTo>
                <a:lnTo>
                  <a:pt x="1321957" y="0"/>
                </a:lnTo>
                <a:lnTo>
                  <a:pt x="1321957" y="1201328"/>
                </a:lnTo>
                <a:lnTo>
                  <a:pt x="0" y="12013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792639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086600" y="183355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144664" y="5824525"/>
            <a:ext cx="9998672" cy="1134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69"/>
              </a:lnSpc>
              <a:spcBef>
                <a:spcPct val="0"/>
              </a:spcBef>
            </a:pPr>
            <a:r>
              <a:rPr lang="en-US" sz="6692" b="1">
                <a:solidFill>
                  <a:srgbClr val="1A1A1A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DEMO DE LA SOLUCIÓN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792639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3" name="Freeform 3" descr="Map Location Icon"/>
          <p:cNvSpPr/>
          <p:nvPr/>
        </p:nvSpPr>
        <p:spPr>
          <a:xfrm>
            <a:off x="8634776" y="7446431"/>
            <a:ext cx="308583" cy="478086"/>
          </a:xfrm>
          <a:custGeom>
            <a:avLst/>
            <a:gdLst/>
            <a:ahLst/>
            <a:cxnLst/>
            <a:rect l="l" t="t" r="r" b="b"/>
            <a:pathLst>
              <a:path w="308583" h="478086">
                <a:moveTo>
                  <a:pt x="0" y="0"/>
                </a:moveTo>
                <a:lnTo>
                  <a:pt x="308583" y="0"/>
                </a:lnTo>
                <a:lnTo>
                  <a:pt x="308583" y="478086"/>
                </a:lnTo>
                <a:lnTo>
                  <a:pt x="0" y="4780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37288" y="2163342"/>
            <a:ext cx="4925513" cy="7094958"/>
            <a:chOff x="0" y="0"/>
            <a:chExt cx="3813571" cy="549326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13571" cy="5493261"/>
            </a:xfrm>
            <a:custGeom>
              <a:avLst/>
              <a:gdLst/>
              <a:ahLst/>
              <a:cxnLst/>
              <a:rect l="l" t="t" r="r" b="b"/>
              <a:pathLst>
                <a:path w="3813571" h="5493261">
                  <a:moveTo>
                    <a:pt x="3689111" y="5493261"/>
                  </a:moveTo>
                  <a:lnTo>
                    <a:pt x="124460" y="5493261"/>
                  </a:lnTo>
                  <a:cubicBezTo>
                    <a:pt x="55880" y="5493261"/>
                    <a:pt x="0" y="5437381"/>
                    <a:pt x="0" y="536880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689111" y="0"/>
                  </a:lnTo>
                  <a:cubicBezTo>
                    <a:pt x="3757691" y="0"/>
                    <a:pt x="3813571" y="55880"/>
                    <a:pt x="3813571" y="124460"/>
                  </a:cubicBezTo>
                  <a:lnTo>
                    <a:pt x="3813571" y="5368801"/>
                  </a:lnTo>
                  <a:cubicBezTo>
                    <a:pt x="3813571" y="5437381"/>
                    <a:pt x="3757691" y="5493261"/>
                    <a:pt x="3689111" y="5493261"/>
                  </a:cubicBezTo>
                  <a:close/>
                </a:path>
              </a:pathLst>
            </a:custGeom>
            <a:solidFill>
              <a:srgbClr val="D85638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866981" y="2163342"/>
            <a:ext cx="4554038" cy="7047069"/>
            <a:chOff x="0" y="0"/>
            <a:chExt cx="3525957" cy="545618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525957" cy="5456183"/>
            </a:xfrm>
            <a:custGeom>
              <a:avLst/>
              <a:gdLst/>
              <a:ahLst/>
              <a:cxnLst/>
              <a:rect l="l" t="t" r="r" b="b"/>
              <a:pathLst>
                <a:path w="3525957" h="5456183">
                  <a:moveTo>
                    <a:pt x="3401497" y="5456183"/>
                  </a:moveTo>
                  <a:lnTo>
                    <a:pt x="124460" y="5456183"/>
                  </a:lnTo>
                  <a:cubicBezTo>
                    <a:pt x="55880" y="5456183"/>
                    <a:pt x="0" y="5400303"/>
                    <a:pt x="0" y="533172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01497" y="0"/>
                  </a:lnTo>
                  <a:cubicBezTo>
                    <a:pt x="3470077" y="0"/>
                    <a:pt x="3525957" y="55880"/>
                    <a:pt x="3525957" y="124460"/>
                  </a:cubicBezTo>
                  <a:lnTo>
                    <a:pt x="3525957" y="5331723"/>
                  </a:lnTo>
                  <a:cubicBezTo>
                    <a:pt x="3525957" y="5400303"/>
                    <a:pt x="3470077" y="5456183"/>
                    <a:pt x="3401497" y="5456183"/>
                  </a:cubicBezTo>
                  <a:close/>
                </a:path>
              </a:pathLst>
            </a:custGeom>
            <a:solidFill>
              <a:srgbClr val="5654D5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1868075" y="2163342"/>
            <a:ext cx="4554038" cy="7047069"/>
            <a:chOff x="0" y="0"/>
            <a:chExt cx="3525957" cy="54561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25957" cy="5456183"/>
            </a:xfrm>
            <a:custGeom>
              <a:avLst/>
              <a:gdLst/>
              <a:ahLst/>
              <a:cxnLst/>
              <a:rect l="l" t="t" r="r" b="b"/>
              <a:pathLst>
                <a:path w="3525957" h="5456183">
                  <a:moveTo>
                    <a:pt x="3401497" y="5456183"/>
                  </a:moveTo>
                  <a:lnTo>
                    <a:pt x="124460" y="5456183"/>
                  </a:lnTo>
                  <a:cubicBezTo>
                    <a:pt x="55880" y="5456183"/>
                    <a:pt x="0" y="5400303"/>
                    <a:pt x="0" y="533172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01497" y="0"/>
                  </a:lnTo>
                  <a:cubicBezTo>
                    <a:pt x="3470077" y="0"/>
                    <a:pt x="3525957" y="55880"/>
                    <a:pt x="3525957" y="124460"/>
                  </a:cubicBezTo>
                  <a:lnTo>
                    <a:pt x="3525957" y="5331723"/>
                  </a:lnTo>
                  <a:cubicBezTo>
                    <a:pt x="3525957" y="5400303"/>
                    <a:pt x="3470077" y="5456183"/>
                    <a:pt x="3401497" y="5456183"/>
                  </a:cubicBezTo>
                  <a:close/>
                </a:path>
              </a:pathLst>
            </a:custGeom>
            <a:solidFill>
              <a:srgbClr val="93C47D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3220377" y="2533386"/>
            <a:ext cx="1845058" cy="1824931"/>
          </a:xfrm>
          <a:custGeom>
            <a:avLst/>
            <a:gdLst/>
            <a:ahLst/>
            <a:cxnLst/>
            <a:rect l="l" t="t" r="r" b="b"/>
            <a:pathLst>
              <a:path w="1845058" h="1824931">
                <a:moveTo>
                  <a:pt x="0" y="0"/>
                </a:moveTo>
                <a:lnTo>
                  <a:pt x="1845059" y="0"/>
                </a:lnTo>
                <a:lnTo>
                  <a:pt x="1845059" y="1824931"/>
                </a:lnTo>
                <a:lnTo>
                  <a:pt x="0" y="18249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251305" y="2533386"/>
            <a:ext cx="1785390" cy="1824931"/>
          </a:xfrm>
          <a:custGeom>
            <a:avLst/>
            <a:gdLst/>
            <a:ahLst/>
            <a:cxnLst/>
            <a:rect l="l" t="t" r="r" b="b"/>
            <a:pathLst>
              <a:path w="1785390" h="1824931">
                <a:moveTo>
                  <a:pt x="0" y="0"/>
                </a:moveTo>
                <a:lnTo>
                  <a:pt x="1785390" y="0"/>
                </a:lnTo>
                <a:lnTo>
                  <a:pt x="1785390" y="1824931"/>
                </a:lnTo>
                <a:lnTo>
                  <a:pt x="0" y="18249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262283" y="2533386"/>
            <a:ext cx="1765620" cy="1824931"/>
          </a:xfrm>
          <a:custGeom>
            <a:avLst/>
            <a:gdLst/>
            <a:ahLst/>
            <a:cxnLst/>
            <a:rect l="l" t="t" r="r" b="b"/>
            <a:pathLst>
              <a:path w="1765620" h="1824931">
                <a:moveTo>
                  <a:pt x="0" y="0"/>
                </a:moveTo>
                <a:lnTo>
                  <a:pt x="1765621" y="0"/>
                </a:lnTo>
                <a:lnTo>
                  <a:pt x="1765621" y="1824931"/>
                </a:lnTo>
                <a:lnTo>
                  <a:pt x="0" y="18249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5817853" y="523144"/>
            <a:ext cx="1712154" cy="1781175"/>
          </a:xfrm>
          <a:custGeom>
            <a:avLst/>
            <a:gdLst/>
            <a:ahLst/>
            <a:cxnLst/>
            <a:rect l="l" t="t" r="r" b="b"/>
            <a:pathLst>
              <a:path w="1712154" h="1781175">
                <a:moveTo>
                  <a:pt x="0" y="0"/>
                </a:moveTo>
                <a:lnTo>
                  <a:pt x="1712155" y="0"/>
                </a:lnTo>
                <a:lnTo>
                  <a:pt x="1712155" y="1781175"/>
                </a:lnTo>
                <a:lnTo>
                  <a:pt x="0" y="17811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86979" y="8572990"/>
            <a:ext cx="1288383" cy="1370621"/>
          </a:xfrm>
          <a:custGeom>
            <a:avLst/>
            <a:gdLst/>
            <a:ahLst/>
            <a:cxnLst/>
            <a:rect l="l" t="t" r="r" b="b"/>
            <a:pathLst>
              <a:path w="1288383" h="1370621">
                <a:moveTo>
                  <a:pt x="0" y="0"/>
                </a:moveTo>
                <a:lnTo>
                  <a:pt x="1288384" y="0"/>
                </a:lnTo>
                <a:lnTo>
                  <a:pt x="1288384" y="1370620"/>
                </a:lnTo>
                <a:lnTo>
                  <a:pt x="0" y="1370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686937" y="5355431"/>
            <a:ext cx="4826215" cy="3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Emocionado por poner en practica mis conocimientos con un desafio que contempla realizar un proyecto a un cliente real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04404" y="5735672"/>
            <a:ext cx="3879192" cy="2124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 entusiasmo por aprender y crecer a través de esta experiencia real.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05498" y="5754722"/>
            <a:ext cx="3879192" cy="292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Para mí, este proyecto es la prueba real de todo lo aprendido: une datos, desarrollo y gestión en un solo reto y, al ser para un cliente real, nos pide hacerlo bien de verdad.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092432" y="4563110"/>
            <a:ext cx="210532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Sebastian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77486" y="4563110"/>
            <a:ext cx="1424702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 err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Jaziel</a:t>
            </a:r>
            <a:endParaRPr lang="en-US" sz="3399" b="1" dirty="0">
              <a:solidFill>
                <a:srgbClr val="FFFFFF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292651" y="4563110"/>
            <a:ext cx="170051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Thomas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737225" y="399319"/>
            <a:ext cx="6813550" cy="1134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69"/>
              </a:lnSpc>
              <a:spcBef>
                <a:spcPct val="0"/>
              </a:spcBef>
            </a:pPr>
            <a:r>
              <a:rPr lang="en-US" sz="6692" b="1">
                <a:solidFill>
                  <a:srgbClr val="1A1A1A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CONCLUSIONES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40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896851" y="2784638"/>
            <a:ext cx="12494299" cy="1724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73"/>
              </a:lnSpc>
              <a:spcBef>
                <a:spcPct val="0"/>
              </a:spcBef>
            </a:pPr>
            <a:r>
              <a:rPr lang="en-US" sz="10123" b="1">
                <a:solidFill>
                  <a:srgbClr val="FF6B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MUCHAS GRACIAS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48264" y="4251091"/>
            <a:ext cx="16391472" cy="2397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0"/>
              </a:lnSpc>
              <a:spcBef>
                <a:spcPct val="0"/>
              </a:spcBef>
            </a:pPr>
            <a:r>
              <a:rPr lang="en-US" sz="14000" b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POR LA ATENCIÓN</a:t>
            </a:r>
          </a:p>
        </p:txBody>
      </p:sp>
      <p:sp>
        <p:nvSpPr>
          <p:cNvPr id="5" name="Freeform 5"/>
          <p:cNvSpPr/>
          <p:nvPr/>
        </p:nvSpPr>
        <p:spPr>
          <a:xfrm>
            <a:off x="16482152" y="8708446"/>
            <a:ext cx="1370621" cy="1370621"/>
          </a:xfrm>
          <a:custGeom>
            <a:avLst/>
            <a:gdLst/>
            <a:ahLst/>
            <a:cxnLst/>
            <a:rect l="l" t="t" r="r" b="b"/>
            <a:pathLst>
              <a:path w="1370621" h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3719</Words>
  <Application>Microsoft Office PowerPoint</Application>
  <PresentationFormat>Personalizado</PresentationFormat>
  <Paragraphs>941</Paragraphs>
  <Slides>40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40</vt:i4>
      </vt:variant>
    </vt:vector>
  </HeadingPairs>
  <TitlesOfParts>
    <vt:vector size="54" baseType="lpstr">
      <vt:lpstr>Open Sans 1 Ultra-Bold</vt:lpstr>
      <vt:lpstr>DM Sans Bold</vt:lpstr>
      <vt:lpstr>DM Sans</vt:lpstr>
      <vt:lpstr>Arial</vt:lpstr>
      <vt:lpstr>Open Sans 1</vt:lpstr>
      <vt:lpstr>Open Sauce Bold</vt:lpstr>
      <vt:lpstr>Open Sans 1 Bold</vt:lpstr>
      <vt:lpstr>Canva Sans</vt:lpstr>
      <vt:lpstr>Poppins Bold</vt:lpstr>
      <vt:lpstr>Open Sans 2 Bold</vt:lpstr>
      <vt:lpstr>Canva Sans Bold</vt:lpstr>
      <vt:lpstr>Calibri</vt:lpstr>
      <vt:lpstr>Open Sauce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Farmacia Maira</dc:title>
  <cp:lastModifiedBy>Thomas Oliver Rojas</cp:lastModifiedBy>
  <cp:revision>2</cp:revision>
  <dcterms:created xsi:type="dcterms:W3CDTF">2006-08-16T00:00:00Z</dcterms:created>
  <dcterms:modified xsi:type="dcterms:W3CDTF">2025-11-19T20:07:57Z</dcterms:modified>
  <dc:identifier>DAGxNParDco</dc:identifier>
</cp:coreProperties>
</file>